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01 /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VBot: trợ lý AI văn phòng, chi phí tháng thấp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Một cloud chính • 2.000 DAU • 5 cấp tác vụ • chất lượng và kiểm soát trước tối ưu chi phí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46504"/>
            <a:ext cx="2505456" cy="292608"/>
          </a:xfrm>
          <a:prstGeom prst="roundRect">
            <a:avLst>
              <a:gd name="adj" fmla="val 10000"/>
            </a:avLst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78507"/>
            <a:ext cx="2359152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BẢN NHÁP — CHƯA KHÓA GIÁ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12848"/>
            <a:ext cx="3529584" cy="2615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212848"/>
            <a:ext cx="64008" cy="2615184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77440"/>
            <a:ext cx="314553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Vấn đề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834640"/>
            <a:ext cx="3145536" cy="1847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Tri thức phân tán giữa Google Workspace, Microsoft 365, Notion, Jira, Confluence; agent cần làm việc mà không vượt quyền.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212848"/>
            <a:ext cx="3529584" cy="2615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2212848"/>
            <a:ext cx="64008" cy="2615184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377440"/>
            <a:ext cx="314553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Giải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834640"/>
            <a:ext cx="3145536" cy="1847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AWS Singapore, truy cập theo danh tính; RAG lọc ACL, model routing, connector OAuth, sandbox cô lập và phê duyệt thao tác ghi.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212848"/>
            <a:ext cx="3529584" cy="2615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2212848"/>
            <a:ext cx="64008" cy="2615184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377440"/>
            <a:ext cx="314553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Điều kiện thắng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834640"/>
            <a:ext cx="3145536" cy="1847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Giảm USD/tháng trong số phương án vượt H1–H8. Không dùng giá khuyến mãi; mỗi dòng giá có bằng chứng và khớp slide–XLSX.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84648"/>
            <a:ext cx="21945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07177"/>
                </a:solidFill>
                <a:latin typeface="Arial"/>
              </a:rPr>
              <a:t>2.000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50992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E76"/>
                </a:solidFill>
                <a:latin typeface="Arial"/>
              </a:rPr>
              <a:t>người dùng/ngày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5184648"/>
            <a:ext cx="137160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07177"/>
                </a:solidFill>
                <a:latin typeface="Arial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5650992"/>
            <a:ext cx="23774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E76"/>
                </a:solidFill>
                <a:latin typeface="Arial"/>
              </a:rPr>
              <a:t>component bắt buộc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5184648"/>
            <a:ext cx="246888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07177"/>
                </a:solidFill>
                <a:latin typeface="Arial"/>
              </a:rPr>
              <a:t>99,5%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5650992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E76"/>
                </a:solidFill>
                <a:latin typeface="Arial"/>
              </a:rPr>
              <a:t>mục tiêu giờ hành chính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vbot-capstone.html. Đây là thiết kế kiến trúc/báo giá, không phải hệ thống đã triển khai.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02 /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Từ 2.000 DAU tới tải giờ cao điểm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10 request/người/ngày và peak ×4 là giả định chung để lập dự toán, chưa được đo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783080"/>
            <a:ext cx="2551176" cy="1124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286000" cy="4480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440.000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22860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request/tháng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83080"/>
            <a:ext cx="2551176" cy="1124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965960"/>
            <a:ext cx="2286000" cy="4480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1.055,56M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87168"/>
            <a:ext cx="22860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input token/tháng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551176" cy="1124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965960"/>
            <a:ext cx="2286000" cy="4480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301,84M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487168"/>
            <a:ext cx="22860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output token/tháng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783080"/>
            <a:ext cx="2551176" cy="1124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965960"/>
            <a:ext cx="2286000" cy="4480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2,22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487168"/>
            <a:ext cx="228600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request/giây peak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264408"/>
            <a:ext cx="530352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12336"/>
                </a:solidFill>
                <a:latin typeface="Arial"/>
              </a:rPr>
              <a:t>CƠ CẤU NĂM CẤP TÁC VỤ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2761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040"/>
                </a:solidFill>
                <a:latin typeface="Arial"/>
              </a:rPr>
              <a:t>01  Email / hỏi đáp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2152" y="3721608"/>
            <a:ext cx="5010912" cy="164592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02152" y="3721608"/>
            <a:ext cx="5010912" cy="16459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1936" y="3685032"/>
            <a:ext cx="53035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177"/>
                </a:solidFill>
                <a:latin typeface="Arial"/>
              </a:rPr>
              <a:t>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160520"/>
            <a:ext cx="2761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040"/>
                </a:solidFill>
                <a:latin typeface="Arial"/>
              </a:rPr>
              <a:t>02  Tài liệu / slide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02152" y="4187952"/>
            <a:ext cx="5010912" cy="164592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2152" y="4187952"/>
            <a:ext cx="2505456" cy="16459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4151376"/>
            <a:ext cx="53035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177"/>
                </a:solidFill>
                <a:latin typeface="Arial"/>
              </a:rP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4626864"/>
            <a:ext cx="2761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040"/>
                </a:solidFill>
                <a:latin typeface="Arial"/>
              </a:rPr>
              <a:t>03  Dữ liệu /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2152" y="4654296"/>
            <a:ext cx="5010912" cy="164592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2152" y="4654296"/>
            <a:ext cx="1202618" cy="16459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4617720"/>
            <a:ext cx="53035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177"/>
                </a:solidFill>
                <a:latin typeface="Arial"/>
              </a:rPr>
              <a:t>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5093208"/>
            <a:ext cx="2761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040"/>
                </a:solidFill>
                <a:latin typeface="Arial"/>
              </a:rPr>
              <a:t>04  Agent dự án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2152" y="5120640"/>
            <a:ext cx="5010912" cy="164592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02152" y="5120640"/>
            <a:ext cx="801745" cy="16459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5084064"/>
            <a:ext cx="53035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177"/>
                </a:solidFill>
                <a:latin typeface="Arial"/>
              </a:rPr>
              <a:t>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5559552"/>
            <a:ext cx="27614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040"/>
                </a:solidFill>
                <a:latin typeface="Arial"/>
              </a:rPr>
              <a:t>05  Thiết kế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2152" y="5586984"/>
            <a:ext cx="5010912" cy="164592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2152" y="5586984"/>
            <a:ext cx="501091" cy="16459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36" y="5550408"/>
            <a:ext cx="530352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177"/>
                </a:solidFill>
                <a:latin typeface="Arial"/>
              </a:rPr>
              <a:t>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54896" y="3236976"/>
            <a:ext cx="2112264" cy="2670048"/>
          </a:xfrm>
          <a:prstGeom prst="roundRect">
            <a:avLst>
              <a:gd name="adj" fmla="val 10000"/>
            </a:avLst>
          </a:prstGeom>
          <a:solidFill>
            <a:srgbClr val="FCF5EE"/>
          </a:solidFill>
          <a:ln w="8890">
            <a:solidFill>
              <a:srgbClr val="FC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56064" y="3456432"/>
            <a:ext cx="1737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7235"/>
                </a:solidFill>
                <a:latin typeface="Arial"/>
              </a:rPr>
              <a:t>HỆ QUẢ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3877056"/>
            <a:ext cx="1709928" cy="17556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040"/>
                </a:solidFill>
                <a:latin typeface="Arial"/>
              </a:rPr>
              <a:t>59.840 sandbox run/tháng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040"/>
                </a:solidFill>
                <a:latin typeface="Arial"/>
              </a:rPr>
              <a:t>18,1 run đồng thời peak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040"/>
                </a:solidFill>
                <a:latin typeface="Arial"/>
              </a:rPr>
              <a:t>67 phiên chat peak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3040"/>
                </a:solidFill>
                <a:latin typeface="Arial"/>
              </a:rPr>
              <a:t>220 giờ làm việc/tháng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Công thức: 2.000 × 22 × 10 = 440.000; peak = 440.000 / (220 × 3.600) × 4. Nguồn: dung/ASSUMPTIONS.md.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03 / 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Một kiến trúc AWS Singapore — đủ 19/19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Prod hai AZ, staging tách biệt; Bedrock Nova text định tuyến trong APAC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73936"/>
            <a:ext cx="1618488" cy="68580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47672"/>
            <a:ext cx="1389888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EDGE &amp; QUYỀN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892807"/>
            <a:ext cx="8961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040"/>
                </a:solidFill>
                <a:latin typeface="Arial"/>
              </a:rPr>
              <a:t>authn   gateway   network   load_balancer   authz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60904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660904"/>
            <a:ext cx="1618488" cy="68580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834640"/>
            <a:ext cx="1389888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ĐIỀU PHỐI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2779776"/>
            <a:ext cx="8961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040"/>
                </a:solidFill>
                <a:latin typeface="Arial"/>
              </a:rPr>
              <a:t>compute   governance   cache_queue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547872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547872"/>
            <a:ext cx="1618488" cy="68580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3721608"/>
            <a:ext cx="1389888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MODEL &amp; TÁC VỤ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666744"/>
            <a:ext cx="8961120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040"/>
                </a:solidFill>
                <a:latin typeface="Arial"/>
              </a:rPr>
              <a:t>llm   embedding*   sandbox   connectors   secrets_kms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0972800" cy="813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434840"/>
            <a:ext cx="1618488" cy="813816"/>
          </a:xfrm>
          <a:prstGeom prst="rect">
            <a:avLst/>
          </a:prstGeom>
          <a:solidFill>
            <a:srgbClr val="112336"/>
          </a:solidFill>
          <a:ln w="8890">
            <a:solidFill>
              <a:srgbClr val="11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4608576"/>
            <a:ext cx="1389888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DỮ LIỆU &amp; VẬN HÀNH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4553712"/>
            <a:ext cx="8961120" cy="6309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3040"/>
                </a:solidFill>
                <a:latin typeface="Arial"/>
              </a:rPr>
              <a:t>database   vector_db   object_storage   backup_dr   monitoring   cicd   ops_labor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4" y="2496312"/>
            <a:ext cx="457200" cy="1920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07235"/>
                </a:solidFill>
                <a:latin typeface="Arial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4" y="3383280"/>
            <a:ext cx="457200" cy="1920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07235"/>
                </a:solidFill>
                <a:latin typeface="Arial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4270248"/>
            <a:ext cx="457200" cy="1920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E07235"/>
                </a:solidFill>
                <a:latin typeface="Arial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779008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* embedding là component tùy chọn ngoài 19 mã bắt buộc. API Gateway → VPC link → ALB → orchestrator; Bảo còn chốt SKU/HA.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04 / LUỒNG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Mỗi request đi qua quyền, policy và đường trả lời có kiểm soát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Ví dụ: đọc tài liệu nội bộ rồi đề xuất cập nhật Jira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84248"/>
            <a:ext cx="2029968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" y="2167128"/>
            <a:ext cx="484632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199132"/>
            <a:ext cx="3383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773936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336"/>
                </a:solidFill>
                <a:latin typeface="Arial"/>
              </a:rPr>
              <a:t>SSO + quota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1773936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Xác thực phiên, tenant/user, hạn mức.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3063240"/>
            <a:ext cx="283464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07235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3" y="1984248"/>
            <a:ext cx="2029968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35808" y="2167128"/>
            <a:ext cx="484632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199132"/>
            <a:ext cx="3383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3" y="2651760"/>
            <a:ext cx="1773936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336"/>
                </a:solidFill>
                <a:latin typeface="Arial"/>
              </a:rPr>
              <a:t>RAG theo 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3" y="3410712"/>
            <a:ext cx="1773936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Lọc vector; kiểm lại quyền ở nguồn.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7" y="3063240"/>
            <a:ext cx="283464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07235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1984248"/>
            <a:ext cx="2029968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0952" y="2167128"/>
            <a:ext cx="484632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4" y="2199132"/>
            <a:ext cx="3383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651760"/>
            <a:ext cx="1773936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336"/>
                </a:solidFill>
                <a:latin typeface="Arial"/>
              </a:rPr>
              <a:t>DLP +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410712"/>
            <a:ext cx="1773936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Che PII; chọn Micro/Pro sau eval.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3063240"/>
            <a:ext cx="283464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07235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984248"/>
            <a:ext cx="2029968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26096" y="2167128"/>
            <a:ext cx="484632" cy="292608"/>
          </a:xfrm>
          <a:prstGeom prst="roundRect">
            <a:avLst>
              <a:gd name="adj" fmla="val 10000"/>
            </a:avLst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2199132"/>
            <a:ext cx="3383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2651760"/>
            <a:ext cx="1773936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336"/>
                </a:solidFill>
                <a:latin typeface="Arial"/>
              </a:rPr>
              <a:t>Tool hoặc connector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3410712"/>
            <a:ext cx="1773936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Sandbox không token; ghi Jira cần duyệt.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6" y="3063240"/>
            <a:ext cx="283464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07235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74936" y="1984248"/>
            <a:ext cx="2029968" cy="2852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21240" y="2167128"/>
            <a:ext cx="484632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2199132"/>
            <a:ext cx="338328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2651760"/>
            <a:ext cx="1773936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336"/>
                </a:solidFill>
                <a:latin typeface="Arial"/>
              </a:rPr>
              <a:t>Audit + trả lời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410712"/>
            <a:ext cx="1773936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Kiểm output, ghi trace, stream kết quả.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212080"/>
            <a:ext cx="10972800" cy="585216"/>
          </a:xfrm>
          <a:prstGeom prst="roundRect">
            <a:avLst>
              <a:gd name="adj" fmla="val 10000"/>
            </a:avLst>
          </a:prstGeom>
          <a:solidFill>
            <a:srgbClr val="DCF2EF"/>
          </a:solidFill>
          <a:ln w="8890">
            <a:solidFill>
              <a:srgbClr val="DC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" y="5358384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7177"/>
                </a:solidFill>
                <a:latin typeface="Arial"/>
              </a:rPr>
              <a:t>Nguyên tắc: model chỉ đề xuất. Policy và người dùng quyết định hành động ghi; payload đổi thì xin duyệt lại.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dung/ARCHITECTURE.md và bao/SECURITY_DESIGN.md.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05 / MODEL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Route theo độ khó, không hạ chất lượng để giảm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Nova Micro / Nova Pro qua Bedrock APAC; cấp 5 mặc định tạo HTML/SVG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01368"/>
            <a:ext cx="10991088" cy="429768"/>
          </a:xfrm>
          <a:prstGeom prst="roundRect">
            <a:avLst>
              <a:gd name="adj" fmla="val 10000"/>
            </a:avLst>
          </a:prstGeom>
          <a:solidFill>
            <a:srgbClr val="112336"/>
          </a:solidFill>
          <a:ln w="8890">
            <a:solidFill>
              <a:srgbClr val="11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01952"/>
            <a:ext cx="1371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CẤP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01952"/>
            <a:ext cx="3291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CÔNG VIỆC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1901952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ROUTING ĐỀ XUẤT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6336" y="1901952"/>
            <a:ext cx="19202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REQUEST/THÁNG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49424"/>
            <a:ext cx="10991088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404872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Cấp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04872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Email, hỏi đáp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404872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90% Micro / 10%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336" y="2404872"/>
            <a:ext cx="1920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040"/>
                </a:solidFill>
                <a:latin typeface="Arial"/>
              </a:rPr>
              <a:t>220.000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862072"/>
            <a:ext cx="10991088" cy="576072"/>
          </a:xfrm>
          <a:prstGeom prst="rect">
            <a:avLst/>
          </a:prstGeom>
          <a:solidFill>
            <a:srgbClr val="DCF2EF"/>
          </a:solidFill>
          <a:ln w="8890">
            <a:solidFill>
              <a:srgbClr val="DC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17520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Cấp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017520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Tài liệu,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017520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50% Micro / 50%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3017520"/>
            <a:ext cx="1920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040"/>
                </a:solidFill>
                <a:latin typeface="Arial"/>
              </a:rPr>
              <a:t>110.000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474720"/>
            <a:ext cx="10991088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630168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Cấp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30168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Bảng tính,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3630168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Pro + 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630168"/>
            <a:ext cx="1920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040"/>
                </a:solidFill>
                <a:latin typeface="Arial"/>
              </a:rPr>
              <a:t>52.800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087368"/>
            <a:ext cx="10991088" cy="576072"/>
          </a:xfrm>
          <a:prstGeom prst="rect">
            <a:avLst/>
          </a:prstGeom>
          <a:solidFill>
            <a:srgbClr val="DCF2EF"/>
          </a:solidFill>
          <a:ln w="8890">
            <a:solidFill>
              <a:srgbClr val="DC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242816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Cấp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42816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Agent nhiều bước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4242816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Pro + queue +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4242816"/>
            <a:ext cx="1920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040"/>
                </a:solidFill>
                <a:latin typeface="Arial"/>
              </a:rPr>
              <a:t>35.200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700016"/>
            <a:ext cx="10991088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855464"/>
            <a:ext cx="1371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Cấp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855464"/>
            <a:ext cx="3291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Mockup, sơ đồ, minh họa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2472" y="4855464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Micro/Pro → HTML/SVG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4855464"/>
            <a:ext cx="19202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040"/>
                </a:solidFill>
                <a:latin typeface="Arial"/>
              </a:rPr>
              <a:t>22.000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5577840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FCF5EE"/>
          </a:solidFill>
          <a:ln w="8890">
            <a:solidFill>
              <a:srgbClr val="FC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696712"/>
            <a:ext cx="10698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07235"/>
                </a:solidFill>
                <a:latin typeface="Arial"/>
              </a:rPr>
              <a:t>Ảnh bitmap ngoài APAC KHÔNG nằm trong baseline; chỉ bật sau duyệt residency và cộng riêng 4.400 ảnh / $176/tháng.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kiet/KIET_MODEL_SERVING.md. Tỉ lệ route là giả định, chưa qua 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06 / LỰA CHỌN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API managed là baseline; tiết kiệm $774,95/tháng có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Chất lượng ≥95% so với Pro theo từng cấp; p95 TTFT ≤3 giây là mục tiêu chưa đo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39242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83080"/>
            <a:ext cx="64008" cy="233172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00837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Micro +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3008376" cy="1563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$1.669,00/tháng 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Chọn tạm; chỉ áp dụng tỉ lệ route nếu Micro vượt eval 100 case/cấp.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83080"/>
            <a:ext cx="339242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1783080"/>
            <a:ext cx="64008" cy="2331720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947672"/>
            <a:ext cx="300837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Toàn bộ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404872"/>
            <a:ext cx="3008376" cy="1563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$2.443,95/tháng 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Dễ vận hành hơn, nhưng thêm $774,95/tháng theo workload giả định.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783080"/>
            <a:ext cx="339242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783080"/>
            <a:ext cx="64008" cy="2331720"/>
          </a:xfrm>
          <a:prstGeom prst="rect">
            <a:avLst/>
          </a:prstGeom>
          <a:solidFill>
            <a:srgbClr val="112336"/>
          </a:solidFill>
          <a:ln w="8890">
            <a:solidFill>
              <a:srgbClr val="11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947672"/>
            <a:ext cx="3008376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Tự host /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04872"/>
            <a:ext cx="3008376" cy="1563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Chưa định giá GPU Singapore. Ngưỡng lý thuyết ≤$1,143/node-giờ cho 2 node; phải benchmark.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0972800" cy="1179576"/>
          </a:xfrm>
          <a:prstGeom prst="roundRect">
            <a:avLst>
              <a:gd name="adj" fmla="val 10000"/>
            </a:avLst>
          </a:prstGeom>
          <a:solidFill>
            <a:srgbClr val="DCF2EF"/>
          </a:solidFill>
          <a:ln w="8890">
            <a:solidFill>
              <a:srgbClr val="DC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590288"/>
            <a:ext cx="201168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7177"/>
                </a:solidFill>
                <a:latin typeface="Arial"/>
              </a:rPr>
              <a:t>Cổng nghiệm thu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4599432"/>
            <a:ext cx="8503920" cy="6035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≥95% điểm Pro/cấp • 0 lỗi ACL/PII • load test 2,22 RPS / 30 phút • agent ≤10 phút gồm queue/tool/sandbox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Giá phần text theo AWS Bedrock Price List Singapore; cache hit giả định 0%, không trừ tiền khi chưa đo. Nguồn: kiet/KIET_MODEL_SERVING.md.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07 / DATA &amp;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RAG chỉ trả tài liệu user được phép xem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Phần này tổng hợp từ kế hoạch và giả định Dũng; chưa có tài liệu bàn giao riêng của Phong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401568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83080"/>
            <a:ext cx="64008" cy="315468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Connectors + OAuth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3017520" cy="23865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Google Workspace, Microsoft 365, Outlook, Notion, Jira, Confluence. Đọc theo scope user; ghi chỉ sau approval. Ước lượng 564.960 call/tháng.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83080"/>
            <a:ext cx="3401568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783080"/>
            <a:ext cx="64008" cy="315468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4767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RAG + 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04872"/>
            <a:ext cx="3017520" cy="23865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Index gắn nguồn, tenant, ACL version. Lọc trước truy hồi và kiểm lại tại nguồn; cache key mang quyền. Cohere Embed Multilingual v3 cho query tiếng Việt/Anh.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01568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783080"/>
            <a:ext cx="64008" cy="3154680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4767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Workspace riêng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404872"/>
            <a:ext cx="3017520" cy="23865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Quota 10 GB/user = trần logic 20 TB; giả định dùng thực 1 GB/user ≈2 TB. Database, vector DB, object storage và queue tách ranh giới giá.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212080"/>
            <a:ext cx="10972800" cy="585216"/>
          </a:xfrm>
          <a:prstGeom prst="roundRect">
            <a:avLst>
              <a:gd name="adj" fmla="val 10000"/>
            </a:avLst>
          </a:prstGeom>
          <a:solidFill>
            <a:srgbClr val="FCF5EE"/>
          </a:solidFill>
          <a:ln w="8890">
            <a:solidFill>
              <a:srgbClr val="FC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358384"/>
            <a:ext cx="105613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7235"/>
                </a:solidFill>
                <a:latin typeface="Arial"/>
              </a:rPr>
              <a:t>Cần Phong xác nhận: corpus/GB thực, MAU/license, ACL gốc, rate limit connector, replica/index và giá 5 component.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dung/ASSUMPTIONS.md, dung/ARCHITECTURE.md, TEAMMATE_PLAN.md. Số liệu data là giả định quy hoạch.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08 /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Code chạy trong môi trường tạm — không mang token, không có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59.840 run/tháng; peak ≈18,1 run đồng thời nếu 60 giây/run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11680"/>
            <a:ext cx="2523744" cy="3072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212848"/>
            <a:ext cx="475488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44852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52344"/>
            <a:ext cx="2194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Stage đúng quyền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65576"/>
            <a:ext cx="2194560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Runner nhận input đã lọc ACL; chỉ mount dữ liệu đúng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2011680"/>
            <a:ext cx="2523744" cy="3072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4448" y="2212848"/>
            <a:ext cx="475488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244852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752344"/>
            <a:ext cx="2194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Cô lập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465576"/>
            <a:ext cx="2194560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Ứng viên gVisor/microVM; non-root, không đặc quyền, không cloud metadata.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011680"/>
            <a:ext cx="2523744" cy="3072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212848"/>
            <a:ext cx="475488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244852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52344"/>
            <a:ext cx="2194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Giới hạn &amp; hủy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65576"/>
            <a:ext cx="2194560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Cấm mạng mặc định; quota CPU/RAM/PID/disk/thời gian; dọn sau chạy.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2011680"/>
            <a:ext cx="2523744" cy="3072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2" y="2212848"/>
            <a:ext cx="475488" cy="292608"/>
          </a:xfrm>
          <a:prstGeom prst="roundRect">
            <a:avLst>
              <a:gd name="adj" fmla="val 10000"/>
            </a:avLst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2244852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2752344"/>
            <a:ext cx="21945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Kiểm artifact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3465576"/>
            <a:ext cx="2194560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Scan output, DLP và publish qua runner vào workspace đúng chủ.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312664"/>
            <a:ext cx="10972800" cy="475488"/>
          </a:xfrm>
          <a:prstGeom prst="roundRect">
            <a:avLst>
              <a:gd name="adj" fmla="val 10000"/>
            </a:avLst>
          </a:prstGeom>
          <a:solidFill>
            <a:srgbClr val="FCF5EE"/>
          </a:solidFill>
          <a:ln w="8890">
            <a:solidFill>
              <a:srgbClr val="FC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5431536"/>
            <a:ext cx="10552176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07235"/>
                </a:solidFill>
                <a:latin typeface="Arial"/>
              </a:rPr>
              <a:t>Chưa chốt runtime/SKU, vCPU/RAM và billing minimum; Bảo phải chứng minh cách chịu peak khi mất một AZ.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bao/SLIDES_8_10.md và bao/SIZING_AND_COST.md.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09 /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Model đề xuất; policy và người dùng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SSO/MFA, RBAC/ABAC, ACL gốc, token vault, DLP và audit 12 tháng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1097280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28800"/>
            <a:ext cx="2057400" cy="795528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93976"/>
            <a:ext cx="1728216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DỮ LIỆU VÀO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002536"/>
            <a:ext cx="8385048" cy="4663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F3040"/>
                </a:solidFill>
                <a:latin typeface="Arial"/>
              </a:rPr>
              <a:t>Connector/RAG là nguồn không tin cậy → phân loại, kiểm ACL, che PII/secret, chặn prompt injection.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07208"/>
            <a:ext cx="1097280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807208"/>
            <a:ext cx="2057400" cy="795528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728216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HÀNH ĐỘNG GHI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80944"/>
            <a:ext cx="8385048" cy="4663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F3040"/>
                </a:solidFill>
                <a:latin typeface="Arial"/>
              </a:rPr>
              <a:t>Preview đích + payload → user xác nhận → kiểm lại scope/quyền → connector thực thi idempotent.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785616"/>
            <a:ext cx="1097280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785616"/>
            <a:ext cx="2057400" cy="795528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2"/>
            <a:ext cx="1728216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TOKEN &amp;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959352"/>
            <a:ext cx="8385048" cy="4663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F3040"/>
                </a:solidFill>
                <a:latin typeface="Arial"/>
              </a:rPr>
              <a:t>OAuth ủy nhiệm nằm trong vault KMS; model/sandbox không nhận token; mặc định deny egress.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764024"/>
            <a:ext cx="1097280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764024"/>
            <a:ext cx="2057400" cy="795528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29200"/>
            <a:ext cx="1728216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DỮ LIỆU 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937760"/>
            <a:ext cx="8385048" cy="4663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F3040"/>
                </a:solidFill>
                <a:latin typeface="Arial"/>
              </a:rPr>
              <a:t>Guardrail/DLP kiểm kết quả và artifact; audit 12 tháng; đổi model/prompt qua eval gate.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bao/SECURITY_DESIGN.md. Cần kiểm điều khoản xử lý dữ liệu của Bedrock APAC trước khi tuyên bố đáp ứng H1/H5.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10 / HA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Thiết kế cho giờ hành chính; chỉ công bố đạt sau diễn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99,5% availability • TTFT p95 ≤3s • agent ≤10 phút • RTO 4h / RPO 1h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3401568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28800"/>
            <a:ext cx="64008" cy="292608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Hai AZ + 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3017520" cy="2157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API Gateway/ALB managed; orchestrator hai replica; DB failover; staging tách quyền/dữ liệu. AZ còn lại cần đủ tải hoặc policy giảm tải đã duyệt.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401568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28800"/>
            <a:ext cx="64008" cy="2926080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93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Backup +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50592"/>
            <a:ext cx="3017520" cy="2157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PITR/backup object, kiểm bản sao và khóa; restore drill đo RTO 4 giờ, RPO 1 giờ. Hai AZ không đồng nghĩa DR khi mất cả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828800"/>
            <a:ext cx="3401568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828800"/>
            <a:ext cx="64008" cy="2926080"/>
          </a:xfrm>
          <a:prstGeom prst="rect">
            <a:avLst/>
          </a:prstGeom>
          <a:solidFill>
            <a:srgbClr val="112336"/>
          </a:solidFill>
          <a:ln w="8890">
            <a:solidFill>
              <a:srgbClr val="11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93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Quan sát + FinOps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450592"/>
            <a:ext cx="3017520" cy="2157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Trace TTFT/queue/tool, token/user, sandbox, backup age. Cảnh báo 70/90/100% ngân sách; CI/CD staging → eval → canary → rollback.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38928"/>
            <a:ext cx="10972800" cy="667512"/>
          </a:xfrm>
          <a:prstGeom prst="roundRect">
            <a:avLst>
              <a:gd name="adj" fmla="val 10000"/>
            </a:avLst>
          </a:prstGeom>
          <a:solidFill>
            <a:srgbClr val="DCF2EF"/>
          </a:solidFill>
          <a:ln w="8890">
            <a:solidFill>
              <a:srgbClr val="DC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5349240"/>
            <a:ext cx="10479024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177"/>
                </a:solidFill>
                <a:latin typeface="Arial"/>
              </a:rPr>
              <a:t>Trạng thái: chưa có kết quả load test, failover test hay restore drill; các SLO trên là mục tiêu nghiệm thu.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Nguồn: bao/OPERATIONS_AND_ACCEPTANCE.md và dung/ARCHITECTURE.md.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11 / CHI PHÍ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Chưa thể khóa TOTAL: hiện chỉ có phần Kiệt và nhân sự Dũng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Không cộng giả các component chưa có SKU, đơn giá và bằng chứng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3401568" cy="2176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64008" cy="2176272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Model + embedding +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017520" cy="14081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$1.679,86 / tháng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Baseline không bitmap; giá gateway vẫn cần đối chiếu SKU Singapore.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47088"/>
            <a:ext cx="3401568" cy="2176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47088"/>
            <a:ext cx="64008" cy="2176272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011680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Nhân sự vận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68880"/>
            <a:ext cx="3017520" cy="14081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$800,00 / tháng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Giả định 40 giờ × $20; Dũng cần xác nhận ca trực và đơn giá.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847088"/>
            <a:ext cx="3401568" cy="2176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847088"/>
            <a:ext cx="64008" cy="2176272"/>
          </a:xfrm>
          <a:prstGeom prst="rect">
            <a:avLst/>
          </a:prstGeom>
          <a:solidFill>
            <a:srgbClr val="AB3F30"/>
          </a:solidFill>
          <a:ln w="8890">
            <a:solidFill>
              <a:srgbClr val="AB3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11680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Đã có số sơ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468880"/>
            <a:ext cx="3017520" cy="14081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$2.479,86 / tháng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3040"/>
                </a:solidFill>
                <a:latin typeface="Arial"/>
              </a:rPr>
              <a:t>KHÔNG PHẢI TOTAL: thiếu data, sandbox, HA, network, backup và bảo mật.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315968"/>
            <a:ext cx="10972800" cy="1188720"/>
          </a:xfrm>
          <a:prstGeom prst="roundRect">
            <a:avLst>
              <a:gd name="adj" fmla="val 10000"/>
            </a:avLst>
          </a:prstGeom>
          <a:solidFill>
            <a:srgbClr val="FCF5EE"/>
          </a:solidFill>
          <a:ln w="8890">
            <a:solidFill>
              <a:srgbClr val="FC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535424"/>
            <a:ext cx="2304288" cy="3566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07235"/>
                </a:solidFill>
                <a:latin typeface="Arial"/>
              </a:rPr>
              <a:t>Muốn khóa slide này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4517136"/>
            <a:ext cx="8065008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040"/>
                </a:solidFill>
                <a:latin typeface="Arial"/>
              </a:rPr>
              <a:t>Nhận 5 component của Phong + 11 component của Bảo → ghép BaoGia → xác minh bằng chứng → lấy TOTAL, USD/DAU và top 5 trực tiếp từ XLSX.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88873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AB3F30"/>
                </a:solidFill>
                <a:latin typeface="Arial"/>
              </a:rPr>
              <a:t>Đề yêu cầu TOTAL và top 5; slide này cố ý đánh dấu chưa khóa, không dùng làm bản nộp cuối. Nguồn: kiet/KIET_BAOGIA.tsv, dung/DUNG_BAOGIA.tsv.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107899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7177"/>
                </a:solidFill>
                <a:latin typeface="Arial"/>
              </a:rPr>
              <a:t>12 / MỞ RỘNG &amp; QUYẾT ĐỊNH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115568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2336"/>
                </a:solidFill>
                <a:latin typeface="Arial"/>
              </a:rPr>
              <a:t>4.000 DAU: tải gần gấp đôi, chi phí không tự động gấp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E76"/>
                </a:solidFill>
                <a:latin typeface="Arial"/>
              </a:rPr>
              <a:t>Chốt thiết kế sau khi đủ giá và vượt cổng chất lượng H1–H8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46520"/>
            <a:ext cx="11119104" cy="9144"/>
          </a:xfrm>
          <a:prstGeom prst="rect">
            <a:avLst/>
          </a:prstGeom>
          <a:solidFill>
            <a:srgbClr val="D7E1E2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6510528"/>
            <a:ext cx="7315200" cy="173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EVIAURA  /  VBOT PRODUCTION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>
                <a:solidFill>
                  <a:srgbClr val="5C6E76"/>
                </a:solidFill>
                <a:latin typeface="Arial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2523744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29968"/>
            <a:ext cx="22860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880.000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22494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request/tháng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523744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029968"/>
            <a:ext cx="22860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4,44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578608"/>
            <a:ext cx="22494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request/giây peak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828800"/>
            <a:ext cx="2523744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029968"/>
            <a:ext cx="22860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119.680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3" y="2578608"/>
            <a:ext cx="22494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sandbox run/tháng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5" y="1828800"/>
            <a:ext cx="2523744" cy="1216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029968"/>
            <a:ext cx="2286000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007177"/>
                </a:solidFill>
                <a:latin typeface="Arial"/>
              </a:rPr>
              <a:t>$3.359,20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578608"/>
            <a:ext cx="224942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E76"/>
                </a:solidFill>
                <a:latin typeface="Arial"/>
              </a:rPr>
              <a:t>phần Kiệt/tháng*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92424"/>
            <a:ext cx="529437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392424"/>
            <a:ext cx="64008" cy="1828800"/>
          </a:xfrm>
          <a:prstGeom prst="rect">
            <a:avLst/>
          </a:prstGeom>
          <a:solidFill>
            <a:srgbClr val="E07235"/>
          </a:solidFill>
          <a:ln w="8890">
            <a:solidFill>
              <a:srgbClr val="E07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57016"/>
            <a:ext cx="491032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Rủi ro cần xử lý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14215"/>
            <a:ext cx="4910328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Geo inference/residency; ACL stale; sandbox peak khi mất AZ; thiếu bằng chứng giá; TTFT và eval chưa đo.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392424"/>
            <a:ext cx="5294376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7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392424"/>
            <a:ext cx="64008" cy="1828800"/>
          </a:xfrm>
          <a:prstGeom prst="rect">
            <a:avLst/>
          </a:prstGeom>
          <a:solidFill>
            <a:srgbClr val="007177"/>
          </a:solidFill>
          <a:ln w="8890">
            <a:solidFill>
              <a:srgbClr val="007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557016"/>
            <a:ext cx="491032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336"/>
                </a:solidFill>
                <a:latin typeface="Arial"/>
              </a:rPr>
              <a:t>Cổng hoàn thành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014215"/>
            <a:ext cx="4910328" cy="10607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040"/>
                </a:solidFill>
                <a:latin typeface="Arial"/>
              </a:rPr>
              <a:t>Chốt SKU và TOTAL; eval ≥95% từng cấp; load/HA/restore test; đối chiếu PDF với XLSX và chạy validator ĐẠT.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071616"/>
            <a:ext cx="10972800" cy="2834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C6E76"/>
                </a:solidFill>
                <a:latin typeface="Arial"/>
              </a:rPr>
              <a:t>* Giữ mix và đơn giá; corpus index không nhân đôi. Tổng hệ thống phải tính lại từng meter, replica, staging và license.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