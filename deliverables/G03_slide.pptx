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b97ee2b5e7d48fe" /><Relationship Type="http://schemas.openxmlformats.org/officeDocument/2006/relationships/extended-properties" Target="/docProps/app.xml" Id="R2270701ce0924954" /><Relationship Type="http://schemas.openxmlformats.org/officeDocument/2006/relationships/officeDocument" Target="/ppt/presentation.xml" Id="Rc0b900f0c1874a47" /></Relationships>
</file>

<file path=ppt/presentation.xml><?xml version="1.0" encoding="utf-8"?>
<p:presentation xmlns:p="http://schemas.openxmlformats.org/presentationml/2006/main">
  <p:sldMasterIdLst>
    <p:sldMasterId xmlns:r="http://schemas.openxmlformats.org/officeDocument/2006/relationships" id="2147483648" r:id="R64dc643145024b77"/>
  </p:sldMasterIdLst>
  <p:notesMasterIdLst>
    <p:notesMasterId xmlns:r="http://schemas.openxmlformats.org/officeDocument/2006/relationships" r:id="R6806637ef7134f80"/>
  </p:notesMasterIdLst>
  <p:sldIdLst>
    <p:sldId xmlns:r="http://schemas.openxmlformats.org/officeDocument/2006/relationships" id="256" r:id="Rebd944c64e7a4e25"/>
    <p:sldId xmlns:r="http://schemas.openxmlformats.org/officeDocument/2006/relationships" id="257" r:id="R4cf31aa64a9f4521"/>
    <p:sldId xmlns:r="http://schemas.openxmlformats.org/officeDocument/2006/relationships" id="258" r:id="R8d099c4801cb4090"/>
    <p:sldId xmlns:r="http://schemas.openxmlformats.org/officeDocument/2006/relationships" id="259" r:id="Re17f1ba227214ddc"/>
    <p:sldId xmlns:r="http://schemas.openxmlformats.org/officeDocument/2006/relationships" id="260" r:id="R0c978acd97fd4e27"/>
    <p:sldId xmlns:r="http://schemas.openxmlformats.org/officeDocument/2006/relationships" id="261" r:id="R2057882c853c4a8f"/>
    <p:sldId xmlns:r="http://schemas.openxmlformats.org/officeDocument/2006/relationships" id="262" r:id="R6126e08635264baa"/>
    <p:sldId xmlns:r="http://schemas.openxmlformats.org/officeDocument/2006/relationships" id="263" r:id="Rbbb5775ca8c14710"/>
    <p:sldId xmlns:r="http://schemas.openxmlformats.org/officeDocument/2006/relationships" id="264" r:id="R5cc3fb29e370460d"/>
    <p:sldId xmlns:r="http://schemas.openxmlformats.org/officeDocument/2006/relationships" id="265" r:id="R0334b10c677748e9"/>
    <p:sldId xmlns:r="http://schemas.openxmlformats.org/officeDocument/2006/relationships" id="266" r:id="R86a093df09e04804"/>
    <p:sldId xmlns:r="http://schemas.openxmlformats.org/officeDocument/2006/relationships" id="267" r:id="Rd21fb0cca0254d2d"/>
    <p:sldId xmlns:r="http://schemas.openxmlformats.org/officeDocument/2006/relationships" id="268" r:id="Rad49386adf0f4e2d"/>
    <p:sldId xmlns:r="http://schemas.openxmlformats.org/officeDocument/2006/relationships" id="269" r:id="R05b3cde5d58f4f6c"/>
    <p:sldId xmlns:r="http://schemas.openxmlformats.org/officeDocument/2006/relationships" id="270" r:id="Rcf12df27fc4c45d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3bb087994c148d6" /><Relationship Type="http://schemas.openxmlformats.org/officeDocument/2006/relationships/slideMaster" Target="/ppt/slideMasters/slideMaster1.xml" Id="R64dc643145024b77" /><Relationship Type="http://schemas.openxmlformats.org/officeDocument/2006/relationships/notesMaster" Target="/ppt/notesMasters/notesMaster1.xml" Id="R6806637ef7134f80" /><Relationship Type="http://schemas.openxmlformats.org/officeDocument/2006/relationships/presProps" Target="/ppt/presProps.xml" Id="Rfd83223d9dfd49d5" /><Relationship Type="http://schemas.openxmlformats.org/officeDocument/2006/relationships/tableStyles" Target="/ppt/tableStyles.xml" Id="R0200da6f44c043c2" /><Relationship Type="http://schemas.openxmlformats.org/officeDocument/2006/relationships/slide" Target="/ppt/slides/slide1.xml" Id="Rebd944c64e7a4e25" /><Relationship Type="http://schemas.openxmlformats.org/officeDocument/2006/relationships/slide" Target="/ppt/slides/slide2.xml" Id="R4cf31aa64a9f4521" /><Relationship Type="http://schemas.openxmlformats.org/officeDocument/2006/relationships/slide" Target="/ppt/slides/slide3.xml" Id="R8d099c4801cb4090" /><Relationship Type="http://schemas.openxmlformats.org/officeDocument/2006/relationships/slide" Target="/ppt/slides/slide4.xml" Id="Re17f1ba227214ddc" /><Relationship Type="http://schemas.openxmlformats.org/officeDocument/2006/relationships/slide" Target="/ppt/slides/slide5.xml" Id="R0c978acd97fd4e27" /><Relationship Type="http://schemas.openxmlformats.org/officeDocument/2006/relationships/slide" Target="/ppt/slides/slide6.xml" Id="R2057882c853c4a8f" /><Relationship Type="http://schemas.openxmlformats.org/officeDocument/2006/relationships/slide" Target="/ppt/slides/slide7.xml" Id="R6126e08635264baa" /><Relationship Type="http://schemas.openxmlformats.org/officeDocument/2006/relationships/slide" Target="/ppt/slides/slide8.xml" Id="Rbbb5775ca8c14710" /><Relationship Type="http://schemas.openxmlformats.org/officeDocument/2006/relationships/slide" Target="/ppt/slides/slide9.xml" Id="R5cc3fb29e370460d" /><Relationship Type="http://schemas.openxmlformats.org/officeDocument/2006/relationships/slide" Target="/ppt/slides/slide10.xml" Id="R0334b10c677748e9" /><Relationship Type="http://schemas.openxmlformats.org/officeDocument/2006/relationships/slide" Target="/ppt/slides/slide11.xml" Id="R86a093df09e04804" /><Relationship Type="http://schemas.openxmlformats.org/officeDocument/2006/relationships/slide" Target="/ppt/slides/slide12.xml" Id="Rd21fb0cca0254d2d" /><Relationship Type="http://schemas.openxmlformats.org/officeDocument/2006/relationships/slide" Target="/ppt/slides/slide13.xml" Id="Rad49386adf0f4e2d" /><Relationship Type="http://schemas.openxmlformats.org/officeDocument/2006/relationships/slide" Target="/ppt/slides/slide14.xml" Id="R05b3cde5d58f4f6c" /><Relationship Type="http://schemas.openxmlformats.org/officeDocument/2006/relationships/slide" Target="/ppt/slides/slide15.xml" Id="Rcf12df27fc4c45d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8e8954c62c1440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0a05dd26f184e15" /><Relationship Type="http://schemas.openxmlformats.org/officeDocument/2006/relationships/notesMaster" Target="/ppt/notesMasters/notesMaster1.xml" Id="R15edb847d1de40a6" /></Relationships>
</file>

<file path=ppt/notesSlides/_rels/notesSlide2.xml.rels>&#65279;<?xml version="1.0" encoding="utf-8"?><Relationships xmlns="http://schemas.openxmlformats.org/package/2006/relationships"><Relationship Type="http://schemas.openxmlformats.org/officeDocument/2006/relationships/slide" Target="/ppt/slides/slide2.xml" Id="Rb634f84032734d2f" /><Relationship Type="http://schemas.openxmlformats.org/officeDocument/2006/relationships/notesMaster" Target="/ppt/notesMasters/notesMaster1.xml" Id="R7a631c2fc7044044" /></Relationships>
</file>

<file path=ppt/notesSlides/_rels/notesSlide3.xml.rels>&#65279;<?xml version="1.0" encoding="utf-8"?><Relationships xmlns="http://schemas.openxmlformats.org/package/2006/relationships"><Relationship Type="http://schemas.openxmlformats.org/officeDocument/2006/relationships/slide" Target="/ppt/slides/slide3.xml" Id="Rfd2a164335d940c5" /><Relationship Type="http://schemas.openxmlformats.org/officeDocument/2006/relationships/notesMaster" Target="/ppt/notesMasters/notesMaster1.xml" Id="R40f1a8256f2a4a05" /></Relationships>
</file>

<file path=ppt/notesSlides/_rels/notesSlide4.xml.rels>&#65279;<?xml version="1.0" encoding="utf-8"?><Relationships xmlns="http://schemas.openxmlformats.org/package/2006/relationships"><Relationship Type="http://schemas.openxmlformats.org/officeDocument/2006/relationships/slide" Target="/ppt/slides/slide4.xml" Id="Rd9274096d66c426f" /><Relationship Type="http://schemas.openxmlformats.org/officeDocument/2006/relationships/notesMaster" Target="/ppt/notesMasters/notesMaster1.xml" Id="R5c171272087f464d" /></Relationships>
</file>

<file path=ppt/notesSlides/_rels/notesSlide5.xml.rels>&#65279;<?xml version="1.0" encoding="utf-8"?><Relationships xmlns="http://schemas.openxmlformats.org/package/2006/relationships"><Relationship Type="http://schemas.openxmlformats.org/officeDocument/2006/relationships/slide" Target="/ppt/slides/slide5.xml" Id="R0decc7c78f9b448a" /><Relationship Type="http://schemas.openxmlformats.org/officeDocument/2006/relationships/notesMaster" Target="/ppt/notesMasters/notesMaster1.xml" Id="R07703951c8b7415a" /></Relationships>
</file>

<file path=ppt/notesSlides/_rels/notesSlide6.xml.rels>&#65279;<?xml version="1.0" encoding="utf-8"?><Relationships xmlns="http://schemas.openxmlformats.org/package/2006/relationships"><Relationship Type="http://schemas.openxmlformats.org/officeDocument/2006/relationships/slide" Target="/ppt/slides/slide6.xml" Id="R74d77b5face745f2" /><Relationship Type="http://schemas.openxmlformats.org/officeDocument/2006/relationships/notesMaster" Target="/ppt/notesMasters/notesMaster1.xml" Id="Ref21c0d3960d4242" /></Relationships>
</file>

<file path=ppt/notesSlides/_rels/notesSlide7.xml.rels>&#65279;<?xml version="1.0" encoding="utf-8"?><Relationships xmlns="http://schemas.openxmlformats.org/package/2006/relationships"><Relationship Type="http://schemas.openxmlformats.org/officeDocument/2006/relationships/slide" Target="/ppt/slides/slide7.xml" Id="R227771b0bbb14602" /><Relationship Type="http://schemas.openxmlformats.org/officeDocument/2006/relationships/notesMaster" Target="/ppt/notesMasters/notesMaster1.xml" Id="R2a8ced3c7da04025" /></Relationships>
</file>

<file path=ppt/notesSlides/_rels/notesSlide8.xml.rels>&#65279;<?xml version="1.0" encoding="utf-8"?><Relationships xmlns="http://schemas.openxmlformats.org/package/2006/relationships"><Relationship Type="http://schemas.openxmlformats.org/officeDocument/2006/relationships/slide" Target="/ppt/slides/slide8.xml" Id="Rd4849fd2064f4c84" /><Relationship Type="http://schemas.openxmlformats.org/officeDocument/2006/relationships/notesMaster" Target="/ppt/notesMasters/notesMaster1.xml" Id="Rdda9df82849645a3" /></Relationships>
</file>

<file path=ppt/notesSlides/_rels/notesSlide9.xml.rels>&#65279;<?xml version="1.0" encoding="utf-8"?><Relationships xmlns="http://schemas.openxmlformats.org/package/2006/relationships"><Relationship Type="http://schemas.openxmlformats.org/officeDocument/2006/relationships/slide" Target="/ppt/slides/slide9.xml" Id="R0c22016da657468e" /><Relationship Type="http://schemas.openxmlformats.org/officeDocument/2006/relationships/notesMaster" Target="/ppt/notesMasters/notesMaster1.xml" Id="R79633f3cefe5459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50937aa9e514f11" /><Relationship Type="http://schemas.openxmlformats.org/officeDocument/2006/relationships/notesMaster" Target="/ppt/notesMasters/notesMaster1.xml" Id="R411c014eb25c415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a257422dc4545c5" /><Relationship Type="http://schemas.openxmlformats.org/officeDocument/2006/relationships/notesMaster" Target="/ppt/notesMasters/notesMaster1.xml" Id="R5e56f77737b3446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ace7e94a7064890" /><Relationship Type="http://schemas.openxmlformats.org/officeDocument/2006/relationships/notesMaster" Target="/ppt/notesMasters/notesMaster1.xml" Id="R8a4a3285f02e4ff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57126ae953d48b1" /><Relationship Type="http://schemas.openxmlformats.org/officeDocument/2006/relationships/notesMaster" Target="/ppt/notesMasters/notesMaster1.xml" Id="R7d098a03d1294e0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a83ce6f9c1845a0" /><Relationship Type="http://schemas.openxmlformats.org/officeDocument/2006/relationships/notesMaster" Target="/ppt/notesMasters/notesMaster1.xml" Id="Rbb95433b32944e0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e9aca5ebe39465f" /><Relationship Type="http://schemas.openxmlformats.org/officeDocument/2006/relationships/notesMaster" Target="/ppt/notesMasters/notesMaster1.xml" Id="R2520250689594ee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gợi ý: 15 giây.</a:t>
            </a:r>
          </a:p>
          <a:p xmlns:a="http://schemas.openxmlformats.org/drawingml/2006/main">
            <a:r>
              <a:t/>
            </a:r>
          </a:p>
          <a:p xmlns:a="http://schemas.openxmlformats.org/drawingml/2006/main">
            <a:r>
              <a:t>Giới thiệu phương án AWS cho 2.000 DAU. Mục tiêu là giảm tổng chi phí trong khi vẫn giữ các điều kiện H1 đến H8. Đây là gói thiết kế trước triển khai, chưa có kết quả production.</a:t>
            </a:r>
          </a:p>
          <a:p xmlns:a="http://schemas.openxmlformats.org/drawingml/2006/main">
            <a:r>
              <a:t/>
            </a:r>
          </a:p>
          <a:p xmlns:a="http://schemas.openxmlformats.org/drawingml/2006/main">
            <a:r>
              <a:t>Nguồn nội bộ: docs/ARCHITECTURE.md, docs/DEPLOYMENT.md, deliverables/cost-model.json, deliverables/VALIDATION.md. Ngày thiết kế 16/10/2026. Số liệu là dự toán, không phải hóa đơn hoặc benchmark production.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gợi ý: 30 giây.</a:t>
            </a:r>
          </a:p>
          <a:p xmlns:a="http://schemas.openxmlformats.org/drawingml/2006/main">
            <a:r>
              <a:t/>
            </a:r>
          </a:p>
          <a:p xmlns:a="http://schemas.openxmlformats.org/drawingml/2006/main">
            <a:r>
              <a:t>Chốt giả định 8 tác vụ mỗi nhân viên mỗi ngày và 22 ngày làm việc. Với 220 giờ hành chính, tải bình quân khoảng 0,44 tác vụ trên giây. Hệ số đỉnh 6 tạo mức 2,67 RPS. Tính theo thời gian request trung bình 20 giây, khoảng 54 phiên đồng thời ở đỉnh. Đây là giả định cần đo, không phải load test.</a:t>
            </a:r>
          </a:p>
          <a:p xmlns:a="http://schemas.openxmlformats.org/drawingml/2006/main">
            <a:r>
              <a:t/>
            </a:r>
          </a:p>
          <a:p xmlns:a="http://schemas.openxmlformats.org/drawingml/2006/main">
            <a:r>
              <a:t>Nguồn nội bộ: docs/ARCHITECTURE.md, docs/DEPLOYMENT.md, deliverables/cost-model.json, deliverables/VALIDATION.md. Ngày thiết kế 16/10/2026. Số liệu là dự toán, không phải hóa đơn hoặc benchmark production.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gợi ý: 25 giây.</a:t>
            </a:r>
          </a:p>
          <a:p xmlns:a="http://schemas.openxmlformats.org/drawingml/2006/main">
            <a:r>
              <a:t/>
            </a:r>
          </a:p>
          <a:p xmlns:a="http://schemas.openxmlformats.org/drawingml/2006/main">
            <a:r>
              <a:t>Giá chính tính đủ quota 10 GB cho 2.000 nhân viên, không giả định mỗi người mới dùng vài MB. Chỉ một phần tài liệu được index theo nhu cầu và quyền nguồn. Sandbox và ảnh cũng có volume riêng. Staging dùng khoảng 5% lượt model và compute, có dữ liệu riêng.</a:t>
            </a:r>
          </a:p>
          <a:p xmlns:a="http://schemas.openxmlformats.org/drawingml/2006/main">
            <a:r>
              <a:t/>
            </a:r>
          </a:p>
          <a:p xmlns:a="http://schemas.openxmlformats.org/drawingml/2006/main">
            <a:r>
              <a:t>Nguồn nội bộ: docs/ARCHITECTURE.md, docs/DEPLOYMENT.md, deliverables/cost-model.json, deliverables/VALIDATION.md. Ngày thiết kế 16/10/2026. Số liệu là dự toán, không phải hóa đơn hoặc benchmark production.</a:t>
            </a:r>
          </a:p>
          <a:p xmlns:a="http://schemas.openxmlformats.org/drawingml/2006/main">
            <a:r>
              <a:t>Nguồn: https://aws.amazon.com/s3/pricing/</a:t>
            </a:r>
          </a:p>
          <a:p xmlns:a="http://schemas.openxmlformats.org/drawingml/2006/main">
            <a:r>
              <a:t>Nguồn: https://aws.amazon.com/bedrock/agentcore/pricing/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gợi ý: 40 giây.</a:t>
            </a:r>
          </a:p>
          <a:p xmlns:a="http://schemas.openxmlformats.org/drawingml/2006/main">
            <a:r>
              <a:t/>
            </a:r>
          </a:p>
          <a:p xmlns:a="http://schemas.openxmlformats.org/drawingml/2006/main">
            <a:r>
              <a:t>Đi theo đường xử lý trên cùng: SSO, managed load distribution, gateway, compute và model. Compute truy cập các thành phần dữ liệu theo quyền người dùng. Connector và sandbox được tách khỏi luồng chat. Hàng dưới là các năng lực vận hành xuyên suốt. Primary Singapore, Nova Lite dùng APAC, Sonnet dùng Global, model ảnh tại Oregon. Cần duyệt inference destinations và đo TTFT từ Việt Nam.</a:t>
            </a:r>
          </a:p>
          <a:p xmlns:a="http://schemas.openxmlformats.org/drawingml/2006/main">
            <a:r>
              <a:t/>
            </a:r>
          </a:p>
          <a:p xmlns:a="http://schemas.openxmlformats.org/drawingml/2006/main">
            <a:r>
              <a:t>Nguồn nội bộ: docs/ARCHITECTURE.md, docs/DEPLOYMENT.md, deliverables/cost-model.json, deliverables/VALIDATION.md. Ngày thiết kế 16/10/2026. Số liệu là dự toán, không phải hóa đơn hoặc benchmark production.</a:t>
            </a:r>
          </a:p>
          <a:p xmlns:a="http://schemas.openxmlformats.org/drawingml/2006/main">
            <a:r>
              <a:t>Nguồn: https://docs.aws.amazon.com/apigateway/latest/developerguide/response-transfer-mode.html</a:t>
            </a:r>
          </a:p>
          <a:p xmlns:a="http://schemas.openxmlformats.org/drawingml/2006/main">
            <a:r>
              <a:t>Nguồn: https://docs.aws.amazon.com/bedrock-agentcore/latest/devguide/code-interpreter-resource-management.html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gợi ý: 35 giây.</a:t>
            </a:r>
          </a:p>
          <a:p xmlns:a="http://schemas.openxmlformats.org/drawingml/2006/main">
            <a:r>
              <a:t/>
            </a:r>
          </a:p>
          <a:p xmlns:a="http://schemas.openxmlformats.org/drawingml/2006/main">
            <a:r>
              <a:t>Người dùng đăng nhập SSO. Backend lấy tenant và user từ danh tính đã xác thực, không lấy từ body. Trước mỗi call, hệ thống giữ chỗ ngân sách tối đa. Retrieval kiểm tra ACL trước khi đưa text vào prompt. Kết quả đi qua kiểm tra output rồi mới stream về. Với tác vụ nền, trả job ID và thông báo khi hoàn thành. Hành động ghi luôn chờ xác nhận payload.</a:t>
            </a:r>
          </a:p>
          <a:p xmlns:a="http://schemas.openxmlformats.org/drawingml/2006/main">
            <a:r>
              <a:t/>
            </a:r>
          </a:p>
          <a:p xmlns:a="http://schemas.openxmlformats.org/drawingml/2006/main">
            <a:r>
              <a:t>Nguồn nội bộ: docs/ARCHITECTURE.md, docs/DEPLOYMENT.md, deliverables/cost-model.json, deliverables/VALIDATION.md. Ngày thiết kế 16/10/2026. Số liệu là dự toán, không phải hóa đơn hoặc benchmark production.</a:t>
            </a:r>
          </a:p>
          <a:p xmlns:a="http://schemas.openxmlformats.org/drawingml/2006/main">
            <a:r>
              <a:t>Nguồn: https://docs.aws.amazon.com/apigateway/latest/developerguide/response-transfer-mode.html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gợi ý: 35 giây.</a:t>
            </a:r>
          </a:p>
          <a:p xmlns:a="http://schemas.openxmlformats.org/drawingml/2006/main">
            <a:r>
              <a:t/>
            </a:r>
          </a:p>
          <a:p xmlns:a="http://schemas.openxmlformats.org/drawingml/2006/main">
            <a:r>
              <a:t>Dùng Nova Lite cho email, tài liệu thông thường và prompt hỗ trợ thiết kế. Code và agent phức tạp dùng Sonnet 4.5. Tỷ lệ chuyển từ Lite lên Sonnet 10% là giả định trong cost model, cả hai lượt đều tính phí. Baseline text là Sonnet 4.5, baseline ảnh là Stable Image Core cùng cấu hình. Canvas được thay do EOL. Nova Lite gọi APAC, Sonnet gọi Global, ảnh gọi us-west-2. Cần từng cấp đạt 95% baseline.</a:t>
            </a:r>
          </a:p>
          <a:p xmlns:a="http://schemas.openxmlformats.org/drawingml/2006/main">
            <a:r>
              <a:t/>
            </a:r>
          </a:p>
          <a:p xmlns:a="http://schemas.openxmlformats.org/drawingml/2006/main">
            <a:r>
              <a:t>Nguồn nội bộ: docs/ARCHITECTURE.md, docs/DEPLOYMENT.md, deliverables/cost-model.json, deliverables/VALIDATION.md. Ngày thiết kế 16/10/2026. Số liệu là dự toán, không phải hóa đơn hoặc benchmark production.</a:t>
            </a:r>
          </a:p>
          <a:p xmlns:a="http://schemas.openxmlformats.org/drawingml/2006/main">
            <a:r>
              <a:t>Nguồn: https://aws.amazon.com/nova/pricing/</a:t>
            </a:r>
          </a:p>
          <a:p xmlns:a="http://schemas.openxmlformats.org/drawingml/2006/main">
            <a:r>
              <a:t>Nguồn: https://www-cdn.anthropic.com/files/4zrzovbb/website/3684c2faafb97418665782cea0001f439f74b1d2.pdf</a:t>
            </a:r>
          </a:p>
          <a:p xmlns:a="http://schemas.openxmlformats.org/drawingml/2006/main">
            <a:r>
              <a:t>Nguồn: https://docs.aws.amazon.com/bedrock/latest/userguide/model-card-stability-ai-stable-image-core-1-0.html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gợi ý: 30 giây.</a:t>
            </a:r>
          </a:p>
          <a:p xmlns:a="http://schemas.openxmlformats.org/drawingml/2006/main">
            <a:r>
              <a:t/>
            </a:r>
          </a:p>
          <a:p xmlns:a="http://schemas.openxmlformats.org/drawingml/2006/main">
            <a:r>
              <a:t>Tích hợp đủ Google Workspace, M365, Notion, Jira và Confluence. Quyền delegated và scope theo chức năng, tách đọc với ghi. Refresh token lưu ciphertext trong DynamoDB vault với KMS, client secrets ở Secrets Manager. ACL stale, quyền bị thu hồi hay nguồn không xác minh được đều fail closed. Không có tài khoản đọc toàn doanh nghiệp.</a:t>
            </a:r>
          </a:p>
          <a:p xmlns:a="http://schemas.openxmlformats.org/drawingml/2006/main">
            <a:r>
              <a:t/>
            </a:r>
          </a:p>
          <a:p xmlns:a="http://schemas.openxmlformats.org/drawingml/2006/main">
            <a:r>
              <a:t>Nguồn nội bộ: docs/ARCHITECTURE.md, docs/DEPLOYMENT.md, deliverables/cost-model.json, deliverables/VALIDATION.md. Ngày thiết kế 16/10/2026. Số liệu là dự toán, không phải hóa đơn hoặc benchmark production.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gợi ý: 30 giây.</a:t>
            </a:r>
          </a:p>
          <a:p xmlns:a="http://schemas.openxmlformats.org/drawingml/2006/main">
            <a:r>
              <a:t/>
            </a:r>
          </a:p>
          <a:p xmlns:a="http://schemas.openxmlformats.org/drawingml/2006/main">
            <a:r>
              <a:t>Tách dữ liệu theo tenant/user trong trusted controller. S3 prefix chỉ là namespace, không tự tạo isolation. Sandbox là session mới mỗi job, VPC mode với subnet không có IGW, NAT, endpoints hay DNS, không đưa credential vào môi trường thực thi. Controller chỉ trao file đã kiểm quyền. Dừng session trong finally và watchdog xử lý session mồ côi.</a:t>
            </a:r>
          </a:p>
          <a:p xmlns:a="http://schemas.openxmlformats.org/drawingml/2006/main">
            <a:r>
              <a:t/>
            </a:r>
          </a:p>
          <a:p xmlns:a="http://schemas.openxmlformats.org/drawingml/2006/main">
            <a:r>
              <a:t>Nguồn nội bộ: docs/ARCHITECTURE.md, docs/DEPLOYMENT.md, deliverables/cost-model.json, deliverables/VALIDATION.md. Ngày thiết kế 16/10/2026. Số liệu là dự toán, không phải hóa đơn hoặc benchmark production.</a:t>
            </a:r>
          </a:p>
          <a:p xmlns:a="http://schemas.openxmlformats.org/drawingml/2006/main">
            <a:r>
              <a:t>Nguồn: https://docs.aws.amazon.com/bedrock-agentcore/latest/devguide/code-interpreter-resource-management.html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gợi ý: 25 giây.</a:t>
            </a:r>
          </a:p>
          <a:p xmlns:a="http://schemas.openxmlformats.org/drawingml/2006/main">
            <a:r>
              <a:t/>
            </a:r>
          </a:p>
          <a:p xmlns:a="http://schemas.openxmlformats.org/drawingml/2006/main">
            <a:r>
              <a:t>Áp dụng governance ở input, output và tool calls. Email và tài liệu là nguồn không tin cậy, không có quyền ra lệnh. Proposal ghi có target, payload digest, nonce và expiry. Audit chỉ chứa metadata đã che thông tin, có Object Lock ít nhất 12 tháng. Model và prompt mới phải qua eval trước khi phát hành.</a:t>
            </a:r>
          </a:p>
          <a:p xmlns:a="http://schemas.openxmlformats.org/drawingml/2006/main">
            <a:r>
              <a:t/>
            </a:r>
          </a:p>
          <a:p xmlns:a="http://schemas.openxmlformats.org/drawingml/2006/main">
            <a:r>
              <a:t>Nguồn nội bộ: docs/ARCHITECTURE.md, docs/DEPLOYMENT.md, deliverables/cost-model.json, deliverables/VALIDATION.md. Ngày thiết kế 16/10/2026. Số liệu là dự toán, không phải hóa đơn hoặc benchmark production.</a:t>
            </a:r>
          </a:p>
          <a:p xmlns:a="http://schemas.openxmlformats.org/drawingml/2006/main">
            <a:r>
              <a:t>Nguồn: https://docs.aws.amazon.com/bedrock/latest/userguide/data-protection.html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gợi ý: 30 giây.</a:t>
            </a:r>
          </a:p>
          <a:p xmlns:a="http://schemas.openxmlformats.org/drawingml/2006/main">
            <a:r>
              <a:t/>
            </a:r>
          </a:p>
          <a:p xmlns:a="http://schemas.openxmlformats.org/drawingml/2006/main">
            <a:r>
              <a:t>Đường đồng bộ dùng API Gateway, Lambda và DynamoDB managed multi-AZ, tránh một máy gateway hay database đơn lẻ. PITR và S3 versioning phục vụ khôi phục mất dữ liệu logic trong region. RTO 4 giờ và RPO 1 giờ là mục tiêu cần diễn tập. Phương án giá chính chưa có failover cả region. Nếu H7 yêu cầu regional disaster, phải thêm replication và báo giá lại.</a:t>
            </a:r>
          </a:p>
          <a:p xmlns:a="http://schemas.openxmlformats.org/drawingml/2006/main">
            <a:r>
              <a:t/>
            </a:r>
          </a:p>
          <a:p xmlns:a="http://schemas.openxmlformats.org/drawingml/2006/main">
            <a:r>
              <a:t>Nguồn nội bộ: docs/ARCHITECTURE.md, docs/DEPLOYMENT.md, deliverables/cost-model.json, deliverables/VALIDATION.md. Ngày thiết kế 16/10/2026. Số liệu là dự toán, không phải hóa đơn hoặc benchmark production.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gợi ý: 25 giây.</a:t>
            </a:r>
          </a:p>
          <a:p xmlns:a="http://schemas.openxmlformats.org/drawingml/2006/main">
            <a:r>
              <a:t/>
            </a:r>
          </a:p>
          <a:p xmlns:a="http://schemas.openxmlformats.org/drawingml/2006/main">
            <a:r>
              <a:t>Mục tiêu TTFT p95 là token model đầu tiên, không tính heartbeat hoặc thông báo đang xử lý. Warm 10 slots giờ hành chính chỉ giảm cold start cho một phần tải, peak 54 phiên vẫn có overflow. Quota model và TPM phải tính retry, escalation và headroom. Monitoring tách các giai đoạn để biết lỗi do retrieval, model hay connector.</a:t>
            </a:r>
          </a:p>
          <a:p xmlns:a="http://schemas.openxmlformats.org/drawingml/2006/main">
            <a:r>
              <a:t/>
            </a:r>
          </a:p>
          <a:p xmlns:a="http://schemas.openxmlformats.org/drawingml/2006/main">
            <a:r>
              <a:t>Nguồn nội bộ: docs/ARCHITECTURE.md, docs/DEPLOYMENT.md, deliverables/cost-model.json, deliverables/VALIDATION.md. Ngày thiết kế 16/10/2026. Số liệu là dự toán, không phải hóa đơn hoặc benchmark production.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gợi ý: 30 giây.</a:t>
            </a:r>
          </a:p>
          <a:p xmlns:a="http://schemas.openxmlformats.org/drawingml/2006/main">
            <a:r>
              <a:t/>
            </a:r>
          </a:p>
          <a:p xmlns:a="http://schemas.openxmlformats.org/drawingml/2006/main">
            <a:r>
              <a:t>Con số trên slide khớp TOTAL trong báo giá XLSX Singapore. AWS định kỳ 5.293,44 USD, cộng 200 USD vận hành và 10% dự phòng. Model là phần lớn nhất. Các billable rate đã đối chiếu SKU công khai AWS ngày 16/10/2026. Giá chưa VAT. Workload, labor và eval allowance vẫn là giả định. Dự toán không khấu trừ ưu đãi.</a:t>
            </a:r>
          </a:p>
          <a:p xmlns:a="http://schemas.openxmlformats.org/drawingml/2006/main">
            <a:r>
              <a:t/>
            </a:r>
          </a:p>
          <a:p xmlns:a="http://schemas.openxmlformats.org/drawingml/2006/main">
            <a:r>
              <a:t>Nguồn nội bộ: docs/ARCHITECTURE.md, docs/DEPLOYMENT.md, deliverables/cost-model.json, deliverables/VALIDATION.md. Ngày thiết kế 16/10/2026. Số liệu là dự toán, không phải hóa đơn hoặc benchmark production.</a:t>
            </a:r>
          </a:p>
          <a:p xmlns:a="http://schemas.openxmlformats.org/drawingml/2006/main">
            <a:r>
              <a:t>Nguồn: https://aws.amazon.com/bedrock/pricing/</a:t>
            </a:r>
          </a:p>
          <a:p xmlns:a="http://schemas.openxmlformats.org/drawingml/2006/main">
            <a:r>
              <a:t>Nguồn: https://aws.amazon.com/lambda/pricing/</a:t>
            </a:r>
          </a:p>
          <a:p xmlns:a="http://schemas.openxmlformats.org/drawingml/2006/main">
            <a:r>
              <a:t>Nguồn: https://aws.amazon.com/s3/pricing/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gợi ý: 25 giây.</a:t>
            </a:r>
          </a:p>
          <a:p xmlns:a="http://schemas.openxmlformats.org/drawingml/2006/main">
            <a:r>
              <a:t/>
            </a:r>
          </a:p>
          <a:p xmlns:a="http://schemas.openxmlformats.org/drawingml/2006/main">
            <a:r>
              <a:t>So sánh cùng workload cho thấy routing có thể giảm khoảng 43,50% so với toàn bộ text dùng Sonnet. Đây là chênh lệch dự toán, không phải savings đo được. Sử dụng thấp hơn của workspace chỉ là sensitivity, báo giá chính vẫn tính đủ 20 TB. Khi 4.000 DAU, envelope 11.945,57 USD, phải resize quota và đo lại độ trễ.</a:t>
            </a:r>
          </a:p>
          <a:p xmlns:a="http://schemas.openxmlformats.org/drawingml/2006/main">
            <a:r>
              <a:t/>
            </a:r>
          </a:p>
          <a:p xmlns:a="http://schemas.openxmlformats.org/drawingml/2006/main">
            <a:r>
              <a:t>Nguồn nội bộ: docs/ARCHITECTURE.md, docs/DEPLOYMENT.md, deliverables/cost-model.json, deliverables/VALIDATION.md. Ngày thiết kế 16/10/2026. Số liệu là dự toán, không phải hóa đơn hoặc benchmark production.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gợi ý: 25 giây.</a:t>
            </a:r>
          </a:p>
          <a:p xmlns:a="http://schemas.openxmlformats.org/drawingml/2006/main">
            <a:r>
              <a:t/>
            </a:r>
          </a:p>
          <a:p xmlns:a="http://schemas.openxmlformats.org/drawingml/2006/main">
            <a:r>
              <a:t>Budgets có độ trễ nên không phải hard cap. Hard cap được thực thi bằng transaction reserve trước từng model hoặc tool call, sau đó reconcile chi phí thật và xử lý idempotency. CI xây artifact, kiểm tra hạ tầng và chạy eval. Staging data riêng, không warm. Hiện 42 resource schema đã pass và 6 rule bảo mật pass, nhưng runtime app và kiểm thử live còn thiếu.</a:t>
            </a:r>
          </a:p>
          <a:p xmlns:a="http://schemas.openxmlformats.org/drawingml/2006/main">
            <a:r>
              <a:t/>
            </a:r>
          </a:p>
          <a:p xmlns:a="http://schemas.openxmlformats.org/drawingml/2006/main">
            <a:r>
              <a:t>Nguồn nội bộ: docs/ARCHITECTURE.md, docs/DEPLOYMENT.md, deliverables/cost-model.json, deliverables/VALIDATION.md. Ngày thiết kế 16/10/2026. Số liệu là dự toán, không phải hóa đơn hoặc benchmark production.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gợi ý: 20 giây.</a:t>
            </a:r>
          </a:p>
          <a:p xmlns:a="http://schemas.openxmlformats.org/drawingml/2006/main">
            <a:r>
              <a:t/>
            </a:r>
          </a:p>
          <a:p xmlns:a="http://schemas.openxmlformats.org/drawingml/2006/main">
            <a:r>
              <a:t>Chốt lại kiến trúc có đủ thành phần và báo giá, nhưng chưa được tuyên bố đạt production. Phải có bằng chứng residency và model terms, SSO/OAuth/ACL, sandbox isolation, governance, latency, restore và chất lượng từng cấp. Mục tiêu là giá thấp nhất trong các phương án đã vượt các cổng, không dùng kết quả validator định dạng để thay cho các cổng này.</a:t>
            </a:r>
          </a:p>
          <a:p xmlns:a="http://schemas.openxmlformats.org/drawingml/2006/main">
            <a:r>
              <a:t/>
            </a:r>
          </a:p>
          <a:p xmlns:a="http://schemas.openxmlformats.org/drawingml/2006/main">
            <a:r>
              <a:t>Nguồn nội bộ: docs/ARCHITECTURE.md, docs/DEPLOYMENT.md, deliverables/cost-model.json, deliverables/VALIDATION.md. Ngày thiết kế 16/10/2026. Số liệu là dự toán, không phải hóa đơn hoặc benchmark production.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810f7b99a4942b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bd1bd79ef604be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dd79c3765eb4c4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527515609e54cb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13a970fdaa648c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ae482a19ee2456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65F3DC2-7462-4C5C-8C22-46918960D2A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AC6E8FD-469B-4B5D-A045-E223F40C8EA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81BB3C1-DC38-42AD-929D-8781EF7A571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81AD4F9-C56C-4DA8-A832-C5BF96E3A5D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9130707-8A99-4354-AFF4-C453BBB97AA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1B6DA50-BF7C-44FE-B619-1909EF9CF88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376D372-5F0F-453A-8B3E-937FFD91CD7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D7C310B-458B-4EF9-8545-9B1CEF3421A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86D8A47-44E2-465D-B15A-4E3D1680109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C1D380E-9CC3-47DE-BD6E-2B4D7C4A5A1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23884bca2ee437a" /><Relationship Type="http://schemas.openxmlformats.org/officeDocument/2006/relationships/slideLayout" Target="/ppt/slideLayouts/slideLayout1.xml" Id="Rd2ae9a71149b4c6b" /><Relationship Type="http://schemas.openxmlformats.org/officeDocument/2006/relationships/slideLayout" Target="/ppt/slideLayouts/slideLayout2.xml" Id="R91e8616d4fa34517" /><Relationship Type="http://schemas.openxmlformats.org/officeDocument/2006/relationships/slideLayout" Target="/ppt/slideLayouts/slideLayout3.xml" Id="Rc4949ed74b52416c" /><Relationship Type="http://schemas.openxmlformats.org/officeDocument/2006/relationships/slideLayout" Target="/ppt/slideLayouts/slideLayout4.xml" Id="R6cff4e5398d4499a" /><Relationship Type="http://schemas.openxmlformats.org/officeDocument/2006/relationships/slideLayout" Target="/ppt/slideLayouts/slideLayout5.xml" Id="Re6d501c14b144168" /><Relationship Type="http://schemas.openxmlformats.org/officeDocument/2006/relationships/slideLayout" Target="/ppt/slideLayouts/slideLayout6.xml" Id="R174ab9b814fc405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2ae9a71149b4c6b"/>
    <p:sldLayoutId xmlns:r="http://schemas.openxmlformats.org/officeDocument/2006/relationships" id="2147483650" r:id="R91e8616d4fa34517"/>
    <p:sldLayoutId xmlns:r="http://schemas.openxmlformats.org/officeDocument/2006/relationships" id="2147483651" r:id="Rc4949ed74b52416c"/>
    <p:sldLayoutId xmlns:r="http://schemas.openxmlformats.org/officeDocument/2006/relationships" id="2147483652" r:id="R6cff4e5398d4499a"/>
    <p:sldLayoutId xmlns:r="http://schemas.openxmlformats.org/officeDocument/2006/relationships" id="2147483653" r:id="Re6d501c14b144168"/>
    <p:sldLayoutId xmlns:r="http://schemas.openxmlformats.org/officeDocument/2006/relationships" id="2147483654" r:id="R174ab9b814fc405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186216d3abd4947" /><Relationship Type="http://schemas.openxmlformats.org/officeDocument/2006/relationships/notesSlide" Target="/ppt/notesSlides/notesSlide1.xml" Id="Rd1727f8be02f4ac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da76a3345684ffc" /><Relationship Type="http://schemas.openxmlformats.org/officeDocument/2006/relationships/notesSlide" Target="/ppt/notesSlides/notesSlide2.xml" Id="R7046ca2cbe7a41d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8257f34f9cf4c64" /><Relationship Type="http://schemas.openxmlformats.org/officeDocument/2006/relationships/notesSlide" Target="/ppt/notesSlides/notesSlide3.xml" Id="R7728f5ba91c542c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9aca71e0adb4ec1" /><Relationship Type="http://schemas.openxmlformats.org/officeDocument/2006/relationships/notesSlide" Target="/ppt/notesSlides/notesSlide4.xml" Id="R921c136c3c454ef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596f1396a3e4b1c" /><Relationship Type="http://schemas.openxmlformats.org/officeDocument/2006/relationships/notesSlide" Target="/ppt/notesSlides/notesSlide5.xml" Id="R87a6dde1b7c0435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9947db140184e07" /><Relationship Type="http://schemas.openxmlformats.org/officeDocument/2006/relationships/notesSlide" Target="/ppt/notesSlides/notesSlide6.xml" Id="R4276dfef9532419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d802e93c5d24de0" /><Relationship Type="http://schemas.openxmlformats.org/officeDocument/2006/relationships/notesSlide" Target="/ppt/notesSlides/notesSlide7.xml" Id="Rc02bc5d533104ba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ff6766600fb491b" /><Relationship Type="http://schemas.openxmlformats.org/officeDocument/2006/relationships/notesSlide" Target="/ppt/notesSlides/notesSlide8.xml" Id="Rebd70080a4e7480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614e78fec884027" /><Relationship Type="http://schemas.openxmlformats.org/officeDocument/2006/relationships/notesSlide" Target="/ppt/notesSlides/notesSlide9.xml" Id="Recc77121a85b443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e0c095ef7f04989" /><Relationship Type="http://schemas.openxmlformats.org/officeDocument/2006/relationships/notesSlide" Target="/ppt/notesSlides/notesSlide10.xml" Id="Re5bca02cdbf742f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e86f394b8214925" /><Relationship Type="http://schemas.openxmlformats.org/officeDocument/2006/relationships/notesSlide" Target="/ppt/notesSlides/notesSlide11.xml" Id="R69815ff3fefd44e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67a55c2dc734fcd" /><Relationship Type="http://schemas.openxmlformats.org/officeDocument/2006/relationships/notesSlide" Target="/ppt/notesSlides/notesSlide12.xml" Id="R2b94025d327c4bd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1f1b7077f6e94987" /><Relationship Type="http://schemas.openxmlformats.org/officeDocument/2006/relationships/notesSlide" Target="/ppt/notesSlides/notesSlide13.xml" Id="R9acff84b49f04de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bf3d12fa563e4791" /><Relationship Type="http://schemas.openxmlformats.org/officeDocument/2006/relationships/notesSlide" Target="/ppt/notesSlides/notesSlide14.xml" Id="Rf7a0611c65d547a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f12d1bb59dc14637" /><Relationship Type="http://schemas.openxmlformats.org/officeDocument/2006/relationships/notesSlide" Target="/ppt/notesSlides/notesSlide15.xml" Id="Rbd28c184e9b34e36" /></Relationships>
</file>

<file path=ppt/slides/slide1.xml><?xml version="1.0" encoding="utf-8"?>
<p:sld xmlns:p="http://schemas.openxmlformats.org/presentationml/2006/main">
  <p:cSld>
    <p:bg>
      <p:bgPr>
        <a:solidFill xmlns:a="http://schemas.openxmlformats.org/drawingml/2006/main">
          <a:srgbClr val="103548"/>
        </a:solidFill>
      </p:bgPr>
    </p:bg>
    <p:spTree>
      <p:nvGrpSpPr>
        <p:cNvPr id="1" name=""/>
        <p:cNvGrpSpPr/>
        <p:nvPr/>
      </p:nvGrpSpPr>
      <p:grpSpPr>
        <a:xfrm xmlns:a="http://schemas.openxmlformats.org/drawingml/2006/main"/>
      </p:grpSpPr>
      <p:sp>
        <p:nvSpPr>
          <p:cNvPr id="10" name="shape-1">
            <a:extLst xmlns:a="http://schemas.openxmlformats.org/drawingml/2006/main">
              <a:ext uri="{FF2B5EF4-FFF2-40B4-BE49-F238E27FC236}">
                <a16:creationId xmlns:a16="http://schemas.microsoft.com/office/drawing/2014/main" id="{74747030-82BF-48DB-8A82-F1A37C523C34}"/>
              </a:ext>
            </a:extLst>
          </p:cNvPr>
          <p:cNvSpPr>
            <a:spLocks xmlns:a="http://schemas.openxmlformats.org/drawingml/2006/main" noGrp="1"/>
          </p:cNvSpPr>
          <p:nvPr/>
        </p:nvSpPr>
        <p:spPr>
          <a:xfrm xmlns:a="http://schemas.openxmlformats.org/drawingml/2006/main">
            <a:off x="533400" y="6381750"/>
            <a:ext cx="11125200" cy="9525"/>
          </a:xfrm>
          <a:prstGeom xmlns:a="http://schemas.openxmlformats.org/drawingml/2006/main" prst="rect">
            <a:avLst/>
          </a:prstGeom>
          <a:solidFill xmlns:a="http://schemas.openxmlformats.org/drawingml/2006/main">
            <a:srgbClr val="365565"/>
          </a:solidFill>
          <a:ln xmlns:a="http://schemas.openxmlformats.org/drawingml/2006/main" w="0">
            <a:noFill/>
            <a:prstDash val="solid"/>
          </a:ln>
        </p:spPr>
      </p:sp>
      <p:sp>
        <p:nvSpPr>
          <p:cNvPr id="2" name="text-2">
            <a:extLst xmlns:a="http://schemas.openxmlformats.org/drawingml/2006/main">
              <a:ext uri="{FF2B5EF4-FFF2-40B4-BE49-F238E27FC236}">
                <a16:creationId xmlns:a16="http://schemas.microsoft.com/office/drawing/2014/main" id="{5C1A8345-68C2-479C-8818-01190C3C9731}"/>
              </a:ext>
            </a:extLst>
          </p:cNvPr>
          <p:cNvSpPr>
            <a:spLocks xmlns:a="http://schemas.openxmlformats.org/drawingml/2006/main" noGrp="1"/>
          </p:cNvSpPr>
          <p:nvPr/>
        </p:nvSpPr>
        <p:spPr>
          <a:xfrm xmlns:a="http://schemas.openxmlformats.org/drawingml/2006/main">
            <a:off x="533400" y="651510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BED5DF"/>
                </a:solidFill>
                <a:latin typeface="Arial"/>
                <a:ea typeface="Arial"/>
                <a:cs typeface="Arial"/>
              </a:defRPr>
            </a:defPPr>
          </a:lstStyle>
          <a:p xmlns:a="http://schemas.openxmlformats.org/drawingml/2006/main">
            <a:pPr algn="l">
              <a:defRPr sz="975" b="0">
                <a:solidFill>
                  <a:srgbClr val="BED5DF"/>
                </a:solidFill>
                <a:latin typeface="Arial"/>
                <a:ea typeface="Arial"/>
                <a:cs typeface="Arial"/>
              </a:defRPr>
            </a:pPr>
            <a:r>
              <a:rPr sz="975" b="0">
                <a:solidFill>
                  <a:srgbClr val="BED5DF"/>
                </a:solidFill>
                <a:latin typeface="Arial"/>
                <a:ea typeface="Arial"/>
                <a:cs typeface="Arial"/>
              </a:rPr>
              <a:t>G03  /  Eviaura</a:t>
            </a:r>
          </a:p>
        </p:txBody>
      </p:sp>
      <p:sp>
        <p:nvSpPr>
          <p:cNvPr id="3" name="text-3">
            <a:extLst xmlns:a="http://schemas.openxmlformats.org/drawingml/2006/main">
              <a:ext uri="{FF2B5EF4-FFF2-40B4-BE49-F238E27FC236}">
                <a16:creationId xmlns:a16="http://schemas.microsoft.com/office/drawing/2014/main" id="{61E0D698-DBD3-497C-B84E-E52FB8FA7BFE}"/>
              </a:ext>
            </a:extLst>
          </p:cNvPr>
          <p:cNvSpPr>
            <a:spLocks xmlns:a="http://schemas.openxmlformats.org/drawingml/2006/main" noGrp="1"/>
          </p:cNvSpPr>
          <p:nvPr/>
        </p:nvSpPr>
        <p:spPr>
          <a:xfrm xmlns:a="http://schemas.openxmlformats.org/drawingml/2006/main">
            <a:off x="11049000" y="6496050"/>
            <a:ext cx="609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050" b="0">
                <a:solidFill>
                  <a:srgbClr val="BED5DF"/>
                </a:solidFill>
                <a:latin typeface="Arial"/>
                <a:ea typeface="Arial"/>
                <a:cs typeface="Arial"/>
              </a:defRPr>
            </a:defPPr>
          </a:lstStyle>
          <a:p xmlns:a="http://schemas.openxmlformats.org/drawingml/2006/main">
            <a:pPr algn="r">
              <a:defRPr sz="1050" b="0">
                <a:solidFill>
                  <a:srgbClr val="BED5DF"/>
                </a:solidFill>
                <a:latin typeface="Arial"/>
                <a:ea typeface="Arial"/>
                <a:cs typeface="Arial"/>
              </a:defRPr>
            </a:pPr>
            <a:r>
              <a:rPr sz="1050" b="0">
                <a:solidFill>
                  <a:srgbClr val="BED5DF"/>
                </a:solidFill>
                <a:latin typeface="Arial"/>
                <a:ea typeface="Arial"/>
                <a:cs typeface="Arial"/>
              </a:rPr>
              <a:t>01</a:t>
            </a:r>
          </a:p>
        </p:txBody>
      </p:sp>
      <p:sp>
        <p:nvSpPr>
          <p:cNvPr id="4" name="text-4">
            <a:extLst xmlns:a="http://schemas.openxmlformats.org/drawingml/2006/main">
              <a:ext uri="{FF2B5EF4-FFF2-40B4-BE49-F238E27FC236}">
                <a16:creationId xmlns:a16="http://schemas.microsoft.com/office/drawing/2014/main" id="{8334AADA-0413-40D6-AE20-E479D0089476}"/>
              </a:ext>
            </a:extLst>
          </p:cNvPr>
          <p:cNvSpPr>
            <a:spLocks xmlns:a="http://schemas.openxmlformats.org/drawingml/2006/main" noGrp="1"/>
          </p:cNvSpPr>
          <p:nvPr/>
        </p:nvSpPr>
        <p:spPr>
          <a:xfrm xmlns:a="http://schemas.openxmlformats.org/drawingml/2006/main">
            <a:off x="533400" y="609600"/>
            <a:ext cx="990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B8DBE4"/>
                </a:solidFill>
                <a:latin typeface="Arial"/>
                <a:ea typeface="Arial"/>
                <a:cs typeface="Arial"/>
              </a:defRPr>
            </a:defPPr>
          </a:lstStyle>
          <a:p xmlns:a="http://schemas.openxmlformats.org/drawingml/2006/main">
            <a:pPr algn="l">
              <a:defRPr sz="1800" b="1">
                <a:solidFill>
                  <a:srgbClr val="B8DBE4"/>
                </a:solidFill>
                <a:latin typeface="Arial"/>
                <a:ea typeface="Arial"/>
                <a:cs typeface="Arial"/>
              </a:defRPr>
            </a:pPr>
            <a:r>
              <a:rPr sz="1800" b="1">
                <a:solidFill>
                  <a:srgbClr val="B8DBE4"/>
                </a:solidFill>
                <a:latin typeface="Arial"/>
                <a:ea typeface="Arial"/>
                <a:cs typeface="Arial"/>
              </a:rPr>
              <a:t>VBOT WORKPLACE</a:t>
            </a:r>
          </a:p>
        </p:txBody>
      </p:sp>
      <p:sp>
        <p:nvSpPr>
          <p:cNvPr id="5" name="text-5">
            <a:extLst xmlns:a="http://schemas.openxmlformats.org/drawingml/2006/main">
              <a:ext uri="{FF2B5EF4-FFF2-40B4-BE49-F238E27FC236}">
                <a16:creationId xmlns:a16="http://schemas.microsoft.com/office/drawing/2014/main" id="{A3E0A3F7-A87C-487D-AB8B-495E9AD3C3D9}"/>
              </a:ext>
            </a:extLst>
          </p:cNvPr>
          <p:cNvSpPr>
            <a:spLocks xmlns:a="http://schemas.openxmlformats.org/drawingml/2006/main" noGrp="1"/>
          </p:cNvSpPr>
          <p:nvPr/>
        </p:nvSpPr>
        <p:spPr>
          <a:xfrm xmlns:a="http://schemas.openxmlformats.org/drawingml/2006/main">
            <a:off x="533400" y="1495425"/>
            <a:ext cx="104775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650" b="1">
                <a:solidFill>
                  <a:srgbClr val="FFFFFF"/>
                </a:solidFill>
                <a:latin typeface="Arial"/>
                <a:ea typeface="Arial"/>
                <a:cs typeface="Arial"/>
              </a:defRPr>
            </a:defPPr>
          </a:lstStyle>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Kiến trúc AWS</a:t>
            </a:r>
          </a:p>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cho 2.000 DAU</a:t>
            </a:r>
          </a:p>
        </p:txBody>
      </p:sp>
      <p:sp>
        <p:nvSpPr>
          <p:cNvPr id="6" name="shape-6">
            <a:extLst xmlns:a="http://schemas.openxmlformats.org/drawingml/2006/main">
              <a:ext uri="{FF2B5EF4-FFF2-40B4-BE49-F238E27FC236}">
                <a16:creationId xmlns:a16="http://schemas.microsoft.com/office/drawing/2014/main" id="{D374096E-0E64-46EC-A873-F0B4D81521D0}"/>
              </a:ext>
            </a:extLst>
          </p:cNvPr>
          <p:cNvSpPr>
            <a:spLocks xmlns:a="http://schemas.openxmlformats.org/drawingml/2006/main" noGrp="1"/>
          </p:cNvSpPr>
          <p:nvPr/>
        </p:nvSpPr>
        <p:spPr>
          <a:xfrm xmlns:a="http://schemas.openxmlformats.org/drawingml/2006/main">
            <a:off x="533400" y="3514725"/>
            <a:ext cx="1190625" cy="57150"/>
          </a:xfrm>
          <a:prstGeom xmlns:a="http://schemas.openxmlformats.org/drawingml/2006/main" prst="rect">
            <a:avLst/>
          </a:prstGeom>
          <a:solidFill xmlns:a="http://schemas.openxmlformats.org/drawingml/2006/main">
            <a:srgbClr val="24B5AC"/>
          </a:solidFill>
          <a:ln xmlns:a="http://schemas.openxmlformats.org/drawingml/2006/main" w="0">
            <a:noFill/>
            <a:prstDash val="solid"/>
          </a:ln>
        </p:spPr>
      </p:sp>
      <p:sp>
        <p:nvSpPr>
          <p:cNvPr id="7" name="text-7">
            <a:extLst xmlns:a="http://schemas.openxmlformats.org/drawingml/2006/main">
              <a:ext uri="{FF2B5EF4-FFF2-40B4-BE49-F238E27FC236}">
                <a16:creationId xmlns:a16="http://schemas.microsoft.com/office/drawing/2014/main" id="{40071243-ABC2-42CB-9D1B-A5AECDA470E5}"/>
              </a:ext>
            </a:extLst>
          </p:cNvPr>
          <p:cNvSpPr>
            <a:spLocks xmlns:a="http://schemas.openxmlformats.org/drawingml/2006/main" noGrp="1"/>
          </p:cNvSpPr>
          <p:nvPr/>
        </p:nvSpPr>
        <p:spPr>
          <a:xfrm xmlns:a="http://schemas.openxmlformats.org/drawingml/2006/main">
            <a:off x="533400" y="3914775"/>
            <a:ext cx="10477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a:solidFill>
                  <a:srgbClr val="FFFFFF"/>
                </a:solidFill>
                <a:latin typeface="Arial"/>
                <a:ea typeface="Arial"/>
                <a:cs typeface="Arial"/>
              </a:defRPr>
            </a:defPPr>
          </a:lstStyle>
          <a:p xmlns:a="http://schemas.openxmlformats.org/drawingml/2006/main">
            <a:pPr algn="l">
              <a:defRPr sz="2400" b="0">
                <a:solidFill>
                  <a:srgbClr val="FFFFFF"/>
                </a:solidFill>
                <a:latin typeface="Arial"/>
                <a:ea typeface="Arial"/>
                <a:cs typeface="Arial"/>
              </a:defRPr>
            </a:pPr>
            <a:r>
              <a:rPr sz="2400" b="0">
                <a:solidFill>
                  <a:srgbClr val="FFFFFF"/>
                </a:solidFill>
                <a:latin typeface="Arial"/>
                <a:ea typeface="Arial"/>
                <a:cs typeface="Arial"/>
              </a:rPr>
              <a:t>Serverless và model trả theo sử dụng</a:t>
            </a:r>
          </a:p>
        </p:txBody>
      </p:sp>
      <p:sp>
        <p:nvSpPr>
          <p:cNvPr id="8" name="text-8">
            <a:extLst xmlns:a="http://schemas.openxmlformats.org/drawingml/2006/main">
              <a:ext uri="{FF2B5EF4-FFF2-40B4-BE49-F238E27FC236}">
                <a16:creationId xmlns:a16="http://schemas.microsoft.com/office/drawing/2014/main" id="{C45AEE70-6543-4A08-9350-0CB80D4E1D14}"/>
              </a:ext>
            </a:extLst>
          </p:cNvPr>
          <p:cNvSpPr>
            <a:spLocks xmlns:a="http://schemas.openxmlformats.org/drawingml/2006/main" noGrp="1"/>
          </p:cNvSpPr>
          <p:nvPr/>
        </p:nvSpPr>
        <p:spPr>
          <a:xfrm xmlns:a="http://schemas.openxmlformats.org/drawingml/2006/main">
            <a:off x="533400" y="4762500"/>
            <a:ext cx="10477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00" b="1">
                <a:solidFill>
                  <a:srgbClr val="70D7CD"/>
                </a:solidFill>
                <a:latin typeface="Arial"/>
                <a:ea typeface="Arial"/>
                <a:cs typeface="Arial"/>
              </a:defRPr>
            </a:defPPr>
          </a:lstStyle>
          <a:p xmlns:a="http://schemas.openxmlformats.org/drawingml/2006/main">
            <a:pPr algn="l">
              <a:defRPr sz="3600" b="1">
                <a:solidFill>
                  <a:srgbClr val="70D7CD"/>
                </a:solidFill>
                <a:latin typeface="Arial"/>
                <a:ea typeface="Arial"/>
                <a:cs typeface="Arial"/>
              </a:defRPr>
            </a:pPr>
            <a:r>
              <a:rPr sz="3600" b="1">
                <a:solidFill>
                  <a:srgbClr val="70D7CD"/>
                </a:solidFill>
                <a:latin typeface="Arial"/>
                <a:ea typeface="Arial"/>
                <a:cs typeface="Arial"/>
              </a:rPr>
              <a:t>6.022,78 USD/tháng</a:t>
            </a:r>
          </a:p>
        </p:txBody>
      </p:sp>
      <p:sp>
        <p:nvSpPr>
          <p:cNvPr id="9" name="text-9">
            <a:extLst xmlns:a="http://schemas.openxmlformats.org/drawingml/2006/main">
              <a:ext uri="{FF2B5EF4-FFF2-40B4-BE49-F238E27FC236}">
                <a16:creationId xmlns:a16="http://schemas.microsoft.com/office/drawing/2014/main" id="{E42E064F-29F6-43DA-8539-C3D154B89771}"/>
              </a:ext>
            </a:extLst>
          </p:cNvPr>
          <p:cNvSpPr>
            <a:spLocks xmlns:a="http://schemas.openxmlformats.org/drawingml/2006/main" noGrp="1"/>
          </p:cNvSpPr>
          <p:nvPr/>
        </p:nvSpPr>
        <p:spPr>
          <a:xfrm xmlns:a="http://schemas.openxmlformats.org/drawingml/2006/main">
            <a:off x="533400" y="5562600"/>
            <a:ext cx="10668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C5DBE3"/>
                </a:solidFill>
                <a:latin typeface="Arial"/>
                <a:ea typeface="Arial"/>
                <a:cs typeface="Arial"/>
              </a:defRPr>
            </a:defPPr>
          </a:lstStyle>
          <a:p xmlns:a="http://schemas.openxmlformats.org/drawingml/2006/main">
            <a:pPr algn="l">
              <a:defRPr sz="1650" b="0">
                <a:solidFill>
                  <a:srgbClr val="C5DBE3"/>
                </a:solidFill>
                <a:latin typeface="Arial"/>
                <a:ea typeface="Arial"/>
                <a:cs typeface="Arial"/>
              </a:defRPr>
            </a:pPr>
            <a:r>
              <a:rPr sz="1650" b="0">
                <a:solidFill>
                  <a:srgbClr val="C5DBE3"/>
                </a:solidFill>
                <a:latin typeface="Arial"/>
                <a:ea typeface="Arial"/>
                <a:cs typeface="Arial"/>
              </a:rPr>
              <a:t>Production + staging + vận hành + dự phòng, chưa VAT</a:t>
            </a:r>
          </a:p>
        </p:txBody>
      </p:sp>
    </p:spTree>
    <p:extLst>
      <p:ext uri="{BB962C8B-B14F-4D97-AF65-F5344CB8AC3E}">
        <p14:creationId xmlns:p14="http://schemas.microsoft.com/office/powerpoint/2010/main" val="107882624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hape-10">
            <a:extLst xmlns:a="http://schemas.openxmlformats.org/drawingml/2006/main">
              <a:ext uri="{FF2B5EF4-FFF2-40B4-BE49-F238E27FC236}">
                <a16:creationId xmlns:a16="http://schemas.microsoft.com/office/drawing/2014/main" id="{3F19EC3D-4830-4082-B15A-DB3A5A5CCA08}"/>
              </a:ext>
            </a:extLst>
          </p:cNvPr>
          <p:cNvSpPr>
            <a:spLocks xmlns:a="http://schemas.openxmlformats.org/drawingml/2006/main" noGrp="1"/>
          </p:cNvSpPr>
          <p:nvPr/>
        </p:nvSpPr>
        <p:spPr>
          <a:xfrm xmlns:a="http://schemas.openxmlformats.org/drawingml/2006/main">
            <a:off x="533400" y="428625"/>
            <a:ext cx="419100" cy="47625"/>
          </a:xfrm>
          <a:prstGeom xmlns:a="http://schemas.openxmlformats.org/drawingml/2006/main" prst="rect">
            <a:avLst/>
          </a:prstGeom>
          <a:solidFill xmlns:a="http://schemas.openxmlformats.org/drawingml/2006/main">
            <a:srgbClr val="087F83"/>
          </a:solidFill>
          <a:ln xmlns:a="http://schemas.openxmlformats.org/drawingml/2006/main" w="0">
            <a:noFill/>
            <a:prstDash val="solid"/>
          </a:ln>
        </p:spPr>
      </p:sp>
      <p:sp>
        <p:nvSpPr>
          <p:cNvPr id="2" name="text-11">
            <a:extLst xmlns:a="http://schemas.openxmlformats.org/drawingml/2006/main">
              <a:ext uri="{FF2B5EF4-FFF2-40B4-BE49-F238E27FC236}">
                <a16:creationId xmlns:a16="http://schemas.microsoft.com/office/drawing/2014/main" id="{5704ACA0-4817-40F9-AE49-4F519914E890}"/>
              </a:ext>
            </a:extLst>
          </p:cNvPr>
          <p:cNvSpPr>
            <a:spLocks xmlns:a="http://schemas.openxmlformats.org/drawingml/2006/main" noGrp="1"/>
          </p:cNvSpPr>
          <p:nvPr/>
        </p:nvSpPr>
        <p:spPr>
          <a:xfrm xmlns:a="http://schemas.openxmlformats.org/drawingml/2006/main">
            <a:off x="533400" y="657225"/>
            <a:ext cx="111252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7364A"/>
                </a:solidFill>
                <a:latin typeface="Arial"/>
                <a:ea typeface="Arial"/>
                <a:cs typeface="Arial"/>
              </a:defRPr>
            </a:defPPr>
          </a:lstStyle>
          <a:p xmlns:a="http://schemas.openxmlformats.org/drawingml/2006/main">
            <a:pPr algn="l">
              <a:defRPr sz="2700" b="1">
                <a:solidFill>
                  <a:srgbClr val="17364A"/>
                </a:solidFill>
                <a:latin typeface="Arial"/>
                <a:ea typeface="Arial"/>
                <a:cs typeface="Arial"/>
              </a:defRPr>
            </a:pPr>
            <a:r>
              <a:rPr sz="2700" b="1">
                <a:solidFill>
                  <a:srgbClr val="17364A"/>
                </a:solidFill>
                <a:latin typeface="Arial"/>
                <a:ea typeface="Arial"/>
                <a:cs typeface="Arial"/>
              </a:rPr>
              <a:t>352.000 tác vụ mỗi tháng là cơ sở sizing</a:t>
            </a:r>
          </a:p>
        </p:txBody>
      </p:sp>
      <p:sp>
        <p:nvSpPr>
          <p:cNvPr id="3" name="shape-12">
            <a:extLst xmlns:a="http://schemas.openxmlformats.org/drawingml/2006/main">
              <a:ext uri="{FF2B5EF4-FFF2-40B4-BE49-F238E27FC236}">
                <a16:creationId xmlns:a16="http://schemas.microsoft.com/office/drawing/2014/main" id="{B593337C-41C1-4826-94A4-23A9FAE3C24C}"/>
              </a:ext>
            </a:extLst>
          </p:cNvPr>
          <p:cNvSpPr>
            <a:spLocks xmlns:a="http://schemas.openxmlformats.org/drawingml/2006/main" noGrp="1"/>
          </p:cNvSpPr>
          <p:nvPr/>
        </p:nvSpPr>
        <p:spPr>
          <a:xfrm xmlns:a="http://schemas.openxmlformats.org/drawingml/2006/main">
            <a:off x="533400" y="6381750"/>
            <a:ext cx="11125200" cy="9525"/>
          </a:xfrm>
          <a:prstGeom xmlns:a="http://schemas.openxmlformats.org/drawingml/2006/main" prst="rect">
            <a:avLst/>
          </a:prstGeom>
          <a:solidFill xmlns:a="http://schemas.openxmlformats.org/drawingml/2006/main">
            <a:srgbClr val="D1DEE5"/>
          </a:solidFill>
          <a:ln xmlns:a="http://schemas.openxmlformats.org/drawingml/2006/main" w="0">
            <a:noFill/>
            <a:prstDash val="solid"/>
          </a:ln>
        </p:spPr>
      </p:sp>
      <p:sp>
        <p:nvSpPr>
          <p:cNvPr id="4" name="text-13">
            <a:extLst xmlns:a="http://schemas.openxmlformats.org/drawingml/2006/main">
              <a:ext uri="{FF2B5EF4-FFF2-40B4-BE49-F238E27FC236}">
                <a16:creationId xmlns:a16="http://schemas.microsoft.com/office/drawing/2014/main" id="{D153BA05-5028-4687-B9C7-19E34F581F53}"/>
              </a:ext>
            </a:extLst>
          </p:cNvPr>
          <p:cNvSpPr>
            <a:spLocks xmlns:a="http://schemas.openxmlformats.org/drawingml/2006/main" noGrp="1"/>
          </p:cNvSpPr>
          <p:nvPr/>
        </p:nvSpPr>
        <p:spPr>
          <a:xfrm xmlns:a="http://schemas.openxmlformats.org/drawingml/2006/main">
            <a:off x="533400" y="651510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87080"/>
                </a:solidFill>
                <a:latin typeface="Arial"/>
                <a:ea typeface="Arial"/>
                <a:cs typeface="Arial"/>
              </a:defRPr>
            </a:defPPr>
          </a:lstStyle>
          <a:p xmlns:a="http://schemas.openxmlformats.org/drawingml/2006/main">
            <a:pPr algn="l">
              <a:defRPr sz="975" b="0">
                <a:solidFill>
                  <a:srgbClr val="587080"/>
                </a:solidFill>
                <a:latin typeface="Arial"/>
                <a:ea typeface="Arial"/>
                <a:cs typeface="Arial"/>
              </a:defRPr>
            </a:pPr>
            <a:r>
              <a:rPr sz="975" b="0">
                <a:solidFill>
                  <a:srgbClr val="587080"/>
                </a:solidFill>
                <a:latin typeface="Arial"/>
                <a:ea typeface="Arial"/>
                <a:cs typeface="Arial"/>
              </a:rPr>
              <a:t>G03  /  Eviaura</a:t>
            </a:r>
          </a:p>
        </p:txBody>
      </p:sp>
      <p:sp>
        <p:nvSpPr>
          <p:cNvPr id="5" name="text-14">
            <a:extLst xmlns:a="http://schemas.openxmlformats.org/drawingml/2006/main">
              <a:ext uri="{FF2B5EF4-FFF2-40B4-BE49-F238E27FC236}">
                <a16:creationId xmlns:a16="http://schemas.microsoft.com/office/drawing/2014/main" id="{490AF009-02B4-40CF-9FF8-ED470E06B361}"/>
              </a:ext>
            </a:extLst>
          </p:cNvPr>
          <p:cNvSpPr>
            <a:spLocks xmlns:a="http://schemas.openxmlformats.org/drawingml/2006/main" noGrp="1"/>
          </p:cNvSpPr>
          <p:nvPr/>
        </p:nvSpPr>
        <p:spPr>
          <a:xfrm xmlns:a="http://schemas.openxmlformats.org/drawingml/2006/main">
            <a:off x="11049000" y="6496050"/>
            <a:ext cx="609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050" b="0">
                <a:solidFill>
                  <a:srgbClr val="587080"/>
                </a:solidFill>
                <a:latin typeface="Arial"/>
                <a:ea typeface="Arial"/>
                <a:cs typeface="Arial"/>
              </a:defRPr>
            </a:defPPr>
          </a:lstStyle>
          <a:p xmlns:a="http://schemas.openxmlformats.org/drawingml/2006/main">
            <a:pPr algn="r">
              <a:defRPr sz="1050" b="0">
                <a:solidFill>
                  <a:srgbClr val="587080"/>
                </a:solidFill>
                <a:latin typeface="Arial"/>
                <a:ea typeface="Arial"/>
                <a:cs typeface="Arial"/>
              </a:defRPr>
            </a:pPr>
            <a:r>
              <a:rPr sz="1050" b="0">
                <a:solidFill>
                  <a:srgbClr val="587080"/>
                </a:solidFill>
                <a:latin typeface="Arial"/>
                <a:ea typeface="Arial"/>
                <a:cs typeface="Arial"/>
              </a:rPr>
              <a:t>02</a:t>
            </a:r>
          </a:p>
        </p:txBody>
      </p:sp>
      <p:sp>
        <p:nvSpPr>
          <p:cNvPr id="6" name="text-15">
            <a:extLst xmlns:a="http://schemas.openxmlformats.org/drawingml/2006/main">
              <a:ext uri="{FF2B5EF4-FFF2-40B4-BE49-F238E27FC236}">
                <a16:creationId xmlns:a16="http://schemas.microsoft.com/office/drawing/2014/main" id="{9597BFE9-DDED-4288-A74B-7C4DA73F1B17}"/>
              </a:ext>
            </a:extLst>
          </p:cNvPr>
          <p:cNvSpPr>
            <a:spLocks xmlns:a="http://schemas.openxmlformats.org/drawingml/2006/main" noGrp="1"/>
          </p:cNvSpPr>
          <p:nvPr/>
        </p:nvSpPr>
        <p:spPr>
          <a:xfrm xmlns:a="http://schemas.openxmlformats.org/drawingml/2006/main">
            <a:off x="533400" y="1600200"/>
            <a:ext cx="111252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675" b="1">
                <a:solidFill>
                  <a:srgbClr val="087F83"/>
                </a:solidFill>
                <a:latin typeface="Arial"/>
                <a:ea typeface="Arial"/>
                <a:cs typeface="Arial"/>
              </a:defRPr>
            </a:defPPr>
          </a:lstStyle>
          <a:p xmlns:a="http://schemas.openxmlformats.org/drawingml/2006/main">
            <a:pPr algn="l">
              <a:defRPr sz="3675" b="1">
                <a:solidFill>
                  <a:srgbClr val="087F83"/>
                </a:solidFill>
                <a:latin typeface="Arial"/>
                <a:ea typeface="Arial"/>
                <a:cs typeface="Arial"/>
              </a:defRPr>
            </a:pPr>
            <a:r>
              <a:rPr sz="3675" b="1">
                <a:solidFill>
                  <a:srgbClr val="087F83"/>
                </a:solidFill>
                <a:latin typeface="Arial"/>
                <a:ea typeface="Arial"/>
                <a:cs typeface="Arial"/>
              </a:rPr>
              <a:t>2.000 × 8 × 22 = 352.000</a:t>
            </a:r>
          </a:p>
        </p:txBody>
      </p:sp>
      <p:sp>
        <p:nvSpPr>
          <p:cNvPr id="7" name="text-16">
            <a:extLst xmlns:a="http://schemas.openxmlformats.org/drawingml/2006/main">
              <a:ext uri="{FF2B5EF4-FFF2-40B4-BE49-F238E27FC236}">
                <a16:creationId xmlns:a16="http://schemas.microsoft.com/office/drawing/2014/main" id="{7FE69D94-1267-46B9-BDC1-D2AE6EB8D417}"/>
              </a:ext>
            </a:extLst>
          </p:cNvPr>
          <p:cNvSpPr>
            <a:spLocks xmlns:a="http://schemas.openxmlformats.org/drawingml/2006/main" noGrp="1"/>
          </p:cNvSpPr>
          <p:nvPr/>
        </p:nvSpPr>
        <p:spPr>
          <a:xfrm xmlns:a="http://schemas.openxmlformats.org/drawingml/2006/main">
            <a:off x="552450" y="2371725"/>
            <a:ext cx="1104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87080"/>
                </a:solidFill>
                <a:latin typeface="Arial"/>
                <a:ea typeface="Arial"/>
                <a:cs typeface="Arial"/>
              </a:defRPr>
            </a:defPPr>
          </a:lstStyle>
          <a:p xmlns:a="http://schemas.openxmlformats.org/drawingml/2006/main">
            <a:pPr algn="l">
              <a:defRPr sz="1875" b="0">
                <a:solidFill>
                  <a:srgbClr val="587080"/>
                </a:solidFill>
                <a:latin typeface="Arial"/>
                <a:ea typeface="Arial"/>
                <a:cs typeface="Arial"/>
              </a:defRPr>
            </a:pPr>
            <a:r>
              <a:rPr sz="1875" b="0">
                <a:solidFill>
                  <a:srgbClr val="587080"/>
                </a:solidFill>
                <a:latin typeface="Arial"/>
                <a:ea typeface="Arial"/>
                <a:cs typeface="Arial"/>
              </a:rPr>
              <a:t>DAU × tác vụ/người/ngày × ngày làm việc</a:t>
            </a:r>
          </a:p>
        </p:txBody>
      </p:sp>
      <p:graphicFrame>
        <p:nvGraphicFramePr>
          <p:cNvPr id="8" name="">
            <a:extLst xmlns:a="http://schemas.openxmlformats.org/drawingml/2006/main">
              <a:ext uri="{FF2B5EF4-FFF2-40B4-BE49-F238E27FC236}">
                <a16:creationId xmlns:a16="http://schemas.microsoft.com/office/drawing/2014/main" id="{5D3C748C-2410-417A-BCF9-CD409F20B424}"/>
              </a:ext>
            </a:extLst>
          </p:cNvPr>
          <p:cNvGraphicFramePr/>
          <p:nvPr/>
        </p:nvGraphicFramePr>
        <p:xfrm>
          <a:off xmlns:a="http://schemas.openxmlformats.org/drawingml/2006/main" x="533400" y="3009900"/>
          <a:ext xmlns:a="http://schemas.openxmlformats.org/drawingml/2006/main" cx="11125200" cy="2333625"/>
        </p:xfrm>
        <a:graphic xmlns:a="http://schemas.openxmlformats.org/drawingml/2006/main">
          <a:graphicData uri="http://schemas.openxmlformats.org/drawingml/2006/table">
            <a:tbl>
              <a:tblPr firstRow="0" bandRow="0"/>
              <a:tblGrid>
                <a:gridCol w="2762250"/>
                <a:gridCol w="4762500"/>
                <a:gridCol w="3600450"/>
              </a:tblGrid>
              <a:tr h="466725">
                <a:tc>
                  <a:txBody>
                    <a:bodyPr lIns="85725" tIns="85725" rIns="85725" bIns="85725"/>
                    <a:lstStyle/>
                    <a:p>
                      <a:r>
                        <a:rPr sz="1650" b="1">
                          <a:solidFill>
                            <a:srgbClr val="FFFFFF"/>
                          </a:solidFill>
                          <a:latin typeface="Arial"/>
                          <a:ea typeface="Arial"/>
                          <a:cs typeface="Arial"/>
                        </a:rPr>
                        <a:t>Chỉ số</a:t>
                      </a:r>
                    </a:p>
                  </a:txBody>
                  <a:tcPr marL="91440" marR="91440" marT="45720" marB="45720" anchor="ctr">
                    <a:lnL w="5715">
                      <a:solidFill>
                        <a:srgbClr val="D1DEE5"/>
                      </a:solidFill>
                      <a:prstDash val="solid"/>
                    </a:lnL>
                    <a:lnR w="5715">
                      <a:solidFill>
                        <a:srgbClr val="D1DEE5"/>
                      </a:solidFill>
                      <a:prstDash val="solid"/>
                    </a:lnR>
                    <a:lnT w="5715">
                      <a:solidFill>
                        <a:srgbClr val="D1DEE5"/>
                      </a:solidFill>
                      <a:prstDash val="solid"/>
                    </a:lnT>
                    <a:lnB w="5715">
                      <a:solidFill>
                        <a:srgbClr val="D1DEE5"/>
                      </a:solidFill>
                      <a:prstDash val="solid"/>
                    </a:lnB>
                    <a:solidFill>
                      <a:srgbClr val="103548"/>
                    </a:solidFill>
                  </a:tcPr>
                </a:tc>
                <a:tc>
                  <a:txBody>
                    <a:bodyPr lIns="85725" tIns="85725" rIns="85725" bIns="85725"/>
                    <a:lstStyle/>
                    <a:p>
                      <a:r>
                        <a:rPr sz="1650" b="1">
                          <a:solidFill>
                            <a:srgbClr val="FFFFFF"/>
                          </a:solidFill>
                          <a:latin typeface="Arial"/>
                          <a:ea typeface="Arial"/>
                          <a:cs typeface="Arial"/>
                        </a:rPr>
                        <a:t>Công thức</a:t>
                      </a:r>
                    </a:p>
                  </a:txBody>
                  <a:tcPr marL="91440" marR="91440" marT="45720" marB="45720" anchor="ctr">
                    <a:lnR w="5715">
                      <a:solidFill>
                        <a:srgbClr val="D1DEE5"/>
                      </a:solidFill>
                      <a:prstDash val="solid"/>
                    </a:lnR>
                    <a:lnT w="5715">
                      <a:solidFill>
                        <a:srgbClr val="D1DEE5"/>
                      </a:solidFill>
                      <a:prstDash val="solid"/>
                    </a:lnT>
                    <a:lnB w="5715">
                      <a:solidFill>
                        <a:srgbClr val="D1DEE5"/>
                      </a:solidFill>
                      <a:prstDash val="solid"/>
                    </a:lnB>
                    <a:solidFill>
                      <a:srgbClr val="103548"/>
                    </a:solidFill>
                  </a:tcPr>
                </a:tc>
                <a:tc>
                  <a:txBody>
                    <a:bodyPr lIns="85725" tIns="85725" rIns="85725" bIns="85725"/>
                    <a:lstStyle/>
                    <a:p>
                      <a:r>
                        <a:rPr sz="1650" b="1">
                          <a:solidFill>
                            <a:srgbClr val="FFFFFF"/>
                          </a:solidFill>
                          <a:latin typeface="Arial"/>
                          <a:ea typeface="Arial"/>
                          <a:cs typeface="Arial"/>
                        </a:rPr>
                        <a:t>Kết quả</a:t>
                      </a:r>
                    </a:p>
                  </a:txBody>
                  <a:tcPr marL="91440" marR="91440" marT="45720" marB="45720" anchor="ctr">
                    <a:lnR w="5715">
                      <a:solidFill>
                        <a:srgbClr val="D1DEE5"/>
                      </a:solidFill>
                      <a:prstDash val="solid"/>
                    </a:lnR>
                    <a:lnT w="5715">
                      <a:solidFill>
                        <a:srgbClr val="D1DEE5"/>
                      </a:solidFill>
                      <a:prstDash val="solid"/>
                    </a:lnT>
                    <a:lnB w="5715">
                      <a:solidFill>
                        <a:srgbClr val="D1DEE5"/>
                      </a:solidFill>
                      <a:prstDash val="solid"/>
                    </a:lnB>
                    <a:solidFill>
                      <a:srgbClr val="103548"/>
                    </a:solidFill>
                  </a:tcPr>
                </a:tc>
              </a:tr>
              <a:tr h="466725">
                <a:tc>
                  <a:txBody>
                    <a:bodyPr lIns="85725" tIns="85725" rIns="85725" bIns="85725"/>
                    <a:lstStyle/>
                    <a:p>
                      <a:r>
                        <a:rPr sz="1650" b="0">
                          <a:solidFill>
                            <a:srgbClr val="17364A"/>
                          </a:solidFill>
                          <a:latin typeface="Arial"/>
                          <a:ea typeface="Arial"/>
                          <a:cs typeface="Arial"/>
                        </a:rPr>
                        <a:t>RPS trung bình</a:t>
                      </a:r>
                    </a:p>
                  </a:txBody>
                  <a:tcPr marL="91440" marR="91440" marT="45720" marB="45720" anchor="ctr">
                    <a:lnL w="5715">
                      <a:solidFill>
                        <a:srgbClr val="D1DEE5"/>
                      </a:solidFill>
                      <a:prstDash val="solid"/>
                    </a:lnL>
                    <a:lnR w="5715">
                      <a:solidFill>
                        <a:srgbClr val="D1DEE5"/>
                      </a:solidFill>
                      <a:prstDash val="solid"/>
                    </a:lnR>
                    <a:lnB w="5715">
                      <a:solidFill>
                        <a:srgbClr val="D1DEE5"/>
                      </a:solidFill>
                      <a:prstDash val="solid"/>
                    </a:lnB>
                    <a:solidFill>
                      <a:srgbClr val="F4F8FA"/>
                    </a:solidFill>
                  </a:tcPr>
                </a:tc>
                <a:tc>
                  <a:txBody>
                    <a:bodyPr lIns="85725" tIns="85725" rIns="85725" bIns="85725"/>
                    <a:lstStyle/>
                    <a:p>
                      <a:r>
                        <a:rPr sz="1650" b="0">
                          <a:solidFill>
                            <a:srgbClr val="17364A"/>
                          </a:solidFill>
                          <a:latin typeface="Arial"/>
                          <a:ea typeface="Arial"/>
                          <a:cs typeface="Arial"/>
                        </a:rPr>
                        <a:t>352.000 / (220 × 3.600)</a:t>
                      </a:r>
                    </a:p>
                  </a:txBody>
                  <a:tcPr marL="91440" marR="91440" marT="45720" marB="45720" anchor="ctr">
                    <a:lnR w="5715">
                      <a:solidFill>
                        <a:srgbClr val="D1DEE5"/>
                      </a:solidFill>
                      <a:prstDash val="solid"/>
                    </a:lnR>
                    <a:lnB w="5715">
                      <a:solidFill>
                        <a:srgbClr val="D1DEE5"/>
                      </a:solidFill>
                      <a:prstDash val="solid"/>
                    </a:lnB>
                    <a:solidFill>
                      <a:srgbClr val="F4F8FA"/>
                    </a:solidFill>
                  </a:tcPr>
                </a:tc>
                <a:tc>
                  <a:txBody>
                    <a:bodyPr lIns="85725" tIns="85725" rIns="85725" bIns="85725"/>
                    <a:lstStyle/>
                    <a:p>
                      <a:r>
                        <a:rPr sz="1650" b="0">
                          <a:solidFill>
                            <a:srgbClr val="17364A"/>
                          </a:solidFill>
                          <a:latin typeface="Arial"/>
                          <a:ea typeface="Arial"/>
                          <a:cs typeface="Arial"/>
                        </a:rPr>
                        <a:t>0,44 RPS</a:t>
                      </a:r>
                    </a:p>
                  </a:txBody>
                  <a:tcPr marL="91440" marR="91440" marT="45720" marB="45720" anchor="ctr">
                    <a:lnR w="5715">
                      <a:solidFill>
                        <a:srgbClr val="D1DEE5"/>
                      </a:solidFill>
                      <a:prstDash val="solid"/>
                    </a:lnR>
                    <a:lnB w="5715">
                      <a:solidFill>
                        <a:srgbClr val="D1DEE5"/>
                      </a:solidFill>
                      <a:prstDash val="solid"/>
                    </a:lnB>
                    <a:solidFill>
                      <a:srgbClr val="F4F8FA"/>
                    </a:solidFill>
                  </a:tcPr>
                </a:tc>
              </a:tr>
              <a:tr h="466725">
                <a:tc>
                  <a:txBody>
                    <a:bodyPr lIns="85725" tIns="85725" rIns="85725" bIns="85725"/>
                    <a:lstStyle/>
                    <a:p>
                      <a:r>
                        <a:rPr sz="1650" b="0">
                          <a:solidFill>
                            <a:srgbClr val="17364A"/>
                          </a:solidFill>
                          <a:latin typeface="Arial"/>
                          <a:ea typeface="Arial"/>
                          <a:cs typeface="Arial"/>
                        </a:rPr>
                        <a:t>RPS đỉnh</a:t>
                      </a:r>
                    </a:p>
                  </a:txBody>
                  <a:tcPr marL="91440" marR="91440" marT="45720" marB="45720" anchor="ctr">
                    <a:lnL w="5715">
                      <a:solidFill>
                        <a:srgbClr val="D1DEE5"/>
                      </a:solidFill>
                      <a:prstDash val="solid"/>
                    </a:lnL>
                    <a:lnR w="5715">
                      <a:solidFill>
                        <a:srgbClr val="D1DEE5"/>
                      </a:solidFill>
                      <a:prstDash val="solid"/>
                    </a:lnR>
                    <a:lnB w="5715">
                      <a:solidFill>
                        <a:srgbClr val="D1DEE5"/>
                      </a:solidFill>
                      <a:prstDash val="solid"/>
                    </a:lnB>
                    <a:solidFill>
                      <a:srgbClr val="FFFFFF"/>
                    </a:solidFill>
                  </a:tcPr>
                </a:tc>
                <a:tc>
                  <a:txBody>
                    <a:bodyPr lIns="85725" tIns="85725" rIns="85725" bIns="85725"/>
                    <a:lstStyle/>
                    <a:p>
                      <a:r>
                        <a:rPr sz="1650" b="0">
                          <a:solidFill>
                            <a:srgbClr val="17364A"/>
                          </a:solidFill>
                          <a:latin typeface="Arial"/>
                          <a:ea typeface="Arial"/>
                          <a:cs typeface="Arial"/>
                        </a:rPr>
                        <a:t>RPS trung bình × 6</a:t>
                      </a:r>
                    </a:p>
                  </a:txBody>
                  <a:tcPr marL="91440" marR="91440" marT="45720" marB="45720" anchor="ctr">
                    <a:lnR w="5715">
                      <a:solidFill>
                        <a:srgbClr val="D1DEE5"/>
                      </a:solidFill>
                      <a:prstDash val="solid"/>
                    </a:lnR>
                    <a:lnB w="5715">
                      <a:solidFill>
                        <a:srgbClr val="D1DEE5"/>
                      </a:solidFill>
                      <a:prstDash val="solid"/>
                    </a:lnB>
                    <a:solidFill>
                      <a:srgbClr val="FFFFFF"/>
                    </a:solidFill>
                  </a:tcPr>
                </a:tc>
                <a:tc>
                  <a:txBody>
                    <a:bodyPr lIns="85725" tIns="85725" rIns="85725" bIns="85725"/>
                    <a:lstStyle/>
                    <a:p>
                      <a:r>
                        <a:rPr sz="1650" b="0">
                          <a:solidFill>
                            <a:srgbClr val="17364A"/>
                          </a:solidFill>
                          <a:latin typeface="Arial"/>
                          <a:ea typeface="Arial"/>
                          <a:cs typeface="Arial"/>
                        </a:rPr>
                        <a:t>2,67 RPS</a:t>
                      </a:r>
                    </a:p>
                  </a:txBody>
                  <a:tcPr marL="91440" marR="91440" marT="45720" marB="45720" anchor="ctr">
                    <a:lnR w="5715">
                      <a:solidFill>
                        <a:srgbClr val="D1DEE5"/>
                      </a:solidFill>
                      <a:prstDash val="solid"/>
                    </a:lnR>
                    <a:lnB w="5715">
                      <a:solidFill>
                        <a:srgbClr val="D1DEE5"/>
                      </a:solidFill>
                      <a:prstDash val="solid"/>
                    </a:lnB>
                    <a:solidFill>
                      <a:srgbClr val="FFFFFF"/>
                    </a:solidFill>
                  </a:tcPr>
                </a:tc>
              </a:tr>
              <a:tr h="466725">
                <a:tc>
                  <a:txBody>
                    <a:bodyPr lIns="85725" tIns="85725" rIns="85725" bIns="85725"/>
                    <a:lstStyle/>
                    <a:p>
                      <a:r>
                        <a:rPr sz="1650" b="0">
                          <a:solidFill>
                            <a:srgbClr val="17364A"/>
                          </a:solidFill>
                          <a:latin typeface="Arial"/>
                          <a:ea typeface="Arial"/>
                          <a:cs typeface="Arial"/>
                        </a:rPr>
                        <a:t>Phiên đồng thời đỉnh</a:t>
                      </a:r>
                    </a:p>
                  </a:txBody>
                  <a:tcPr marL="91440" marR="91440" marT="45720" marB="45720" anchor="ctr">
                    <a:lnL w="5715">
                      <a:solidFill>
                        <a:srgbClr val="D1DEE5"/>
                      </a:solidFill>
                      <a:prstDash val="solid"/>
                    </a:lnL>
                    <a:lnR w="5715">
                      <a:solidFill>
                        <a:srgbClr val="D1DEE5"/>
                      </a:solidFill>
                      <a:prstDash val="solid"/>
                    </a:lnR>
                    <a:lnB w="5715">
                      <a:solidFill>
                        <a:srgbClr val="D1DEE5"/>
                      </a:solidFill>
                      <a:prstDash val="solid"/>
                    </a:lnB>
                    <a:solidFill>
                      <a:srgbClr val="F4F8FA"/>
                    </a:solidFill>
                  </a:tcPr>
                </a:tc>
                <a:tc>
                  <a:txBody>
                    <a:bodyPr lIns="85725" tIns="85725" rIns="85725" bIns="85725"/>
                    <a:lstStyle/>
                    <a:p>
                      <a:r>
                        <a:rPr sz="1650" b="0">
                          <a:solidFill>
                            <a:srgbClr val="17364A"/>
                          </a:solidFill>
                          <a:latin typeface="Arial"/>
                          <a:ea typeface="Arial"/>
                          <a:cs typeface="Arial"/>
                        </a:rPr>
                        <a:t>2,67 × 20 giây</a:t>
                      </a:r>
                    </a:p>
                  </a:txBody>
                  <a:tcPr marL="91440" marR="91440" marT="45720" marB="45720" anchor="ctr">
                    <a:lnR w="5715">
                      <a:solidFill>
                        <a:srgbClr val="D1DEE5"/>
                      </a:solidFill>
                      <a:prstDash val="solid"/>
                    </a:lnR>
                    <a:lnB w="5715">
                      <a:solidFill>
                        <a:srgbClr val="D1DEE5"/>
                      </a:solidFill>
                      <a:prstDash val="solid"/>
                    </a:lnB>
                    <a:solidFill>
                      <a:srgbClr val="F4F8FA"/>
                    </a:solidFill>
                  </a:tcPr>
                </a:tc>
                <a:tc>
                  <a:txBody>
                    <a:bodyPr lIns="85725" tIns="85725" rIns="85725" bIns="85725"/>
                    <a:lstStyle/>
                    <a:p>
                      <a:r>
                        <a:rPr sz="1650" b="0">
                          <a:solidFill>
                            <a:srgbClr val="17364A"/>
                          </a:solidFill>
                          <a:latin typeface="Arial"/>
                          <a:ea typeface="Arial"/>
                          <a:cs typeface="Arial"/>
                        </a:rPr>
                        <a:t>≈ 54 phiên</a:t>
                      </a:r>
                    </a:p>
                  </a:txBody>
                  <a:tcPr marL="91440" marR="91440" marT="45720" marB="45720" anchor="ctr">
                    <a:lnR w="5715">
                      <a:solidFill>
                        <a:srgbClr val="D1DEE5"/>
                      </a:solidFill>
                      <a:prstDash val="solid"/>
                    </a:lnR>
                    <a:lnB w="5715">
                      <a:solidFill>
                        <a:srgbClr val="D1DEE5"/>
                      </a:solidFill>
                      <a:prstDash val="solid"/>
                    </a:lnB>
                    <a:solidFill>
                      <a:srgbClr val="F4F8FA"/>
                    </a:solidFill>
                  </a:tcPr>
                </a:tc>
              </a:tr>
              <a:tr h="466725">
                <a:tc>
                  <a:txBody>
                    <a:bodyPr lIns="85725" tIns="85725" rIns="85725" bIns="85725"/>
                    <a:lstStyle/>
                    <a:p>
                      <a:r>
                        <a:rPr sz="1650" b="0">
                          <a:solidFill>
                            <a:srgbClr val="17364A"/>
                          </a:solidFill>
                          <a:latin typeface="Arial"/>
                          <a:ea typeface="Arial"/>
                          <a:cs typeface="Arial"/>
                        </a:rPr>
                        <a:t>Tokens/tháng</a:t>
                      </a:r>
                    </a:p>
                  </a:txBody>
                  <a:tcPr marL="91440" marR="91440" marT="45720" marB="45720" anchor="ctr">
                    <a:lnL w="5715">
                      <a:solidFill>
                        <a:srgbClr val="D1DEE5"/>
                      </a:solidFill>
                      <a:prstDash val="solid"/>
                    </a:lnL>
                    <a:lnR w="5715">
                      <a:solidFill>
                        <a:srgbClr val="D1DEE5"/>
                      </a:solidFill>
                      <a:prstDash val="solid"/>
                    </a:lnR>
                    <a:lnB w="5715">
                      <a:solidFill>
                        <a:srgbClr val="D1DEE5"/>
                      </a:solidFill>
                      <a:prstDash val="solid"/>
                    </a:lnB>
                    <a:solidFill>
                      <a:srgbClr val="FFFFFF"/>
                    </a:solidFill>
                  </a:tcPr>
                </a:tc>
                <a:tc>
                  <a:txBody>
                    <a:bodyPr lIns="85725" tIns="85725" rIns="85725" bIns="85725"/>
                    <a:lstStyle/>
                    <a:p>
                      <a:r>
                        <a:rPr sz="1650" b="0">
                          <a:solidFill>
                            <a:srgbClr val="17364A"/>
                          </a:solidFill>
                          <a:latin typeface="Arial"/>
                          <a:ea typeface="Arial"/>
                          <a:cs typeface="Arial"/>
                        </a:rPr>
                        <a:t>Tổng qua các lượt model và tool</a:t>
                      </a:r>
                    </a:p>
                  </a:txBody>
                  <a:tcPr marL="91440" marR="91440" marT="45720" marB="45720" anchor="ctr">
                    <a:lnR w="5715">
                      <a:solidFill>
                        <a:srgbClr val="D1DEE5"/>
                      </a:solidFill>
                      <a:prstDash val="solid"/>
                    </a:lnR>
                    <a:lnB w="5715">
                      <a:solidFill>
                        <a:srgbClr val="D1DEE5"/>
                      </a:solidFill>
                      <a:prstDash val="solid"/>
                    </a:lnB>
                    <a:solidFill>
                      <a:srgbClr val="FFFFFF"/>
                    </a:solidFill>
                  </a:tcPr>
                </a:tc>
                <a:tc>
                  <a:txBody>
                    <a:bodyPr lIns="85725" tIns="85725" rIns="85725" bIns="85725"/>
                    <a:lstStyle/>
                    <a:p>
                      <a:r>
                        <a:rPr sz="1650" b="0">
                          <a:solidFill>
                            <a:srgbClr val="17364A"/>
                          </a:solidFill>
                          <a:latin typeface="Arial"/>
                          <a:ea typeface="Arial"/>
                          <a:cs typeface="Arial"/>
                        </a:rPr>
                        <a:t>1.207,36M in / 252,384M out</a:t>
                      </a:r>
                    </a:p>
                  </a:txBody>
                  <a:tcPr marL="91440" marR="91440" marT="45720" marB="45720" anchor="ctr">
                    <a:lnR w="5715">
                      <a:solidFill>
                        <a:srgbClr val="D1DEE5"/>
                      </a:solidFill>
                      <a:prstDash val="solid"/>
                    </a:lnR>
                    <a:lnB w="5715">
                      <a:solidFill>
                        <a:srgbClr val="D1DEE5"/>
                      </a:solidFill>
                      <a:prstDash val="solid"/>
                    </a:lnB>
                    <a:solidFill>
                      <a:srgbClr val="FFFFFF"/>
                    </a:solidFill>
                  </a:tcPr>
                </a:tc>
              </a:tr>
            </a:tbl>
          </a:graphicData>
        </a:graphic>
      </p:graphicFrame>
      <p:sp>
        <p:nvSpPr>
          <p:cNvPr id="9" name="shape-17">
            <a:extLst xmlns:a="http://schemas.openxmlformats.org/drawingml/2006/main">
              <a:ext uri="{FF2B5EF4-FFF2-40B4-BE49-F238E27FC236}">
                <a16:creationId xmlns:a16="http://schemas.microsoft.com/office/drawing/2014/main" id="{B0FDE514-12F0-4D11-B8B3-4C9677F84E85}"/>
              </a:ext>
            </a:extLst>
          </p:cNvPr>
          <p:cNvSpPr>
            <a:spLocks xmlns:a="http://schemas.openxmlformats.org/drawingml/2006/main" noGrp="1"/>
          </p:cNvSpPr>
          <p:nvPr/>
        </p:nvSpPr>
        <p:spPr>
          <a:xfrm xmlns:a="http://schemas.openxmlformats.org/drawingml/2006/main">
            <a:off x="533400" y="5810250"/>
            <a:ext cx="11125200" cy="400050"/>
          </a:xfrm>
          <a:prstGeom xmlns:a="http://schemas.openxmlformats.org/drawingml/2006/main" prst="rect">
            <a:avLst/>
          </a:prstGeom>
          <a:solidFill xmlns:a="http://schemas.openxmlformats.org/drawingml/2006/main">
            <a:srgbClr val="E8F4F3"/>
          </a:solidFill>
          <a:ln xmlns:a="http://schemas.openxmlformats.org/drawingml/2006/main" w="0">
            <a:noFill/>
            <a:prstDash val="solid"/>
          </a:ln>
        </p:spPr>
      </p:sp>
      <p:sp>
        <p:nvSpPr>
          <p:cNvPr id="10" name="text-18">
            <a:extLst xmlns:a="http://schemas.openxmlformats.org/drawingml/2006/main">
              <a:ext uri="{FF2B5EF4-FFF2-40B4-BE49-F238E27FC236}">
                <a16:creationId xmlns:a16="http://schemas.microsoft.com/office/drawing/2014/main" id="{E66BDA42-C80F-4FB7-845E-EE16F58F5066}"/>
              </a:ext>
            </a:extLst>
          </p:cNvPr>
          <p:cNvSpPr>
            <a:spLocks xmlns:a="http://schemas.openxmlformats.org/drawingml/2006/main" noGrp="1"/>
          </p:cNvSpPr>
          <p:nvPr/>
        </p:nvSpPr>
        <p:spPr>
          <a:xfrm xmlns:a="http://schemas.openxmlformats.org/drawingml/2006/main">
            <a:off x="666750" y="5905500"/>
            <a:ext cx="10858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17364A"/>
                </a:solidFill>
                <a:latin typeface="Arial"/>
                <a:ea typeface="Arial"/>
                <a:cs typeface="Arial"/>
              </a:defRPr>
            </a:defPPr>
          </a:lstStyle>
          <a:p xmlns:a="http://schemas.openxmlformats.org/drawingml/2006/main">
            <a:pPr algn="l">
              <a:defRPr sz="1350" b="0">
                <a:solidFill>
                  <a:srgbClr val="17364A"/>
                </a:solidFill>
                <a:latin typeface="Arial"/>
                <a:ea typeface="Arial"/>
                <a:cs typeface="Arial"/>
              </a:defRPr>
            </a:pPr>
            <a:r>
              <a:rPr sz="1350" b="0">
                <a:solidFill>
                  <a:srgbClr val="17364A"/>
                </a:solidFill>
                <a:latin typeface="Arial"/>
                <a:ea typeface="Arial"/>
                <a:cs typeface="Arial"/>
              </a:rPr>
              <a:t>Production chạy 24/7 (730 giờ). Warm capacity theo giờ hành chính (220 giờ), GMT+7.</a:t>
            </a:r>
          </a:p>
        </p:txBody>
      </p:sp>
    </p:spTree>
    <p:extLst>
      <p:ext uri="{BB962C8B-B14F-4D97-AF65-F5344CB8AC3E}">
        <p14:creationId xmlns:p14="http://schemas.microsoft.com/office/powerpoint/2010/main" val="184568403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hape-19">
            <a:extLst xmlns:a="http://schemas.openxmlformats.org/drawingml/2006/main">
              <a:ext uri="{FF2B5EF4-FFF2-40B4-BE49-F238E27FC236}">
                <a16:creationId xmlns:a16="http://schemas.microsoft.com/office/drawing/2014/main" id="{EA433758-75FF-4979-8E79-7CDC92007AE4}"/>
              </a:ext>
            </a:extLst>
          </p:cNvPr>
          <p:cNvSpPr>
            <a:spLocks xmlns:a="http://schemas.openxmlformats.org/drawingml/2006/main" noGrp="1"/>
          </p:cNvSpPr>
          <p:nvPr/>
        </p:nvSpPr>
        <p:spPr>
          <a:xfrm xmlns:a="http://schemas.openxmlformats.org/drawingml/2006/main">
            <a:off x="533400" y="428625"/>
            <a:ext cx="419100" cy="47625"/>
          </a:xfrm>
          <a:prstGeom xmlns:a="http://schemas.openxmlformats.org/drawingml/2006/main" prst="rect">
            <a:avLst/>
          </a:prstGeom>
          <a:solidFill xmlns:a="http://schemas.openxmlformats.org/drawingml/2006/main">
            <a:srgbClr val="087F83"/>
          </a:solidFill>
          <a:ln xmlns:a="http://schemas.openxmlformats.org/drawingml/2006/main" w="0">
            <a:noFill/>
            <a:prstDash val="solid"/>
          </a:ln>
        </p:spPr>
      </p:sp>
      <p:sp>
        <p:nvSpPr>
          <p:cNvPr id="2" name="text-20">
            <a:extLst xmlns:a="http://schemas.openxmlformats.org/drawingml/2006/main">
              <a:ext uri="{FF2B5EF4-FFF2-40B4-BE49-F238E27FC236}">
                <a16:creationId xmlns:a16="http://schemas.microsoft.com/office/drawing/2014/main" id="{876FBB50-B02B-4185-A6C3-338B6CE1F1DB}"/>
              </a:ext>
            </a:extLst>
          </p:cNvPr>
          <p:cNvSpPr>
            <a:spLocks xmlns:a="http://schemas.openxmlformats.org/drawingml/2006/main" noGrp="1"/>
          </p:cNvSpPr>
          <p:nvPr/>
        </p:nvSpPr>
        <p:spPr>
          <a:xfrm xmlns:a="http://schemas.openxmlformats.org/drawingml/2006/main">
            <a:off x="533400" y="657225"/>
            <a:ext cx="111252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7364A"/>
                </a:solidFill>
                <a:latin typeface="Arial"/>
                <a:ea typeface="Arial"/>
                <a:cs typeface="Arial"/>
              </a:defRPr>
            </a:defPPr>
          </a:lstStyle>
          <a:p xmlns:a="http://schemas.openxmlformats.org/drawingml/2006/main">
            <a:pPr algn="l">
              <a:defRPr sz="2700" b="1">
                <a:solidFill>
                  <a:srgbClr val="17364A"/>
                </a:solidFill>
                <a:latin typeface="Arial"/>
                <a:ea typeface="Arial"/>
                <a:cs typeface="Arial"/>
              </a:defRPr>
            </a:pPr>
            <a:r>
              <a:rPr sz="2700" b="1">
                <a:solidFill>
                  <a:srgbClr val="17364A"/>
                </a:solidFill>
                <a:latin typeface="Arial"/>
                <a:ea typeface="Arial"/>
                <a:cs typeface="Arial"/>
              </a:rPr>
              <a:t>Dung lượng và tác vụ nặng được tính riêng</a:t>
            </a:r>
          </a:p>
        </p:txBody>
      </p:sp>
      <p:sp>
        <p:nvSpPr>
          <p:cNvPr id="3" name="shape-21">
            <a:extLst xmlns:a="http://schemas.openxmlformats.org/drawingml/2006/main">
              <a:ext uri="{FF2B5EF4-FFF2-40B4-BE49-F238E27FC236}">
                <a16:creationId xmlns:a16="http://schemas.microsoft.com/office/drawing/2014/main" id="{9157A7EC-D37C-44F3-B844-973EF9F1BE2E}"/>
              </a:ext>
            </a:extLst>
          </p:cNvPr>
          <p:cNvSpPr>
            <a:spLocks xmlns:a="http://schemas.openxmlformats.org/drawingml/2006/main" noGrp="1"/>
          </p:cNvSpPr>
          <p:nvPr/>
        </p:nvSpPr>
        <p:spPr>
          <a:xfrm xmlns:a="http://schemas.openxmlformats.org/drawingml/2006/main">
            <a:off x="533400" y="6381750"/>
            <a:ext cx="11125200" cy="9525"/>
          </a:xfrm>
          <a:prstGeom xmlns:a="http://schemas.openxmlformats.org/drawingml/2006/main" prst="rect">
            <a:avLst/>
          </a:prstGeom>
          <a:solidFill xmlns:a="http://schemas.openxmlformats.org/drawingml/2006/main">
            <a:srgbClr val="D1DEE5"/>
          </a:solidFill>
          <a:ln xmlns:a="http://schemas.openxmlformats.org/drawingml/2006/main" w="0">
            <a:noFill/>
            <a:prstDash val="solid"/>
          </a:ln>
        </p:spPr>
      </p:sp>
      <p:sp>
        <p:nvSpPr>
          <p:cNvPr id="4" name="text-22">
            <a:extLst xmlns:a="http://schemas.openxmlformats.org/drawingml/2006/main">
              <a:ext uri="{FF2B5EF4-FFF2-40B4-BE49-F238E27FC236}">
                <a16:creationId xmlns:a16="http://schemas.microsoft.com/office/drawing/2014/main" id="{4F98089B-CFDF-425C-BC55-10677262168A}"/>
              </a:ext>
            </a:extLst>
          </p:cNvPr>
          <p:cNvSpPr>
            <a:spLocks xmlns:a="http://schemas.openxmlformats.org/drawingml/2006/main" noGrp="1"/>
          </p:cNvSpPr>
          <p:nvPr/>
        </p:nvSpPr>
        <p:spPr>
          <a:xfrm xmlns:a="http://schemas.openxmlformats.org/drawingml/2006/main">
            <a:off x="533400" y="651510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87080"/>
                </a:solidFill>
                <a:latin typeface="Arial"/>
                <a:ea typeface="Arial"/>
                <a:cs typeface="Arial"/>
              </a:defRPr>
            </a:defPPr>
          </a:lstStyle>
          <a:p xmlns:a="http://schemas.openxmlformats.org/drawingml/2006/main">
            <a:pPr algn="l">
              <a:defRPr sz="975" b="0">
                <a:solidFill>
                  <a:srgbClr val="587080"/>
                </a:solidFill>
                <a:latin typeface="Arial"/>
                <a:ea typeface="Arial"/>
                <a:cs typeface="Arial"/>
              </a:defRPr>
            </a:pPr>
            <a:r>
              <a:rPr sz="975" b="0">
                <a:solidFill>
                  <a:srgbClr val="587080"/>
                </a:solidFill>
                <a:latin typeface="Arial"/>
                <a:ea typeface="Arial"/>
                <a:cs typeface="Arial"/>
              </a:rPr>
              <a:t>G03  /  Eviaura</a:t>
            </a:r>
          </a:p>
        </p:txBody>
      </p:sp>
      <p:sp>
        <p:nvSpPr>
          <p:cNvPr id="5" name="text-23">
            <a:extLst xmlns:a="http://schemas.openxmlformats.org/drawingml/2006/main">
              <a:ext uri="{FF2B5EF4-FFF2-40B4-BE49-F238E27FC236}">
                <a16:creationId xmlns:a16="http://schemas.microsoft.com/office/drawing/2014/main" id="{A2DE55F7-11E8-4803-8F5A-12CCC1F332D2}"/>
              </a:ext>
            </a:extLst>
          </p:cNvPr>
          <p:cNvSpPr>
            <a:spLocks xmlns:a="http://schemas.openxmlformats.org/drawingml/2006/main" noGrp="1"/>
          </p:cNvSpPr>
          <p:nvPr/>
        </p:nvSpPr>
        <p:spPr>
          <a:xfrm xmlns:a="http://schemas.openxmlformats.org/drawingml/2006/main">
            <a:off x="11049000" y="6496050"/>
            <a:ext cx="609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050" b="0">
                <a:solidFill>
                  <a:srgbClr val="587080"/>
                </a:solidFill>
                <a:latin typeface="Arial"/>
                <a:ea typeface="Arial"/>
                <a:cs typeface="Arial"/>
              </a:defRPr>
            </a:defPPr>
          </a:lstStyle>
          <a:p xmlns:a="http://schemas.openxmlformats.org/drawingml/2006/main">
            <a:pPr algn="r">
              <a:defRPr sz="1050" b="0">
                <a:solidFill>
                  <a:srgbClr val="587080"/>
                </a:solidFill>
                <a:latin typeface="Arial"/>
                <a:ea typeface="Arial"/>
                <a:cs typeface="Arial"/>
              </a:defRPr>
            </a:pPr>
            <a:r>
              <a:rPr sz="1050" b="0">
                <a:solidFill>
                  <a:srgbClr val="587080"/>
                </a:solidFill>
                <a:latin typeface="Arial"/>
                <a:ea typeface="Arial"/>
                <a:cs typeface="Arial"/>
              </a:rPr>
              <a:t>03</a:t>
            </a:r>
          </a:p>
        </p:txBody>
      </p:sp>
      <p:graphicFrame>
        <p:nvGraphicFramePr>
          <p:cNvPr id="6" name="">
            <a:extLst xmlns:a="http://schemas.openxmlformats.org/drawingml/2006/main">
              <a:ext uri="{FF2B5EF4-FFF2-40B4-BE49-F238E27FC236}">
                <a16:creationId xmlns:a16="http://schemas.microsoft.com/office/drawing/2014/main" id="{082A776F-9F53-4EEE-A5A1-591291685C6A}"/>
              </a:ext>
            </a:extLst>
          </p:cNvPr>
          <p:cNvGraphicFramePr/>
          <p:nvPr/>
        </p:nvGraphicFramePr>
        <p:xfrm>
          <a:off xmlns:a="http://schemas.openxmlformats.org/drawingml/2006/main" x="533400" y="1552575"/>
          <a:ext xmlns:a="http://schemas.openxmlformats.org/drawingml/2006/main" cx="11125200" cy="3609975"/>
        </p:xfrm>
        <a:graphic xmlns:a="http://schemas.openxmlformats.org/drawingml/2006/main">
          <a:graphicData uri="http://schemas.openxmlformats.org/drawingml/2006/table">
            <a:tbl>
              <a:tblPr firstRow="0" bandRow="0"/>
              <a:tblGrid>
                <a:gridCol w="3238500"/>
                <a:gridCol w="7886700"/>
              </a:tblGrid>
              <a:tr h="515711">
                <a:tc>
                  <a:txBody>
                    <a:bodyPr lIns="85725" tIns="85725" rIns="85725" bIns="85725"/>
                    <a:lstStyle/>
                    <a:p>
                      <a:r>
                        <a:rPr sz="1725" b="1">
                          <a:solidFill>
                            <a:srgbClr val="FFFFFF"/>
                          </a:solidFill>
                          <a:latin typeface="Arial"/>
                          <a:ea typeface="Arial"/>
                          <a:cs typeface="Arial"/>
                        </a:rPr>
                        <a:t>Hạng mục</a:t>
                      </a:r>
                    </a:p>
                  </a:txBody>
                  <a:tcPr marL="91440" marR="91440" marT="45720" marB="45720" anchor="ctr">
                    <a:lnL w="5715">
                      <a:solidFill>
                        <a:srgbClr val="D1DEE5"/>
                      </a:solidFill>
                      <a:prstDash val="solid"/>
                    </a:lnL>
                    <a:lnR w="5715">
                      <a:solidFill>
                        <a:srgbClr val="D1DEE5"/>
                      </a:solidFill>
                      <a:prstDash val="solid"/>
                    </a:lnR>
                    <a:lnT w="5715">
                      <a:solidFill>
                        <a:srgbClr val="D1DEE5"/>
                      </a:solidFill>
                      <a:prstDash val="solid"/>
                    </a:lnT>
                    <a:lnB w="5715">
                      <a:solidFill>
                        <a:srgbClr val="D1DEE5"/>
                      </a:solidFill>
                      <a:prstDash val="solid"/>
                    </a:lnB>
                    <a:solidFill>
                      <a:srgbClr val="103548"/>
                    </a:solidFill>
                  </a:tcPr>
                </a:tc>
                <a:tc>
                  <a:txBody>
                    <a:bodyPr lIns="85725" tIns="85725" rIns="85725" bIns="85725"/>
                    <a:lstStyle/>
                    <a:p>
                      <a:r>
                        <a:rPr sz="1725" b="1">
                          <a:solidFill>
                            <a:srgbClr val="FFFFFF"/>
                          </a:solidFill>
                          <a:latin typeface="Arial"/>
                          <a:ea typeface="Arial"/>
                          <a:cs typeface="Arial"/>
                        </a:rPr>
                        <a:t>Giả định tháng</a:t>
                      </a:r>
                    </a:p>
                  </a:txBody>
                  <a:tcPr marL="91440" marR="91440" marT="45720" marB="45720" anchor="ctr">
                    <a:lnR w="5715">
                      <a:solidFill>
                        <a:srgbClr val="D1DEE5"/>
                      </a:solidFill>
                      <a:prstDash val="solid"/>
                    </a:lnR>
                    <a:lnT w="5715">
                      <a:solidFill>
                        <a:srgbClr val="D1DEE5"/>
                      </a:solidFill>
                      <a:prstDash val="solid"/>
                    </a:lnT>
                    <a:lnB w="5715">
                      <a:solidFill>
                        <a:srgbClr val="D1DEE5"/>
                      </a:solidFill>
                      <a:prstDash val="solid"/>
                    </a:lnB>
                    <a:solidFill>
                      <a:srgbClr val="103548"/>
                    </a:solidFill>
                  </a:tcPr>
                </a:tc>
              </a:tr>
              <a:tr h="515711">
                <a:tc>
                  <a:txBody>
                    <a:bodyPr lIns="85725" tIns="85725" rIns="85725" bIns="85725"/>
                    <a:lstStyle/>
                    <a:p>
                      <a:r>
                        <a:rPr sz="1725" b="0">
                          <a:solidFill>
                            <a:srgbClr val="17364A"/>
                          </a:solidFill>
                          <a:latin typeface="Arial"/>
                          <a:ea typeface="Arial"/>
                          <a:cs typeface="Arial"/>
                        </a:rPr>
                        <a:t>Workspace và KB</a:t>
                      </a:r>
                    </a:p>
                  </a:txBody>
                  <a:tcPr marL="91440" marR="91440" marT="45720" marB="45720" anchor="ctr">
                    <a:lnL w="5715">
                      <a:solidFill>
                        <a:srgbClr val="D1DEE5"/>
                      </a:solidFill>
                      <a:prstDash val="solid"/>
                    </a:lnL>
                    <a:lnR w="5715">
                      <a:solidFill>
                        <a:srgbClr val="D1DEE5"/>
                      </a:solidFill>
                      <a:prstDash val="solid"/>
                    </a:lnR>
                    <a:lnB w="5715">
                      <a:solidFill>
                        <a:srgbClr val="D1DEE5"/>
                      </a:solidFill>
                      <a:prstDash val="solid"/>
                    </a:lnB>
                    <a:solidFill>
                      <a:srgbClr val="F4F8FA"/>
                    </a:solidFill>
                  </a:tcPr>
                </a:tc>
                <a:tc>
                  <a:txBody>
                    <a:bodyPr lIns="85725" tIns="85725" rIns="85725" bIns="85725"/>
                    <a:lstStyle/>
                    <a:p>
                      <a:r>
                        <a:rPr sz="1725" b="0">
                          <a:solidFill>
                            <a:srgbClr val="17364A"/>
                          </a:solidFill>
                          <a:latin typeface="Arial"/>
                          <a:ea typeface="Arial"/>
                          <a:cs typeface="Arial"/>
                        </a:rPr>
                        <a:t>20.000 GB quota + 200 GB KB + 100 GB staging</a:t>
                      </a:r>
                    </a:p>
                  </a:txBody>
                  <a:tcPr marL="91440" marR="91440" marT="45720" marB="45720" anchor="ctr">
                    <a:lnR w="5715">
                      <a:solidFill>
                        <a:srgbClr val="D1DEE5"/>
                      </a:solidFill>
                      <a:prstDash val="solid"/>
                    </a:lnR>
                    <a:lnB w="5715">
                      <a:solidFill>
                        <a:srgbClr val="D1DEE5"/>
                      </a:solidFill>
                      <a:prstDash val="solid"/>
                    </a:lnB>
                    <a:solidFill>
                      <a:srgbClr val="F4F8FA"/>
                    </a:solidFill>
                  </a:tcPr>
                </a:tc>
              </a:tr>
              <a:tr h="515711">
                <a:tc>
                  <a:txBody>
                    <a:bodyPr lIns="85725" tIns="85725" rIns="85725" bIns="85725"/>
                    <a:lstStyle/>
                    <a:p>
                      <a:r>
                        <a:rPr sz="1725" b="0">
                          <a:solidFill>
                            <a:srgbClr val="17364A"/>
                          </a:solidFill>
                          <a:latin typeface="Arial"/>
                          <a:ea typeface="Arial"/>
                          <a:cs typeface="Arial"/>
                        </a:rPr>
                        <a:t>Vector và embedding</a:t>
                      </a:r>
                    </a:p>
                  </a:txBody>
                  <a:tcPr marL="91440" marR="91440" marT="45720" marB="45720" anchor="ctr">
                    <a:lnL w="5715">
                      <a:solidFill>
                        <a:srgbClr val="D1DEE5"/>
                      </a:solidFill>
                      <a:prstDash val="solid"/>
                    </a:lnL>
                    <a:lnR w="5715">
                      <a:solidFill>
                        <a:srgbClr val="D1DEE5"/>
                      </a:solidFill>
                      <a:prstDash val="solid"/>
                    </a:lnR>
                    <a:lnB w="5715">
                      <a:solidFill>
                        <a:srgbClr val="D1DEE5"/>
                      </a:solidFill>
                      <a:prstDash val="solid"/>
                    </a:lnB>
                    <a:solidFill>
                      <a:srgbClr val="FFFFFF"/>
                    </a:solidFill>
                  </a:tcPr>
                </a:tc>
                <a:tc>
                  <a:txBody>
                    <a:bodyPr lIns="85725" tIns="85725" rIns="85725" bIns="85725"/>
                    <a:lstStyle/>
                    <a:p>
                      <a:r>
                        <a:rPr sz="1725" b="0">
                          <a:solidFill>
                            <a:srgbClr val="17364A"/>
                          </a:solidFill>
                          <a:latin typeface="Arial"/>
                          <a:ea typeface="Arial"/>
                          <a:cs typeface="Arial"/>
                        </a:rPr>
                        <a:t>1 triệu chunk, 1.024 chiều, 120M token embedding</a:t>
                      </a:r>
                    </a:p>
                  </a:txBody>
                  <a:tcPr marL="91440" marR="91440" marT="45720" marB="45720" anchor="ctr">
                    <a:lnR w="5715">
                      <a:solidFill>
                        <a:srgbClr val="D1DEE5"/>
                      </a:solidFill>
                      <a:prstDash val="solid"/>
                    </a:lnR>
                    <a:lnB w="5715">
                      <a:solidFill>
                        <a:srgbClr val="D1DEE5"/>
                      </a:solidFill>
                      <a:prstDash val="solid"/>
                    </a:lnB>
                    <a:solidFill>
                      <a:srgbClr val="FFFFFF"/>
                    </a:solidFill>
                  </a:tcPr>
                </a:tc>
              </a:tr>
              <a:tr h="515711">
                <a:tc>
                  <a:txBody>
                    <a:bodyPr lIns="85725" tIns="85725" rIns="85725" bIns="85725"/>
                    <a:lstStyle/>
                    <a:p>
                      <a:r>
                        <a:rPr sz="1725" b="0">
                          <a:solidFill>
                            <a:srgbClr val="17364A"/>
                          </a:solidFill>
                          <a:latin typeface="Arial"/>
                          <a:ea typeface="Arial"/>
                          <a:cs typeface="Arial"/>
                        </a:rPr>
                        <a:t>Sandbox</a:t>
                      </a:r>
                    </a:p>
                  </a:txBody>
                  <a:tcPr marL="91440" marR="91440" marT="45720" marB="45720" anchor="ctr">
                    <a:lnL w="5715">
                      <a:solidFill>
                        <a:srgbClr val="D1DEE5"/>
                      </a:solidFill>
                      <a:prstDash val="solid"/>
                    </a:lnL>
                    <a:lnR w="5715">
                      <a:solidFill>
                        <a:srgbClr val="D1DEE5"/>
                      </a:solidFill>
                      <a:prstDash val="solid"/>
                    </a:lnR>
                    <a:lnB w="5715">
                      <a:solidFill>
                        <a:srgbClr val="D1DEE5"/>
                      </a:solidFill>
                      <a:prstDash val="solid"/>
                    </a:lnB>
                    <a:solidFill>
                      <a:srgbClr val="F4F8FA"/>
                    </a:solidFill>
                  </a:tcPr>
                </a:tc>
                <a:tc>
                  <a:txBody>
                    <a:bodyPr lIns="85725" tIns="85725" rIns="85725" bIns="85725"/>
                    <a:lstStyle/>
                    <a:p>
                      <a:r>
                        <a:rPr sz="1725" b="0">
                          <a:solidFill>
                            <a:srgbClr val="17364A"/>
                          </a:solidFill>
                          <a:latin typeface="Arial"/>
                          <a:ea typeface="Arial"/>
                          <a:cs typeface="Arial"/>
                        </a:rPr>
                        <a:t>35.200 session × 120 giây, 1 active vCPU + 4 GB</a:t>
                      </a:r>
                    </a:p>
                  </a:txBody>
                  <a:tcPr marL="91440" marR="91440" marT="45720" marB="45720" anchor="ctr">
                    <a:lnR w="5715">
                      <a:solidFill>
                        <a:srgbClr val="D1DEE5"/>
                      </a:solidFill>
                      <a:prstDash val="solid"/>
                    </a:lnR>
                    <a:lnB w="5715">
                      <a:solidFill>
                        <a:srgbClr val="D1DEE5"/>
                      </a:solidFill>
                      <a:prstDash val="solid"/>
                    </a:lnB>
                    <a:solidFill>
                      <a:srgbClr val="F4F8FA"/>
                    </a:solidFill>
                  </a:tcPr>
                </a:tc>
              </a:tr>
              <a:tr h="515711">
                <a:tc>
                  <a:txBody>
                    <a:bodyPr lIns="85725" tIns="85725" rIns="85725" bIns="85725"/>
                    <a:lstStyle/>
                    <a:p>
                      <a:r>
                        <a:rPr sz="1725" b="0">
                          <a:solidFill>
                            <a:srgbClr val="17364A"/>
                          </a:solidFill>
                          <a:latin typeface="Arial"/>
                          <a:ea typeface="Arial"/>
                          <a:cs typeface="Arial"/>
                        </a:rPr>
                        <a:t>Sinh ảnh</a:t>
                      </a:r>
                    </a:p>
                  </a:txBody>
                  <a:tcPr marL="91440" marR="91440" marT="45720" marB="45720" anchor="ctr">
                    <a:lnL w="5715">
                      <a:solidFill>
                        <a:srgbClr val="D1DEE5"/>
                      </a:solidFill>
                      <a:prstDash val="solid"/>
                    </a:lnL>
                    <a:lnR w="5715">
                      <a:solidFill>
                        <a:srgbClr val="D1DEE5"/>
                      </a:solidFill>
                      <a:prstDash val="solid"/>
                    </a:lnR>
                    <a:lnB w="5715">
                      <a:solidFill>
                        <a:srgbClr val="D1DEE5"/>
                      </a:solidFill>
                      <a:prstDash val="solid"/>
                    </a:lnB>
                    <a:solidFill>
                      <a:srgbClr val="FFFFFF"/>
                    </a:solidFill>
                  </a:tcPr>
                </a:tc>
                <a:tc>
                  <a:txBody>
                    <a:bodyPr lIns="85725" tIns="85725" rIns="85725" bIns="85725"/>
                    <a:lstStyle/>
                    <a:p>
                      <a:r>
                        <a:rPr sz="1725" b="0">
                          <a:solidFill>
                            <a:srgbClr val="17364A"/>
                          </a:solidFill>
                          <a:latin typeface="Arial"/>
                          <a:ea typeface="Arial"/>
                          <a:cs typeface="Arial"/>
                        </a:rPr>
                        <a:t>3.520 ảnh, Stable Image Core tại Oregon</a:t>
                      </a:r>
                    </a:p>
                  </a:txBody>
                  <a:tcPr marL="91440" marR="91440" marT="45720" marB="45720" anchor="ctr">
                    <a:lnR w="5715">
                      <a:solidFill>
                        <a:srgbClr val="D1DEE5"/>
                      </a:solidFill>
                      <a:prstDash val="solid"/>
                    </a:lnR>
                    <a:lnB w="5715">
                      <a:solidFill>
                        <a:srgbClr val="D1DEE5"/>
                      </a:solidFill>
                      <a:prstDash val="solid"/>
                    </a:lnB>
                    <a:solidFill>
                      <a:srgbClr val="FFFFFF"/>
                    </a:solidFill>
                  </a:tcPr>
                </a:tc>
              </a:tr>
              <a:tr h="515711">
                <a:tc>
                  <a:txBody>
                    <a:bodyPr lIns="85725" tIns="85725" rIns="85725" bIns="85725"/>
                    <a:lstStyle/>
                    <a:p>
                      <a:r>
                        <a:rPr sz="1725" b="0">
                          <a:solidFill>
                            <a:srgbClr val="17364A"/>
                          </a:solidFill>
                          <a:latin typeface="Arial"/>
                          <a:ea typeface="Arial"/>
                          <a:cs typeface="Arial"/>
                        </a:rPr>
                        <a:t>Connector và egress</a:t>
                      </a:r>
                    </a:p>
                  </a:txBody>
                  <a:tcPr marL="91440" marR="91440" marT="45720" marB="45720" anchor="ctr">
                    <a:lnL w="5715">
                      <a:solidFill>
                        <a:srgbClr val="D1DEE5"/>
                      </a:solidFill>
                      <a:prstDash val="solid"/>
                    </a:lnL>
                    <a:lnR w="5715">
                      <a:solidFill>
                        <a:srgbClr val="D1DEE5"/>
                      </a:solidFill>
                      <a:prstDash val="solid"/>
                    </a:lnR>
                    <a:lnB w="5715">
                      <a:solidFill>
                        <a:srgbClr val="D1DEE5"/>
                      </a:solidFill>
                      <a:prstDash val="solid"/>
                    </a:lnB>
                    <a:solidFill>
                      <a:srgbClr val="F4F8FA"/>
                    </a:solidFill>
                  </a:tcPr>
                </a:tc>
                <a:tc>
                  <a:txBody>
                    <a:bodyPr lIns="85725" tIns="85725" rIns="85725" bIns="85725"/>
                    <a:lstStyle/>
                    <a:p>
                      <a:r>
                        <a:rPr sz="1725" b="0">
                          <a:solidFill>
                            <a:srgbClr val="17364A"/>
                          </a:solidFill>
                          <a:latin typeface="Arial"/>
                          <a:ea typeface="Arial"/>
                          <a:cs typeface="Arial"/>
                        </a:rPr>
                        <a:t>1 triệu call, 300 GB internet outbound</a:t>
                      </a:r>
                    </a:p>
                  </a:txBody>
                  <a:tcPr marL="91440" marR="91440" marT="45720" marB="45720" anchor="ctr">
                    <a:lnR w="5715">
                      <a:solidFill>
                        <a:srgbClr val="D1DEE5"/>
                      </a:solidFill>
                      <a:prstDash val="solid"/>
                    </a:lnR>
                    <a:lnB w="5715">
                      <a:solidFill>
                        <a:srgbClr val="D1DEE5"/>
                      </a:solidFill>
                      <a:prstDash val="solid"/>
                    </a:lnB>
                    <a:solidFill>
                      <a:srgbClr val="F4F8FA"/>
                    </a:solidFill>
                  </a:tcPr>
                </a:tc>
              </a:tr>
              <a:tr h="515711">
                <a:tc>
                  <a:txBody>
                    <a:bodyPr lIns="85725" tIns="85725" rIns="85725" bIns="85725"/>
                    <a:lstStyle/>
                    <a:p>
                      <a:r>
                        <a:rPr sz="1725" b="0">
                          <a:solidFill>
                            <a:srgbClr val="17364A"/>
                          </a:solidFill>
                          <a:latin typeface="Arial"/>
                          <a:ea typeface="Arial"/>
                          <a:cs typeface="Arial"/>
                        </a:rPr>
                        <a:t>Dữ liệu và audit</a:t>
                      </a:r>
                    </a:p>
                  </a:txBody>
                  <a:tcPr marL="91440" marR="91440" marT="45720" marB="45720" anchor="ctr">
                    <a:lnL w="5715">
                      <a:solidFill>
                        <a:srgbClr val="D1DEE5"/>
                      </a:solidFill>
                      <a:prstDash val="solid"/>
                    </a:lnL>
                    <a:lnR w="5715">
                      <a:solidFill>
                        <a:srgbClr val="D1DEE5"/>
                      </a:solidFill>
                      <a:prstDash val="solid"/>
                    </a:lnR>
                    <a:lnB w="5715">
                      <a:solidFill>
                        <a:srgbClr val="D1DEE5"/>
                      </a:solidFill>
                      <a:prstDash val="solid"/>
                    </a:lnB>
                    <a:solidFill>
                      <a:srgbClr val="FFFFFF"/>
                    </a:solidFill>
                  </a:tcPr>
                </a:tc>
                <a:tc>
                  <a:txBody>
                    <a:bodyPr lIns="85725" tIns="85725" rIns="85725" bIns="85725"/>
                    <a:lstStyle/>
                    <a:p>
                      <a:r>
                        <a:rPr sz="1725" b="0">
                          <a:solidFill>
                            <a:srgbClr val="17364A"/>
                          </a:solidFill>
                          <a:latin typeface="Arial"/>
                          <a:ea typeface="Arial"/>
                          <a:cs typeface="Arial"/>
                        </a:rPr>
                        <a:t>50 GB state, 20 GB audit mới/tháng, giữ 12 tháng</a:t>
                      </a:r>
                    </a:p>
                  </a:txBody>
                  <a:tcPr marL="91440" marR="91440" marT="45720" marB="45720" anchor="ctr">
                    <a:lnR w="5715">
                      <a:solidFill>
                        <a:srgbClr val="D1DEE5"/>
                      </a:solidFill>
                      <a:prstDash val="solid"/>
                    </a:lnR>
                    <a:lnB w="5715">
                      <a:solidFill>
                        <a:srgbClr val="D1DEE5"/>
                      </a:solidFill>
                      <a:prstDash val="solid"/>
                    </a:lnB>
                    <a:solidFill>
                      <a:srgbClr val="FFFFFF"/>
                    </a:solidFill>
                  </a:tcPr>
                </a:tc>
              </a:tr>
            </a:tbl>
          </a:graphicData>
        </a:graphic>
      </p:graphicFrame>
      <p:sp>
        <p:nvSpPr>
          <p:cNvPr id="7" name="text-24">
            <a:extLst xmlns:a="http://schemas.openxmlformats.org/drawingml/2006/main">
              <a:ext uri="{FF2B5EF4-FFF2-40B4-BE49-F238E27FC236}">
                <a16:creationId xmlns:a16="http://schemas.microsoft.com/office/drawing/2014/main" id="{AD90770E-B65A-47B6-9480-0D814F9EA4EF}"/>
              </a:ext>
            </a:extLst>
          </p:cNvPr>
          <p:cNvSpPr>
            <a:spLocks xmlns:a="http://schemas.openxmlformats.org/drawingml/2006/main" noGrp="1"/>
          </p:cNvSpPr>
          <p:nvPr/>
        </p:nvSpPr>
        <p:spPr>
          <a:xfrm xmlns:a="http://schemas.openxmlformats.org/drawingml/2006/main">
            <a:off x="533400" y="546735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087F83"/>
                </a:solidFill>
                <a:latin typeface="Arial"/>
                <a:ea typeface="Arial"/>
                <a:cs typeface="Arial"/>
              </a:defRPr>
            </a:defPPr>
          </a:lstStyle>
          <a:p xmlns:a="http://schemas.openxmlformats.org/drawingml/2006/main">
            <a:pPr algn="l">
              <a:defRPr sz="1950" b="1">
                <a:solidFill>
                  <a:srgbClr val="087F83"/>
                </a:solidFill>
                <a:latin typeface="Arial"/>
                <a:ea typeface="Arial"/>
                <a:cs typeface="Arial"/>
              </a:defRPr>
            </a:pPr>
            <a:r>
              <a:rPr sz="1950" b="1">
                <a:solidFill>
                  <a:srgbClr val="087F83"/>
                </a:solidFill>
                <a:latin typeface="Arial"/>
                <a:ea typeface="Arial"/>
                <a:cs typeface="Arial"/>
              </a:rPr>
              <a:t>Staging riêng</a:t>
            </a:r>
          </a:p>
        </p:txBody>
      </p:sp>
      <p:sp>
        <p:nvSpPr>
          <p:cNvPr id="8" name="text-25">
            <a:extLst xmlns:a="http://schemas.openxmlformats.org/drawingml/2006/main">
              <a:ext uri="{FF2B5EF4-FFF2-40B4-BE49-F238E27FC236}">
                <a16:creationId xmlns:a16="http://schemas.microsoft.com/office/drawing/2014/main" id="{37E2F5F8-5DE9-41B5-83C5-8FEE33CE6928}"/>
              </a:ext>
            </a:extLst>
          </p:cNvPr>
          <p:cNvSpPr>
            <a:spLocks xmlns:a="http://schemas.openxmlformats.org/drawingml/2006/main" noGrp="1"/>
          </p:cNvSpPr>
          <p:nvPr/>
        </p:nvSpPr>
        <p:spPr>
          <a:xfrm xmlns:a="http://schemas.openxmlformats.org/drawingml/2006/main">
            <a:off x="3476625" y="5467350"/>
            <a:ext cx="8096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87080"/>
                </a:solidFill>
                <a:latin typeface="Arial"/>
                <a:ea typeface="Arial"/>
                <a:cs typeface="Arial"/>
              </a:defRPr>
            </a:defPPr>
          </a:lstStyle>
          <a:p xmlns:a="http://schemas.openxmlformats.org/drawingml/2006/main">
            <a:pPr algn="l">
              <a:defRPr sz="1875" b="0">
                <a:solidFill>
                  <a:srgbClr val="587080"/>
                </a:solidFill>
                <a:latin typeface="Arial"/>
                <a:ea typeface="Arial"/>
                <a:cs typeface="Arial"/>
              </a:defRPr>
            </a:pPr>
            <a:r>
              <a:rPr sz="1875" b="0">
                <a:solidFill>
                  <a:srgbClr val="587080"/>
                </a:solidFill>
                <a:latin typeface="Arial"/>
                <a:ea typeface="Arial"/>
                <a:cs typeface="Arial"/>
              </a:rPr>
              <a:t>5% model/compute, 100 MAU, không warm capacity</a:t>
            </a:r>
          </a:p>
        </p:txBody>
      </p:sp>
    </p:spTree>
    <p:extLst>
      <p:ext uri="{BB962C8B-B14F-4D97-AF65-F5344CB8AC3E}">
        <p14:creationId xmlns:p14="http://schemas.microsoft.com/office/powerpoint/2010/main" val="156243504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4" name="">
            <a:extLst xmlns:a="http://schemas.openxmlformats.org/drawingml/2006/main">
              <a:ext uri="{FF2B5EF4-FFF2-40B4-BE49-F238E27FC236}">
                <a16:creationId xmlns:a16="http://schemas.microsoft.com/office/drawing/2014/main" id="{B533B385-6B9C-4A92-B250-8CBCFE194FD3}"/>
              </a:ext>
            </a:extLst>
          </p:cNvPr>
          <p:cNvCxnSpPr>
            <a:stCxn xmlns:a="http://schemas.openxmlformats.org/drawingml/2006/main" id="15" idx="3"/>
            <a:endCxn xmlns:a="http://schemas.openxmlformats.org/drawingml/2006/main" id="18" idx="1"/>
          </p:cNvCxnSpPr>
          <p:nvPr/>
        </p:nvCxnSpPr>
        <p:spPr>
          <a:xfrm xmlns:a="http://schemas.openxmlformats.org/drawingml/2006/main">
            <a:off x="9372600" y="1952625"/>
            <a:ext cx="152400" cy="0"/>
          </a:xfrm>
          <a:prstGeom xmlns:a="http://schemas.openxmlformats.org/drawingml/2006/main" prst="straightConnector1">
            <a:avLst/>
          </a:prstGeom>
          <a:ln xmlns:a="http://schemas.openxmlformats.org/drawingml/2006/main" w="19050">
            <a:solidFill>
              <a:srgbClr val="087F83"/>
            </a:solidFill>
            <a:prstDash val="solid"/>
            <a:tailEnd type="triangle" w="sm" len="sm"/>
          </a:ln>
        </p:spPr>
      </p:cxnSp>
      <p:cxnSp>
        <p:nvCxnSpPr>
          <p:cNvPr id="23" name="">
            <a:extLst xmlns:a="http://schemas.openxmlformats.org/drawingml/2006/main">
              <a:ext uri="{FF2B5EF4-FFF2-40B4-BE49-F238E27FC236}">
                <a16:creationId xmlns:a16="http://schemas.microsoft.com/office/drawing/2014/main" id="{C909EF1A-86B4-4299-A350-EC1E9CC7FD27}"/>
              </a:ext>
            </a:extLst>
          </p:cNvPr>
          <p:cNvCxnSpPr>
            <a:stCxn xmlns:a="http://schemas.openxmlformats.org/drawingml/2006/main" id="12" idx="3"/>
            <a:endCxn xmlns:a="http://schemas.openxmlformats.org/drawingml/2006/main" id="15" idx="1"/>
          </p:cNvCxnSpPr>
          <p:nvPr/>
        </p:nvCxnSpPr>
        <p:spPr>
          <a:xfrm xmlns:a="http://schemas.openxmlformats.org/drawingml/2006/main">
            <a:off x="7124700" y="1952625"/>
            <a:ext cx="152400" cy="0"/>
          </a:xfrm>
          <a:prstGeom xmlns:a="http://schemas.openxmlformats.org/drawingml/2006/main" prst="straightConnector1">
            <a:avLst/>
          </a:prstGeom>
          <a:ln xmlns:a="http://schemas.openxmlformats.org/drawingml/2006/main" w="19050">
            <a:solidFill>
              <a:srgbClr val="087F83"/>
            </a:solidFill>
            <a:prstDash val="solid"/>
            <a:tailEnd type="triangle" w="sm" len="sm"/>
          </a:ln>
        </p:spPr>
      </p:cxnSp>
      <p:cxnSp>
        <p:nvCxnSpPr>
          <p:cNvPr id="22" name="">
            <a:extLst xmlns:a="http://schemas.openxmlformats.org/drawingml/2006/main">
              <a:ext uri="{FF2B5EF4-FFF2-40B4-BE49-F238E27FC236}">
                <a16:creationId xmlns:a16="http://schemas.microsoft.com/office/drawing/2014/main" id="{6866292E-B5E7-48CD-A27B-C3642E26C79D}"/>
              </a:ext>
            </a:extLst>
          </p:cNvPr>
          <p:cNvCxnSpPr>
            <a:stCxn xmlns:a="http://schemas.openxmlformats.org/drawingml/2006/main" id="9" idx="3"/>
            <a:endCxn xmlns:a="http://schemas.openxmlformats.org/drawingml/2006/main" id="12" idx="1"/>
          </p:cNvCxnSpPr>
          <p:nvPr/>
        </p:nvCxnSpPr>
        <p:spPr>
          <a:xfrm xmlns:a="http://schemas.openxmlformats.org/drawingml/2006/main">
            <a:off x="4876800" y="1952625"/>
            <a:ext cx="152400" cy="0"/>
          </a:xfrm>
          <a:prstGeom xmlns:a="http://schemas.openxmlformats.org/drawingml/2006/main" prst="straightConnector1">
            <a:avLst/>
          </a:prstGeom>
          <a:ln xmlns:a="http://schemas.openxmlformats.org/drawingml/2006/main" w="19050">
            <a:solidFill>
              <a:srgbClr val="087F83"/>
            </a:solidFill>
            <a:prstDash val="solid"/>
            <a:tailEnd type="triangle" w="sm" len="sm"/>
          </a:ln>
        </p:spPr>
      </p:cxnSp>
      <p:cxnSp>
        <p:nvCxnSpPr>
          <p:cNvPr id="21" name="">
            <a:extLst xmlns:a="http://schemas.openxmlformats.org/drawingml/2006/main">
              <a:ext uri="{FF2B5EF4-FFF2-40B4-BE49-F238E27FC236}">
                <a16:creationId xmlns:a16="http://schemas.microsoft.com/office/drawing/2014/main" id="{137053A0-891F-43C5-8BC2-64D5C8F79836}"/>
              </a:ext>
            </a:extLst>
          </p:cNvPr>
          <p:cNvCxnSpPr>
            <a:stCxn xmlns:a="http://schemas.openxmlformats.org/drawingml/2006/main" id="6" idx="3"/>
            <a:endCxn xmlns:a="http://schemas.openxmlformats.org/drawingml/2006/main" id="9" idx="1"/>
          </p:cNvCxnSpPr>
          <p:nvPr/>
        </p:nvCxnSpPr>
        <p:spPr>
          <a:xfrm xmlns:a="http://schemas.openxmlformats.org/drawingml/2006/main">
            <a:off x="2628900" y="1952625"/>
            <a:ext cx="152400" cy="0"/>
          </a:xfrm>
          <a:prstGeom xmlns:a="http://schemas.openxmlformats.org/drawingml/2006/main" prst="straightConnector1">
            <a:avLst/>
          </a:prstGeom>
          <a:ln xmlns:a="http://schemas.openxmlformats.org/drawingml/2006/main" w="19050">
            <a:solidFill>
              <a:srgbClr val="087F83"/>
            </a:solidFill>
            <a:prstDash val="solid"/>
            <a:tailEnd type="triangle" w="sm" len="sm"/>
          </a:ln>
        </p:spPr>
      </p:cxnSp>
      <p:sp>
        <p:nvSpPr>
          <p:cNvPr id="75" name="shape-26">
            <a:extLst xmlns:a="http://schemas.openxmlformats.org/drawingml/2006/main">
              <a:ext uri="{FF2B5EF4-FFF2-40B4-BE49-F238E27FC236}">
                <a16:creationId xmlns:a16="http://schemas.microsoft.com/office/drawing/2014/main" id="{89422C9F-8437-44B2-8529-49E7CE27D2B1}"/>
              </a:ext>
            </a:extLst>
          </p:cNvPr>
          <p:cNvSpPr>
            <a:spLocks xmlns:a="http://schemas.openxmlformats.org/drawingml/2006/main" noGrp="1"/>
          </p:cNvSpPr>
          <p:nvPr/>
        </p:nvSpPr>
        <p:spPr>
          <a:xfrm xmlns:a="http://schemas.openxmlformats.org/drawingml/2006/main">
            <a:off x="533400" y="428625"/>
            <a:ext cx="419100" cy="47625"/>
          </a:xfrm>
          <a:prstGeom xmlns:a="http://schemas.openxmlformats.org/drawingml/2006/main" prst="rect">
            <a:avLst/>
          </a:prstGeom>
          <a:solidFill xmlns:a="http://schemas.openxmlformats.org/drawingml/2006/main">
            <a:srgbClr val="087F83"/>
          </a:solidFill>
          <a:ln xmlns:a="http://schemas.openxmlformats.org/drawingml/2006/main" w="0">
            <a:noFill/>
            <a:prstDash val="solid"/>
          </a:ln>
        </p:spPr>
      </p:sp>
      <p:sp>
        <p:nvSpPr>
          <p:cNvPr id="2" name="text-27">
            <a:extLst xmlns:a="http://schemas.openxmlformats.org/drawingml/2006/main">
              <a:ext uri="{FF2B5EF4-FFF2-40B4-BE49-F238E27FC236}">
                <a16:creationId xmlns:a16="http://schemas.microsoft.com/office/drawing/2014/main" id="{A24142B9-F765-4D7F-9829-B5D0085A3E2B}"/>
              </a:ext>
            </a:extLst>
          </p:cNvPr>
          <p:cNvSpPr>
            <a:spLocks xmlns:a="http://schemas.openxmlformats.org/drawingml/2006/main" noGrp="1"/>
          </p:cNvSpPr>
          <p:nvPr/>
        </p:nvSpPr>
        <p:spPr>
          <a:xfrm xmlns:a="http://schemas.openxmlformats.org/drawingml/2006/main">
            <a:off x="533400" y="657225"/>
            <a:ext cx="111252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7364A"/>
                </a:solidFill>
                <a:latin typeface="Arial"/>
                <a:ea typeface="Arial"/>
                <a:cs typeface="Arial"/>
              </a:defRPr>
            </a:defPPr>
          </a:lstStyle>
          <a:p xmlns:a="http://schemas.openxmlformats.org/drawingml/2006/main">
            <a:pPr algn="l">
              <a:defRPr sz="2700" b="1">
                <a:solidFill>
                  <a:srgbClr val="17364A"/>
                </a:solidFill>
                <a:latin typeface="Arial"/>
                <a:ea typeface="Arial"/>
                <a:cs typeface="Arial"/>
              </a:defRPr>
            </a:pPr>
            <a:r>
              <a:rPr sz="2700" b="1">
                <a:solidFill>
                  <a:srgbClr val="17364A"/>
                </a:solidFill>
                <a:latin typeface="Arial"/>
                <a:ea typeface="Arial"/>
                <a:cs typeface="Arial"/>
              </a:rPr>
              <a:t>Kiến trúc bao phủ đủ 19 component</a:t>
            </a:r>
          </a:p>
        </p:txBody>
      </p:sp>
      <p:sp>
        <p:nvSpPr>
          <p:cNvPr id="3" name="shape-28">
            <a:extLst xmlns:a="http://schemas.openxmlformats.org/drawingml/2006/main">
              <a:ext uri="{FF2B5EF4-FFF2-40B4-BE49-F238E27FC236}">
                <a16:creationId xmlns:a16="http://schemas.microsoft.com/office/drawing/2014/main" id="{650DB8DC-FDC0-4DA7-A496-C9F17A686B12}"/>
              </a:ext>
            </a:extLst>
          </p:cNvPr>
          <p:cNvSpPr>
            <a:spLocks xmlns:a="http://schemas.openxmlformats.org/drawingml/2006/main" noGrp="1"/>
          </p:cNvSpPr>
          <p:nvPr/>
        </p:nvSpPr>
        <p:spPr>
          <a:xfrm xmlns:a="http://schemas.openxmlformats.org/drawingml/2006/main">
            <a:off x="533400" y="6381750"/>
            <a:ext cx="11125200" cy="9525"/>
          </a:xfrm>
          <a:prstGeom xmlns:a="http://schemas.openxmlformats.org/drawingml/2006/main" prst="rect">
            <a:avLst/>
          </a:prstGeom>
          <a:solidFill xmlns:a="http://schemas.openxmlformats.org/drawingml/2006/main">
            <a:srgbClr val="D1DEE5"/>
          </a:solidFill>
          <a:ln xmlns:a="http://schemas.openxmlformats.org/drawingml/2006/main" w="0">
            <a:noFill/>
            <a:prstDash val="solid"/>
          </a:ln>
        </p:spPr>
      </p:sp>
      <p:sp>
        <p:nvSpPr>
          <p:cNvPr id="4" name="text-29">
            <a:extLst xmlns:a="http://schemas.openxmlformats.org/drawingml/2006/main">
              <a:ext uri="{FF2B5EF4-FFF2-40B4-BE49-F238E27FC236}">
                <a16:creationId xmlns:a16="http://schemas.microsoft.com/office/drawing/2014/main" id="{D51EC3F9-43AD-4EDB-8495-BA4EF92868C0}"/>
              </a:ext>
            </a:extLst>
          </p:cNvPr>
          <p:cNvSpPr>
            <a:spLocks xmlns:a="http://schemas.openxmlformats.org/drawingml/2006/main" noGrp="1"/>
          </p:cNvSpPr>
          <p:nvPr/>
        </p:nvSpPr>
        <p:spPr>
          <a:xfrm xmlns:a="http://schemas.openxmlformats.org/drawingml/2006/main">
            <a:off x="533400" y="651510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87080"/>
                </a:solidFill>
                <a:latin typeface="Arial"/>
                <a:ea typeface="Arial"/>
                <a:cs typeface="Arial"/>
              </a:defRPr>
            </a:defPPr>
          </a:lstStyle>
          <a:p xmlns:a="http://schemas.openxmlformats.org/drawingml/2006/main">
            <a:pPr algn="l">
              <a:defRPr sz="975" b="0">
                <a:solidFill>
                  <a:srgbClr val="587080"/>
                </a:solidFill>
                <a:latin typeface="Arial"/>
                <a:ea typeface="Arial"/>
                <a:cs typeface="Arial"/>
              </a:defRPr>
            </a:pPr>
            <a:r>
              <a:rPr sz="975" b="0">
                <a:solidFill>
                  <a:srgbClr val="587080"/>
                </a:solidFill>
                <a:latin typeface="Arial"/>
                <a:ea typeface="Arial"/>
                <a:cs typeface="Arial"/>
              </a:rPr>
              <a:t>G03  /  Eviaura</a:t>
            </a:r>
          </a:p>
        </p:txBody>
      </p:sp>
      <p:sp>
        <p:nvSpPr>
          <p:cNvPr id="5" name="text-30">
            <a:extLst xmlns:a="http://schemas.openxmlformats.org/drawingml/2006/main">
              <a:ext uri="{FF2B5EF4-FFF2-40B4-BE49-F238E27FC236}">
                <a16:creationId xmlns:a16="http://schemas.microsoft.com/office/drawing/2014/main" id="{1C1329ED-20DD-45DA-8347-4EF8AC39A0AB}"/>
              </a:ext>
            </a:extLst>
          </p:cNvPr>
          <p:cNvSpPr>
            <a:spLocks xmlns:a="http://schemas.openxmlformats.org/drawingml/2006/main" noGrp="1"/>
          </p:cNvSpPr>
          <p:nvPr/>
        </p:nvSpPr>
        <p:spPr>
          <a:xfrm xmlns:a="http://schemas.openxmlformats.org/drawingml/2006/main">
            <a:off x="11049000" y="6496050"/>
            <a:ext cx="609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050" b="0">
                <a:solidFill>
                  <a:srgbClr val="587080"/>
                </a:solidFill>
                <a:latin typeface="Arial"/>
                <a:ea typeface="Arial"/>
                <a:cs typeface="Arial"/>
              </a:defRPr>
            </a:defPPr>
          </a:lstStyle>
          <a:p xmlns:a="http://schemas.openxmlformats.org/drawingml/2006/main">
            <a:pPr algn="r">
              <a:defRPr sz="1050" b="0">
                <a:solidFill>
                  <a:srgbClr val="587080"/>
                </a:solidFill>
                <a:latin typeface="Arial"/>
                <a:ea typeface="Arial"/>
                <a:cs typeface="Arial"/>
              </a:defRPr>
            </a:pPr>
            <a:r>
              <a:rPr sz="1050" b="0">
                <a:solidFill>
                  <a:srgbClr val="587080"/>
                </a:solidFill>
                <a:latin typeface="Arial"/>
                <a:ea typeface="Arial"/>
                <a:cs typeface="Arial"/>
              </a:rPr>
              <a:t>04</a:t>
            </a:r>
          </a:p>
        </p:txBody>
      </p:sp>
      <p:sp>
        <p:nvSpPr>
          <p:cNvPr id="6" name="component-authn-31">
            <a:extLst xmlns:a="http://schemas.openxmlformats.org/drawingml/2006/main">
              <a:ext uri="{FF2B5EF4-FFF2-40B4-BE49-F238E27FC236}">
                <a16:creationId xmlns:a16="http://schemas.microsoft.com/office/drawing/2014/main" id="{1DAA7335-BAB8-4D1D-A39C-69849B36E6BF}"/>
              </a:ext>
            </a:extLst>
          </p:cNvPr>
          <p:cNvSpPr>
            <a:spLocks xmlns:a="http://schemas.openxmlformats.org/drawingml/2006/main" noGrp="1"/>
          </p:cNvSpPr>
          <p:nvPr/>
        </p:nvSpPr>
        <p:spPr>
          <a:xfrm xmlns:a="http://schemas.openxmlformats.org/drawingml/2006/main">
            <a:off x="533400" y="1581150"/>
            <a:ext cx="2095500" cy="742950"/>
          </a:xfrm>
          <a:prstGeom xmlns:a="http://schemas.openxmlformats.org/drawingml/2006/main" prst="rect">
            <a:avLst/>
          </a:prstGeom>
          <a:solidFill xmlns:a="http://schemas.openxmlformats.org/drawingml/2006/main">
            <a:srgbClr val="F4F8FA"/>
          </a:solidFill>
          <a:ln xmlns:a="http://schemas.openxmlformats.org/drawingml/2006/main" w="9525">
            <a:solidFill>
              <a:srgbClr val="D1DEE5"/>
            </a:solidFill>
            <a:prstDash val="solid"/>
          </a:ln>
        </p:spPr>
      </p:sp>
      <p:sp>
        <p:nvSpPr>
          <p:cNvPr id="7" name="text-32">
            <a:extLst xmlns:a="http://schemas.openxmlformats.org/drawingml/2006/main">
              <a:ext uri="{FF2B5EF4-FFF2-40B4-BE49-F238E27FC236}">
                <a16:creationId xmlns:a16="http://schemas.microsoft.com/office/drawing/2014/main" id="{76D7C3C2-F7E5-4C60-B701-C9AC4E0042B3}"/>
              </a:ext>
            </a:extLst>
          </p:cNvPr>
          <p:cNvSpPr>
            <a:spLocks xmlns:a="http://schemas.openxmlformats.org/drawingml/2006/main" noGrp="1"/>
          </p:cNvSpPr>
          <p:nvPr/>
        </p:nvSpPr>
        <p:spPr>
          <a:xfrm xmlns:a="http://schemas.openxmlformats.org/drawingml/2006/main">
            <a:off x="647700" y="1676400"/>
            <a:ext cx="1866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087F83"/>
                </a:solidFill>
                <a:latin typeface="Arial"/>
                <a:ea typeface="Arial"/>
                <a:cs typeface="Arial"/>
              </a:defRPr>
            </a:defPPr>
          </a:lstStyle>
          <a:p xmlns:a="http://schemas.openxmlformats.org/drawingml/2006/main">
            <a:pPr algn="l">
              <a:defRPr sz="1275" b="1">
                <a:solidFill>
                  <a:srgbClr val="087F83"/>
                </a:solidFill>
                <a:latin typeface="Arial"/>
                <a:ea typeface="Arial"/>
                <a:cs typeface="Arial"/>
              </a:defRPr>
            </a:pPr>
            <a:r>
              <a:rPr sz="1275" b="1">
                <a:solidFill>
                  <a:srgbClr val="087F83"/>
                </a:solidFill>
                <a:latin typeface="Arial"/>
                <a:ea typeface="Arial"/>
                <a:cs typeface="Arial"/>
              </a:rPr>
              <a:t>authn</a:t>
            </a:r>
          </a:p>
        </p:txBody>
      </p:sp>
      <p:sp>
        <p:nvSpPr>
          <p:cNvPr id="8" name="text-33">
            <a:extLst xmlns:a="http://schemas.openxmlformats.org/drawingml/2006/main">
              <a:ext uri="{FF2B5EF4-FFF2-40B4-BE49-F238E27FC236}">
                <a16:creationId xmlns:a16="http://schemas.microsoft.com/office/drawing/2014/main" id="{6D261610-37B0-42E5-B06F-0739D06A8162}"/>
              </a:ext>
            </a:extLst>
          </p:cNvPr>
          <p:cNvSpPr>
            <a:spLocks xmlns:a="http://schemas.openxmlformats.org/drawingml/2006/main" noGrp="1"/>
          </p:cNvSpPr>
          <p:nvPr/>
        </p:nvSpPr>
        <p:spPr>
          <a:xfrm xmlns:a="http://schemas.openxmlformats.org/drawingml/2006/main">
            <a:off x="647700" y="1924050"/>
            <a:ext cx="1866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17364A"/>
                </a:solidFill>
                <a:latin typeface="Arial"/>
                <a:ea typeface="Arial"/>
                <a:cs typeface="Arial"/>
              </a:defRPr>
            </a:defPPr>
          </a:lstStyle>
          <a:p xmlns:a="http://schemas.openxmlformats.org/drawingml/2006/main">
            <a:pPr algn="l">
              <a:defRPr sz="1425" b="0">
                <a:solidFill>
                  <a:srgbClr val="17364A"/>
                </a:solidFill>
                <a:latin typeface="Arial"/>
                <a:ea typeface="Arial"/>
                <a:cs typeface="Arial"/>
              </a:defRPr>
            </a:pPr>
            <a:r>
              <a:rPr sz="1425" b="0">
                <a:solidFill>
                  <a:srgbClr val="17364A"/>
                </a:solidFill>
                <a:latin typeface="Arial"/>
                <a:ea typeface="Arial"/>
                <a:cs typeface="Arial"/>
              </a:rPr>
              <a:t>SSO + Cognito</a:t>
            </a:r>
          </a:p>
        </p:txBody>
      </p:sp>
      <p:sp>
        <p:nvSpPr>
          <p:cNvPr id="9" name="component-load_balancer-34">
            <a:extLst xmlns:a="http://schemas.openxmlformats.org/drawingml/2006/main">
              <a:ext uri="{FF2B5EF4-FFF2-40B4-BE49-F238E27FC236}">
                <a16:creationId xmlns:a16="http://schemas.microsoft.com/office/drawing/2014/main" id="{75157D2B-4DD8-47CE-AAC2-D126E8C8465B}"/>
              </a:ext>
            </a:extLst>
          </p:cNvPr>
          <p:cNvSpPr>
            <a:spLocks xmlns:a="http://schemas.openxmlformats.org/drawingml/2006/main" noGrp="1"/>
          </p:cNvSpPr>
          <p:nvPr/>
        </p:nvSpPr>
        <p:spPr>
          <a:xfrm xmlns:a="http://schemas.openxmlformats.org/drawingml/2006/main">
            <a:off x="2781300" y="1581150"/>
            <a:ext cx="2095500" cy="742950"/>
          </a:xfrm>
          <a:prstGeom xmlns:a="http://schemas.openxmlformats.org/drawingml/2006/main" prst="rect">
            <a:avLst/>
          </a:prstGeom>
          <a:solidFill xmlns:a="http://schemas.openxmlformats.org/drawingml/2006/main">
            <a:srgbClr val="F4F8FA"/>
          </a:solidFill>
          <a:ln xmlns:a="http://schemas.openxmlformats.org/drawingml/2006/main" w="9525">
            <a:solidFill>
              <a:srgbClr val="D1DEE5"/>
            </a:solidFill>
            <a:prstDash val="solid"/>
          </a:ln>
        </p:spPr>
      </p:sp>
      <p:sp>
        <p:nvSpPr>
          <p:cNvPr id="10" name="text-35">
            <a:extLst xmlns:a="http://schemas.openxmlformats.org/drawingml/2006/main">
              <a:ext uri="{FF2B5EF4-FFF2-40B4-BE49-F238E27FC236}">
                <a16:creationId xmlns:a16="http://schemas.microsoft.com/office/drawing/2014/main" id="{476C35BB-4C13-4A80-A522-E26ABBB9B2C0}"/>
              </a:ext>
            </a:extLst>
          </p:cNvPr>
          <p:cNvSpPr>
            <a:spLocks xmlns:a="http://schemas.openxmlformats.org/drawingml/2006/main" noGrp="1"/>
          </p:cNvSpPr>
          <p:nvPr/>
        </p:nvSpPr>
        <p:spPr>
          <a:xfrm xmlns:a="http://schemas.openxmlformats.org/drawingml/2006/main">
            <a:off x="2895600" y="1676400"/>
            <a:ext cx="1866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087F83"/>
                </a:solidFill>
                <a:latin typeface="Arial"/>
                <a:ea typeface="Arial"/>
                <a:cs typeface="Arial"/>
              </a:defRPr>
            </a:defPPr>
          </a:lstStyle>
          <a:p xmlns:a="http://schemas.openxmlformats.org/drawingml/2006/main">
            <a:pPr algn="l">
              <a:defRPr sz="1275" b="1">
                <a:solidFill>
                  <a:srgbClr val="087F83"/>
                </a:solidFill>
                <a:latin typeface="Arial"/>
                <a:ea typeface="Arial"/>
                <a:cs typeface="Arial"/>
              </a:defRPr>
            </a:pPr>
            <a:r>
              <a:rPr sz="1275" b="1">
                <a:solidFill>
                  <a:srgbClr val="087F83"/>
                </a:solidFill>
                <a:latin typeface="Arial"/>
                <a:ea typeface="Arial"/>
                <a:cs typeface="Arial"/>
              </a:rPr>
              <a:t>load_balancer</a:t>
            </a:r>
          </a:p>
        </p:txBody>
      </p:sp>
      <p:sp>
        <p:nvSpPr>
          <p:cNvPr id="11" name="text-36">
            <a:extLst xmlns:a="http://schemas.openxmlformats.org/drawingml/2006/main">
              <a:ext uri="{FF2B5EF4-FFF2-40B4-BE49-F238E27FC236}">
                <a16:creationId xmlns:a16="http://schemas.microsoft.com/office/drawing/2014/main" id="{F9EE0AE5-61A1-4DE0-9950-662DEA1BAE2A}"/>
              </a:ext>
            </a:extLst>
          </p:cNvPr>
          <p:cNvSpPr>
            <a:spLocks xmlns:a="http://schemas.openxmlformats.org/drawingml/2006/main" noGrp="1"/>
          </p:cNvSpPr>
          <p:nvPr/>
        </p:nvSpPr>
        <p:spPr>
          <a:xfrm xmlns:a="http://schemas.openxmlformats.org/drawingml/2006/main">
            <a:off x="2895600" y="1924050"/>
            <a:ext cx="1866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17364A"/>
                </a:solidFill>
                <a:latin typeface="Arial"/>
                <a:ea typeface="Arial"/>
                <a:cs typeface="Arial"/>
              </a:defRPr>
            </a:defPPr>
          </a:lstStyle>
          <a:p xmlns:a="http://schemas.openxmlformats.org/drawingml/2006/main">
            <a:pPr algn="l">
              <a:defRPr sz="1425" b="0">
                <a:solidFill>
                  <a:srgbClr val="17364A"/>
                </a:solidFill>
                <a:latin typeface="Arial"/>
                <a:ea typeface="Arial"/>
                <a:cs typeface="Arial"/>
              </a:defRPr>
            </a:pPr>
            <a:r>
              <a:rPr sz="1425" b="0">
                <a:solidFill>
                  <a:srgbClr val="17364A"/>
                </a:solidFill>
                <a:latin typeface="Arial"/>
                <a:ea typeface="Arial"/>
                <a:cs typeface="Arial"/>
              </a:rPr>
              <a:t>REST regional TLS</a:t>
            </a:r>
          </a:p>
        </p:txBody>
      </p:sp>
      <p:sp>
        <p:nvSpPr>
          <p:cNvPr id="12" name="component-gateway-37">
            <a:extLst xmlns:a="http://schemas.openxmlformats.org/drawingml/2006/main">
              <a:ext uri="{FF2B5EF4-FFF2-40B4-BE49-F238E27FC236}">
                <a16:creationId xmlns:a16="http://schemas.microsoft.com/office/drawing/2014/main" id="{1337EF19-89BB-4FA2-B168-5F0F57CA852A}"/>
              </a:ext>
            </a:extLst>
          </p:cNvPr>
          <p:cNvSpPr>
            <a:spLocks xmlns:a="http://schemas.openxmlformats.org/drawingml/2006/main" noGrp="1"/>
          </p:cNvSpPr>
          <p:nvPr/>
        </p:nvSpPr>
        <p:spPr>
          <a:xfrm xmlns:a="http://schemas.openxmlformats.org/drawingml/2006/main">
            <a:off x="5029200" y="1581150"/>
            <a:ext cx="2095500" cy="742950"/>
          </a:xfrm>
          <a:prstGeom xmlns:a="http://schemas.openxmlformats.org/drawingml/2006/main" prst="rect">
            <a:avLst/>
          </a:prstGeom>
          <a:solidFill xmlns:a="http://schemas.openxmlformats.org/drawingml/2006/main">
            <a:srgbClr val="F4F8FA"/>
          </a:solidFill>
          <a:ln xmlns:a="http://schemas.openxmlformats.org/drawingml/2006/main" w="9525">
            <a:solidFill>
              <a:srgbClr val="D1DEE5"/>
            </a:solidFill>
            <a:prstDash val="solid"/>
          </a:ln>
        </p:spPr>
      </p:sp>
      <p:sp>
        <p:nvSpPr>
          <p:cNvPr id="13" name="text-38">
            <a:extLst xmlns:a="http://schemas.openxmlformats.org/drawingml/2006/main">
              <a:ext uri="{FF2B5EF4-FFF2-40B4-BE49-F238E27FC236}">
                <a16:creationId xmlns:a16="http://schemas.microsoft.com/office/drawing/2014/main" id="{0F844A60-9451-4669-A6A7-9E0F2E114D3B}"/>
              </a:ext>
            </a:extLst>
          </p:cNvPr>
          <p:cNvSpPr>
            <a:spLocks xmlns:a="http://schemas.openxmlformats.org/drawingml/2006/main" noGrp="1"/>
          </p:cNvSpPr>
          <p:nvPr/>
        </p:nvSpPr>
        <p:spPr>
          <a:xfrm xmlns:a="http://schemas.openxmlformats.org/drawingml/2006/main">
            <a:off x="5143500" y="1676400"/>
            <a:ext cx="1866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087F83"/>
                </a:solidFill>
                <a:latin typeface="Arial"/>
                <a:ea typeface="Arial"/>
                <a:cs typeface="Arial"/>
              </a:defRPr>
            </a:defPPr>
          </a:lstStyle>
          <a:p xmlns:a="http://schemas.openxmlformats.org/drawingml/2006/main">
            <a:pPr algn="l">
              <a:defRPr sz="1275" b="1">
                <a:solidFill>
                  <a:srgbClr val="087F83"/>
                </a:solidFill>
                <a:latin typeface="Arial"/>
                <a:ea typeface="Arial"/>
                <a:cs typeface="Arial"/>
              </a:defRPr>
            </a:pPr>
            <a:r>
              <a:rPr sz="1275" b="1">
                <a:solidFill>
                  <a:srgbClr val="087F83"/>
                </a:solidFill>
                <a:latin typeface="Arial"/>
                <a:ea typeface="Arial"/>
                <a:cs typeface="Arial"/>
              </a:rPr>
              <a:t>gateway</a:t>
            </a:r>
          </a:p>
        </p:txBody>
      </p:sp>
      <p:sp>
        <p:nvSpPr>
          <p:cNvPr id="14" name="text-39">
            <a:extLst xmlns:a="http://schemas.openxmlformats.org/drawingml/2006/main">
              <a:ext uri="{FF2B5EF4-FFF2-40B4-BE49-F238E27FC236}">
                <a16:creationId xmlns:a16="http://schemas.microsoft.com/office/drawing/2014/main" id="{7759F1D3-0160-413D-9818-A207B56D66CC}"/>
              </a:ext>
            </a:extLst>
          </p:cNvPr>
          <p:cNvSpPr>
            <a:spLocks xmlns:a="http://schemas.openxmlformats.org/drawingml/2006/main" noGrp="1"/>
          </p:cNvSpPr>
          <p:nvPr/>
        </p:nvSpPr>
        <p:spPr>
          <a:xfrm xmlns:a="http://schemas.openxmlformats.org/drawingml/2006/main">
            <a:off x="5143500" y="1924050"/>
            <a:ext cx="1866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17364A"/>
                </a:solidFill>
                <a:latin typeface="Arial"/>
                <a:ea typeface="Arial"/>
                <a:cs typeface="Arial"/>
              </a:defRPr>
            </a:defPPr>
          </a:lstStyle>
          <a:p xmlns:a="http://schemas.openxmlformats.org/drawingml/2006/main">
            <a:pPr algn="l">
              <a:defRPr sz="1425" b="0">
                <a:solidFill>
                  <a:srgbClr val="17364A"/>
                </a:solidFill>
                <a:latin typeface="Arial"/>
                <a:ea typeface="Arial"/>
                <a:cs typeface="Arial"/>
              </a:defRPr>
            </a:pPr>
            <a:r>
              <a:rPr sz="1425" b="0">
                <a:solidFill>
                  <a:srgbClr val="17364A"/>
                </a:solidFill>
                <a:latin typeface="Arial"/>
                <a:ea typeface="Arial"/>
                <a:cs typeface="Arial"/>
              </a:rPr>
              <a:t>Auth, quota, router</a:t>
            </a:r>
          </a:p>
        </p:txBody>
      </p:sp>
      <p:sp>
        <p:nvSpPr>
          <p:cNvPr id="15" name="component-compute-40">
            <a:extLst xmlns:a="http://schemas.openxmlformats.org/drawingml/2006/main">
              <a:ext uri="{FF2B5EF4-FFF2-40B4-BE49-F238E27FC236}">
                <a16:creationId xmlns:a16="http://schemas.microsoft.com/office/drawing/2014/main" id="{B675C024-49BF-4A7C-A65E-73E75F1F1B2A}"/>
              </a:ext>
            </a:extLst>
          </p:cNvPr>
          <p:cNvSpPr>
            <a:spLocks xmlns:a="http://schemas.openxmlformats.org/drawingml/2006/main" noGrp="1"/>
          </p:cNvSpPr>
          <p:nvPr/>
        </p:nvSpPr>
        <p:spPr>
          <a:xfrm xmlns:a="http://schemas.openxmlformats.org/drawingml/2006/main">
            <a:off x="7277100" y="1581150"/>
            <a:ext cx="2095500" cy="742950"/>
          </a:xfrm>
          <a:prstGeom xmlns:a="http://schemas.openxmlformats.org/drawingml/2006/main" prst="rect">
            <a:avLst/>
          </a:prstGeom>
          <a:solidFill xmlns:a="http://schemas.openxmlformats.org/drawingml/2006/main">
            <a:srgbClr val="F4F8FA"/>
          </a:solidFill>
          <a:ln xmlns:a="http://schemas.openxmlformats.org/drawingml/2006/main" w="9525">
            <a:solidFill>
              <a:srgbClr val="D1DEE5"/>
            </a:solidFill>
            <a:prstDash val="solid"/>
          </a:ln>
        </p:spPr>
      </p:sp>
      <p:sp>
        <p:nvSpPr>
          <p:cNvPr id="16" name="text-41">
            <a:extLst xmlns:a="http://schemas.openxmlformats.org/drawingml/2006/main">
              <a:ext uri="{FF2B5EF4-FFF2-40B4-BE49-F238E27FC236}">
                <a16:creationId xmlns:a16="http://schemas.microsoft.com/office/drawing/2014/main" id="{DCADB7E6-F30A-4CA5-AB5D-3EB710950826}"/>
              </a:ext>
            </a:extLst>
          </p:cNvPr>
          <p:cNvSpPr>
            <a:spLocks xmlns:a="http://schemas.openxmlformats.org/drawingml/2006/main" noGrp="1"/>
          </p:cNvSpPr>
          <p:nvPr/>
        </p:nvSpPr>
        <p:spPr>
          <a:xfrm xmlns:a="http://schemas.openxmlformats.org/drawingml/2006/main">
            <a:off x="7391400" y="1676400"/>
            <a:ext cx="1866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087F83"/>
                </a:solidFill>
                <a:latin typeface="Arial"/>
                <a:ea typeface="Arial"/>
                <a:cs typeface="Arial"/>
              </a:defRPr>
            </a:defPPr>
          </a:lstStyle>
          <a:p xmlns:a="http://schemas.openxmlformats.org/drawingml/2006/main">
            <a:pPr algn="l">
              <a:defRPr sz="1275" b="1">
                <a:solidFill>
                  <a:srgbClr val="087F83"/>
                </a:solidFill>
                <a:latin typeface="Arial"/>
                <a:ea typeface="Arial"/>
                <a:cs typeface="Arial"/>
              </a:defRPr>
            </a:pPr>
            <a:r>
              <a:rPr sz="1275" b="1">
                <a:solidFill>
                  <a:srgbClr val="087F83"/>
                </a:solidFill>
                <a:latin typeface="Arial"/>
                <a:ea typeface="Arial"/>
                <a:cs typeface="Arial"/>
              </a:rPr>
              <a:t>compute</a:t>
            </a:r>
          </a:p>
        </p:txBody>
      </p:sp>
      <p:sp>
        <p:nvSpPr>
          <p:cNvPr id="17" name="text-42">
            <a:extLst xmlns:a="http://schemas.openxmlformats.org/drawingml/2006/main">
              <a:ext uri="{FF2B5EF4-FFF2-40B4-BE49-F238E27FC236}">
                <a16:creationId xmlns:a16="http://schemas.microsoft.com/office/drawing/2014/main" id="{EC325AE0-0107-4366-A9A2-FC24367A4D4B}"/>
              </a:ext>
            </a:extLst>
          </p:cNvPr>
          <p:cNvSpPr>
            <a:spLocks xmlns:a="http://schemas.openxmlformats.org/drawingml/2006/main" noGrp="1"/>
          </p:cNvSpPr>
          <p:nvPr/>
        </p:nvSpPr>
        <p:spPr>
          <a:xfrm xmlns:a="http://schemas.openxmlformats.org/drawingml/2006/main">
            <a:off x="7391400" y="1924050"/>
            <a:ext cx="1866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17364A"/>
                </a:solidFill>
                <a:latin typeface="Arial"/>
                <a:ea typeface="Arial"/>
                <a:cs typeface="Arial"/>
              </a:defRPr>
            </a:defPPr>
          </a:lstStyle>
          <a:p xmlns:a="http://schemas.openxmlformats.org/drawingml/2006/main">
            <a:pPr algn="l">
              <a:defRPr sz="1425" b="0">
                <a:solidFill>
                  <a:srgbClr val="17364A"/>
                </a:solidFill>
                <a:latin typeface="Arial"/>
                <a:ea typeface="Arial"/>
                <a:cs typeface="Arial"/>
              </a:defRPr>
            </a:pPr>
            <a:r>
              <a:rPr sz="1425" b="0">
                <a:solidFill>
                  <a:srgbClr val="17364A"/>
                </a:solidFill>
                <a:latin typeface="Arial"/>
                <a:ea typeface="Arial"/>
                <a:cs typeface="Arial"/>
              </a:rPr>
              <a:t>Lambda ARM</a:t>
            </a:r>
          </a:p>
        </p:txBody>
      </p:sp>
      <p:sp>
        <p:nvSpPr>
          <p:cNvPr id="18" name="component-llm-43">
            <a:extLst xmlns:a="http://schemas.openxmlformats.org/drawingml/2006/main">
              <a:ext uri="{FF2B5EF4-FFF2-40B4-BE49-F238E27FC236}">
                <a16:creationId xmlns:a16="http://schemas.microsoft.com/office/drawing/2014/main" id="{CB1C61CE-349D-4DA1-90B5-85DE444E0F56}"/>
              </a:ext>
            </a:extLst>
          </p:cNvPr>
          <p:cNvSpPr>
            <a:spLocks xmlns:a="http://schemas.openxmlformats.org/drawingml/2006/main" noGrp="1"/>
          </p:cNvSpPr>
          <p:nvPr/>
        </p:nvSpPr>
        <p:spPr>
          <a:xfrm xmlns:a="http://schemas.openxmlformats.org/drawingml/2006/main">
            <a:off x="9525000" y="1581150"/>
            <a:ext cx="2095500" cy="742950"/>
          </a:xfrm>
          <a:prstGeom xmlns:a="http://schemas.openxmlformats.org/drawingml/2006/main" prst="rect">
            <a:avLst/>
          </a:prstGeom>
          <a:solidFill xmlns:a="http://schemas.openxmlformats.org/drawingml/2006/main">
            <a:srgbClr val="F4F8FA"/>
          </a:solidFill>
          <a:ln xmlns:a="http://schemas.openxmlformats.org/drawingml/2006/main" w="9525">
            <a:solidFill>
              <a:srgbClr val="D1DEE5"/>
            </a:solidFill>
            <a:prstDash val="solid"/>
          </a:ln>
        </p:spPr>
      </p:sp>
      <p:sp>
        <p:nvSpPr>
          <p:cNvPr id="19" name="text-44">
            <a:extLst xmlns:a="http://schemas.openxmlformats.org/drawingml/2006/main">
              <a:ext uri="{FF2B5EF4-FFF2-40B4-BE49-F238E27FC236}">
                <a16:creationId xmlns:a16="http://schemas.microsoft.com/office/drawing/2014/main" id="{CB7EB48B-EA0A-4A91-B822-873F1B8AE9F8}"/>
              </a:ext>
            </a:extLst>
          </p:cNvPr>
          <p:cNvSpPr>
            <a:spLocks xmlns:a="http://schemas.openxmlformats.org/drawingml/2006/main" noGrp="1"/>
          </p:cNvSpPr>
          <p:nvPr/>
        </p:nvSpPr>
        <p:spPr>
          <a:xfrm xmlns:a="http://schemas.openxmlformats.org/drawingml/2006/main">
            <a:off x="9639300" y="1676400"/>
            <a:ext cx="1866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087F83"/>
                </a:solidFill>
                <a:latin typeface="Arial"/>
                <a:ea typeface="Arial"/>
                <a:cs typeface="Arial"/>
              </a:defRPr>
            </a:defPPr>
          </a:lstStyle>
          <a:p xmlns:a="http://schemas.openxmlformats.org/drawingml/2006/main">
            <a:pPr algn="l">
              <a:defRPr sz="1275" b="1">
                <a:solidFill>
                  <a:srgbClr val="087F83"/>
                </a:solidFill>
                <a:latin typeface="Arial"/>
                <a:ea typeface="Arial"/>
                <a:cs typeface="Arial"/>
              </a:defRPr>
            </a:pPr>
            <a:r>
              <a:rPr sz="1275" b="1">
                <a:solidFill>
                  <a:srgbClr val="087F83"/>
                </a:solidFill>
                <a:latin typeface="Arial"/>
                <a:ea typeface="Arial"/>
                <a:cs typeface="Arial"/>
              </a:rPr>
              <a:t>llm</a:t>
            </a:r>
          </a:p>
        </p:txBody>
      </p:sp>
      <p:sp>
        <p:nvSpPr>
          <p:cNvPr id="20" name="text-45">
            <a:extLst xmlns:a="http://schemas.openxmlformats.org/drawingml/2006/main">
              <a:ext uri="{FF2B5EF4-FFF2-40B4-BE49-F238E27FC236}">
                <a16:creationId xmlns:a16="http://schemas.microsoft.com/office/drawing/2014/main" id="{2D76C8B5-9F52-4541-AEBA-445CAAF3A48C}"/>
              </a:ext>
            </a:extLst>
          </p:cNvPr>
          <p:cNvSpPr>
            <a:spLocks xmlns:a="http://schemas.openxmlformats.org/drawingml/2006/main" noGrp="1"/>
          </p:cNvSpPr>
          <p:nvPr/>
        </p:nvSpPr>
        <p:spPr>
          <a:xfrm xmlns:a="http://schemas.openxmlformats.org/drawingml/2006/main">
            <a:off x="9639300" y="1924050"/>
            <a:ext cx="1866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17364A"/>
                </a:solidFill>
                <a:latin typeface="Arial"/>
                <a:ea typeface="Arial"/>
                <a:cs typeface="Arial"/>
              </a:defRPr>
            </a:defPPr>
          </a:lstStyle>
          <a:p xmlns:a="http://schemas.openxmlformats.org/drawingml/2006/main">
            <a:pPr algn="l">
              <a:defRPr sz="1425" b="0">
                <a:solidFill>
                  <a:srgbClr val="17364A"/>
                </a:solidFill>
                <a:latin typeface="Arial"/>
                <a:ea typeface="Arial"/>
                <a:cs typeface="Arial"/>
              </a:defRPr>
            </a:pPr>
            <a:r>
              <a:rPr sz="1425" b="0">
                <a:solidFill>
                  <a:srgbClr val="17364A"/>
                </a:solidFill>
                <a:latin typeface="Arial"/>
                <a:ea typeface="Arial"/>
                <a:cs typeface="Arial"/>
              </a:rPr>
              <a:t>Bedrock APIs</a:t>
            </a:r>
          </a:p>
        </p:txBody>
      </p:sp>
      <p:sp>
        <p:nvSpPr>
          <p:cNvPr id="25" name="component-authz-46">
            <a:extLst xmlns:a="http://schemas.openxmlformats.org/drawingml/2006/main">
              <a:ext uri="{FF2B5EF4-FFF2-40B4-BE49-F238E27FC236}">
                <a16:creationId xmlns:a16="http://schemas.microsoft.com/office/drawing/2014/main" id="{6CFAFC49-E9E4-4082-981A-DD7C29AF416A}"/>
              </a:ext>
            </a:extLst>
          </p:cNvPr>
          <p:cNvSpPr>
            <a:spLocks xmlns:a="http://schemas.openxmlformats.org/drawingml/2006/main" noGrp="1"/>
          </p:cNvSpPr>
          <p:nvPr/>
        </p:nvSpPr>
        <p:spPr>
          <a:xfrm xmlns:a="http://schemas.openxmlformats.org/drawingml/2006/main">
            <a:off x="533400" y="2781300"/>
            <a:ext cx="2095500" cy="742950"/>
          </a:xfrm>
          <a:prstGeom xmlns:a="http://schemas.openxmlformats.org/drawingml/2006/main" prst="rect">
            <a:avLst/>
          </a:prstGeom>
          <a:solidFill xmlns:a="http://schemas.openxmlformats.org/drawingml/2006/main">
            <a:srgbClr val="F4F8FA"/>
          </a:solidFill>
          <a:ln xmlns:a="http://schemas.openxmlformats.org/drawingml/2006/main" w="9525">
            <a:solidFill>
              <a:srgbClr val="D1DEE5"/>
            </a:solidFill>
            <a:prstDash val="solid"/>
          </a:ln>
        </p:spPr>
      </p:sp>
      <p:sp>
        <p:nvSpPr>
          <p:cNvPr id="26" name="text-47">
            <a:extLst xmlns:a="http://schemas.openxmlformats.org/drawingml/2006/main">
              <a:ext uri="{FF2B5EF4-FFF2-40B4-BE49-F238E27FC236}">
                <a16:creationId xmlns:a16="http://schemas.microsoft.com/office/drawing/2014/main" id="{F89BE694-8344-406C-96AA-2E485E5901DE}"/>
              </a:ext>
            </a:extLst>
          </p:cNvPr>
          <p:cNvSpPr>
            <a:spLocks xmlns:a="http://schemas.openxmlformats.org/drawingml/2006/main" noGrp="1"/>
          </p:cNvSpPr>
          <p:nvPr/>
        </p:nvSpPr>
        <p:spPr>
          <a:xfrm xmlns:a="http://schemas.openxmlformats.org/drawingml/2006/main">
            <a:off x="647700" y="2876550"/>
            <a:ext cx="1866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087F83"/>
                </a:solidFill>
                <a:latin typeface="Arial"/>
                <a:ea typeface="Arial"/>
                <a:cs typeface="Arial"/>
              </a:defRPr>
            </a:defPPr>
          </a:lstStyle>
          <a:p xmlns:a="http://schemas.openxmlformats.org/drawingml/2006/main">
            <a:pPr algn="l">
              <a:defRPr sz="1275" b="1">
                <a:solidFill>
                  <a:srgbClr val="087F83"/>
                </a:solidFill>
                <a:latin typeface="Arial"/>
                <a:ea typeface="Arial"/>
                <a:cs typeface="Arial"/>
              </a:defRPr>
            </a:pPr>
            <a:r>
              <a:rPr sz="1275" b="1">
                <a:solidFill>
                  <a:srgbClr val="087F83"/>
                </a:solidFill>
                <a:latin typeface="Arial"/>
                <a:ea typeface="Arial"/>
                <a:cs typeface="Arial"/>
              </a:rPr>
              <a:t>authz</a:t>
            </a:r>
          </a:p>
        </p:txBody>
      </p:sp>
      <p:sp>
        <p:nvSpPr>
          <p:cNvPr id="27" name="text-48">
            <a:extLst xmlns:a="http://schemas.openxmlformats.org/drawingml/2006/main">
              <a:ext uri="{FF2B5EF4-FFF2-40B4-BE49-F238E27FC236}">
                <a16:creationId xmlns:a16="http://schemas.microsoft.com/office/drawing/2014/main" id="{A41EFC76-3795-480A-AE9A-8444F2FE5B86}"/>
              </a:ext>
            </a:extLst>
          </p:cNvPr>
          <p:cNvSpPr>
            <a:spLocks xmlns:a="http://schemas.openxmlformats.org/drawingml/2006/main" noGrp="1"/>
          </p:cNvSpPr>
          <p:nvPr/>
        </p:nvSpPr>
        <p:spPr>
          <a:xfrm xmlns:a="http://schemas.openxmlformats.org/drawingml/2006/main">
            <a:off x="647700" y="3124200"/>
            <a:ext cx="1866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17364A"/>
                </a:solidFill>
                <a:latin typeface="Arial"/>
                <a:ea typeface="Arial"/>
                <a:cs typeface="Arial"/>
              </a:defRPr>
            </a:defPPr>
          </a:lstStyle>
          <a:p xmlns:a="http://schemas.openxmlformats.org/drawingml/2006/main">
            <a:pPr algn="l">
              <a:defRPr sz="1425" b="0">
                <a:solidFill>
                  <a:srgbClr val="17364A"/>
                </a:solidFill>
                <a:latin typeface="Arial"/>
                <a:ea typeface="Arial"/>
                <a:cs typeface="Arial"/>
              </a:defRPr>
            </a:pPr>
            <a:r>
              <a:rPr sz="1425" b="0">
                <a:solidFill>
                  <a:srgbClr val="17364A"/>
                </a:solidFill>
                <a:latin typeface="Arial"/>
                <a:ea typeface="Arial"/>
                <a:cs typeface="Arial"/>
              </a:rPr>
              <a:t>RBAC / ABAC + ACL</a:t>
            </a:r>
          </a:p>
        </p:txBody>
      </p:sp>
      <p:sp>
        <p:nvSpPr>
          <p:cNvPr id="28" name="component-database-49">
            <a:extLst xmlns:a="http://schemas.openxmlformats.org/drawingml/2006/main">
              <a:ext uri="{FF2B5EF4-FFF2-40B4-BE49-F238E27FC236}">
                <a16:creationId xmlns:a16="http://schemas.microsoft.com/office/drawing/2014/main" id="{EA8E6EB7-6D82-497B-A241-6505186BA872}"/>
              </a:ext>
            </a:extLst>
          </p:cNvPr>
          <p:cNvSpPr>
            <a:spLocks xmlns:a="http://schemas.openxmlformats.org/drawingml/2006/main" noGrp="1"/>
          </p:cNvSpPr>
          <p:nvPr/>
        </p:nvSpPr>
        <p:spPr>
          <a:xfrm xmlns:a="http://schemas.openxmlformats.org/drawingml/2006/main">
            <a:off x="2781300" y="2781300"/>
            <a:ext cx="2095500" cy="742950"/>
          </a:xfrm>
          <a:prstGeom xmlns:a="http://schemas.openxmlformats.org/drawingml/2006/main" prst="rect">
            <a:avLst/>
          </a:prstGeom>
          <a:solidFill xmlns:a="http://schemas.openxmlformats.org/drawingml/2006/main">
            <a:srgbClr val="F4F8FA"/>
          </a:solidFill>
          <a:ln xmlns:a="http://schemas.openxmlformats.org/drawingml/2006/main" w="9525">
            <a:solidFill>
              <a:srgbClr val="D1DEE5"/>
            </a:solidFill>
            <a:prstDash val="solid"/>
          </a:ln>
        </p:spPr>
      </p:sp>
      <p:sp>
        <p:nvSpPr>
          <p:cNvPr id="29" name="text-50">
            <a:extLst xmlns:a="http://schemas.openxmlformats.org/drawingml/2006/main">
              <a:ext uri="{FF2B5EF4-FFF2-40B4-BE49-F238E27FC236}">
                <a16:creationId xmlns:a16="http://schemas.microsoft.com/office/drawing/2014/main" id="{82781FD9-AB2E-4250-B0A9-FCF38D7FFCEF}"/>
              </a:ext>
            </a:extLst>
          </p:cNvPr>
          <p:cNvSpPr>
            <a:spLocks xmlns:a="http://schemas.openxmlformats.org/drawingml/2006/main" noGrp="1"/>
          </p:cNvSpPr>
          <p:nvPr/>
        </p:nvSpPr>
        <p:spPr>
          <a:xfrm xmlns:a="http://schemas.openxmlformats.org/drawingml/2006/main">
            <a:off x="2895600" y="2876550"/>
            <a:ext cx="1866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087F83"/>
                </a:solidFill>
                <a:latin typeface="Arial"/>
                <a:ea typeface="Arial"/>
                <a:cs typeface="Arial"/>
              </a:defRPr>
            </a:defPPr>
          </a:lstStyle>
          <a:p xmlns:a="http://schemas.openxmlformats.org/drawingml/2006/main">
            <a:pPr algn="l">
              <a:defRPr sz="1275" b="1">
                <a:solidFill>
                  <a:srgbClr val="087F83"/>
                </a:solidFill>
                <a:latin typeface="Arial"/>
                <a:ea typeface="Arial"/>
                <a:cs typeface="Arial"/>
              </a:defRPr>
            </a:pPr>
            <a:r>
              <a:rPr sz="1275" b="1">
                <a:solidFill>
                  <a:srgbClr val="087F83"/>
                </a:solidFill>
                <a:latin typeface="Arial"/>
                <a:ea typeface="Arial"/>
                <a:cs typeface="Arial"/>
              </a:rPr>
              <a:t>database</a:t>
            </a:r>
          </a:p>
        </p:txBody>
      </p:sp>
      <p:sp>
        <p:nvSpPr>
          <p:cNvPr id="30" name="text-51">
            <a:extLst xmlns:a="http://schemas.openxmlformats.org/drawingml/2006/main">
              <a:ext uri="{FF2B5EF4-FFF2-40B4-BE49-F238E27FC236}">
                <a16:creationId xmlns:a16="http://schemas.microsoft.com/office/drawing/2014/main" id="{5ECEFF60-9084-44DB-95AF-EC890BCC6DCC}"/>
              </a:ext>
            </a:extLst>
          </p:cNvPr>
          <p:cNvSpPr>
            <a:spLocks xmlns:a="http://schemas.openxmlformats.org/drawingml/2006/main" noGrp="1"/>
          </p:cNvSpPr>
          <p:nvPr/>
        </p:nvSpPr>
        <p:spPr>
          <a:xfrm xmlns:a="http://schemas.openxmlformats.org/drawingml/2006/main">
            <a:off x="2895600" y="3124200"/>
            <a:ext cx="1866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17364A"/>
                </a:solidFill>
                <a:latin typeface="Arial"/>
                <a:ea typeface="Arial"/>
                <a:cs typeface="Arial"/>
              </a:defRPr>
            </a:defPPr>
          </a:lstStyle>
          <a:p xmlns:a="http://schemas.openxmlformats.org/drawingml/2006/main">
            <a:pPr algn="l">
              <a:defRPr sz="1425" b="0">
                <a:solidFill>
                  <a:srgbClr val="17364A"/>
                </a:solidFill>
                <a:latin typeface="Arial"/>
                <a:ea typeface="Arial"/>
                <a:cs typeface="Arial"/>
              </a:defRPr>
            </a:pPr>
            <a:r>
              <a:rPr sz="1425" b="0">
                <a:solidFill>
                  <a:srgbClr val="17364A"/>
                </a:solidFill>
                <a:latin typeface="Arial"/>
                <a:ea typeface="Arial"/>
                <a:cs typeface="Arial"/>
              </a:rPr>
              <a:t>DynamoDB + PITR</a:t>
            </a:r>
          </a:p>
        </p:txBody>
      </p:sp>
      <p:sp>
        <p:nvSpPr>
          <p:cNvPr id="31" name="component-vector_db-52">
            <a:extLst xmlns:a="http://schemas.openxmlformats.org/drawingml/2006/main">
              <a:ext uri="{FF2B5EF4-FFF2-40B4-BE49-F238E27FC236}">
                <a16:creationId xmlns:a16="http://schemas.microsoft.com/office/drawing/2014/main" id="{ED02DE15-AAAE-4619-B0C9-3FEBEB5DC95F}"/>
              </a:ext>
            </a:extLst>
          </p:cNvPr>
          <p:cNvSpPr>
            <a:spLocks xmlns:a="http://schemas.openxmlformats.org/drawingml/2006/main" noGrp="1"/>
          </p:cNvSpPr>
          <p:nvPr/>
        </p:nvSpPr>
        <p:spPr>
          <a:xfrm xmlns:a="http://schemas.openxmlformats.org/drawingml/2006/main">
            <a:off x="5029200" y="2781300"/>
            <a:ext cx="2095500" cy="742950"/>
          </a:xfrm>
          <a:prstGeom xmlns:a="http://schemas.openxmlformats.org/drawingml/2006/main" prst="rect">
            <a:avLst/>
          </a:prstGeom>
          <a:solidFill xmlns:a="http://schemas.openxmlformats.org/drawingml/2006/main">
            <a:srgbClr val="F4F8FA"/>
          </a:solidFill>
          <a:ln xmlns:a="http://schemas.openxmlformats.org/drawingml/2006/main" w="9525">
            <a:solidFill>
              <a:srgbClr val="D1DEE5"/>
            </a:solidFill>
            <a:prstDash val="solid"/>
          </a:ln>
        </p:spPr>
      </p:sp>
      <p:sp>
        <p:nvSpPr>
          <p:cNvPr id="32" name="text-53">
            <a:extLst xmlns:a="http://schemas.openxmlformats.org/drawingml/2006/main">
              <a:ext uri="{FF2B5EF4-FFF2-40B4-BE49-F238E27FC236}">
                <a16:creationId xmlns:a16="http://schemas.microsoft.com/office/drawing/2014/main" id="{9DF1C378-89A5-45EF-A5B7-6556FDFB0C27}"/>
              </a:ext>
            </a:extLst>
          </p:cNvPr>
          <p:cNvSpPr>
            <a:spLocks xmlns:a="http://schemas.openxmlformats.org/drawingml/2006/main" noGrp="1"/>
          </p:cNvSpPr>
          <p:nvPr/>
        </p:nvSpPr>
        <p:spPr>
          <a:xfrm xmlns:a="http://schemas.openxmlformats.org/drawingml/2006/main">
            <a:off x="5143500" y="2876550"/>
            <a:ext cx="1866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087F83"/>
                </a:solidFill>
                <a:latin typeface="Arial"/>
                <a:ea typeface="Arial"/>
                <a:cs typeface="Arial"/>
              </a:defRPr>
            </a:defPPr>
          </a:lstStyle>
          <a:p xmlns:a="http://schemas.openxmlformats.org/drawingml/2006/main">
            <a:pPr algn="l">
              <a:defRPr sz="1275" b="1">
                <a:solidFill>
                  <a:srgbClr val="087F83"/>
                </a:solidFill>
                <a:latin typeface="Arial"/>
                <a:ea typeface="Arial"/>
                <a:cs typeface="Arial"/>
              </a:defRPr>
            </a:pPr>
            <a:r>
              <a:rPr sz="1275" b="1">
                <a:solidFill>
                  <a:srgbClr val="087F83"/>
                </a:solidFill>
                <a:latin typeface="Arial"/>
                <a:ea typeface="Arial"/>
                <a:cs typeface="Arial"/>
              </a:rPr>
              <a:t>vector_db</a:t>
            </a:r>
          </a:p>
        </p:txBody>
      </p:sp>
      <p:sp>
        <p:nvSpPr>
          <p:cNvPr id="33" name="text-54">
            <a:extLst xmlns:a="http://schemas.openxmlformats.org/drawingml/2006/main">
              <a:ext uri="{FF2B5EF4-FFF2-40B4-BE49-F238E27FC236}">
                <a16:creationId xmlns:a16="http://schemas.microsoft.com/office/drawing/2014/main" id="{D5B95146-8120-4202-B66E-E0A5B653F6AA}"/>
              </a:ext>
            </a:extLst>
          </p:cNvPr>
          <p:cNvSpPr>
            <a:spLocks xmlns:a="http://schemas.openxmlformats.org/drawingml/2006/main" noGrp="1"/>
          </p:cNvSpPr>
          <p:nvPr/>
        </p:nvSpPr>
        <p:spPr>
          <a:xfrm xmlns:a="http://schemas.openxmlformats.org/drawingml/2006/main">
            <a:off x="5143500" y="3124200"/>
            <a:ext cx="1866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17364A"/>
                </a:solidFill>
                <a:latin typeface="Arial"/>
                <a:ea typeface="Arial"/>
                <a:cs typeface="Arial"/>
              </a:defRPr>
            </a:defPPr>
          </a:lstStyle>
          <a:p xmlns:a="http://schemas.openxmlformats.org/drawingml/2006/main">
            <a:pPr algn="l">
              <a:defRPr sz="1425" b="0">
                <a:solidFill>
                  <a:srgbClr val="17364A"/>
                </a:solidFill>
                <a:latin typeface="Arial"/>
                <a:ea typeface="Arial"/>
                <a:cs typeface="Arial"/>
              </a:defRPr>
            </a:pPr>
            <a:r>
              <a:rPr sz="1425" b="0">
                <a:solidFill>
                  <a:srgbClr val="17364A"/>
                </a:solidFill>
                <a:latin typeface="Arial"/>
                <a:ea typeface="Arial"/>
                <a:cs typeface="Arial"/>
              </a:rPr>
              <a:t>S3 Vectors</a:t>
            </a:r>
          </a:p>
        </p:txBody>
      </p:sp>
      <p:sp>
        <p:nvSpPr>
          <p:cNvPr id="34" name="component-object_storage-55">
            <a:extLst xmlns:a="http://schemas.openxmlformats.org/drawingml/2006/main">
              <a:ext uri="{FF2B5EF4-FFF2-40B4-BE49-F238E27FC236}">
                <a16:creationId xmlns:a16="http://schemas.microsoft.com/office/drawing/2014/main" id="{BC1671EC-3A09-46F4-8AD1-1D3F0FE7F80F}"/>
              </a:ext>
            </a:extLst>
          </p:cNvPr>
          <p:cNvSpPr>
            <a:spLocks xmlns:a="http://schemas.openxmlformats.org/drawingml/2006/main" noGrp="1"/>
          </p:cNvSpPr>
          <p:nvPr/>
        </p:nvSpPr>
        <p:spPr>
          <a:xfrm xmlns:a="http://schemas.openxmlformats.org/drawingml/2006/main">
            <a:off x="7277100" y="2781300"/>
            <a:ext cx="2095500" cy="742950"/>
          </a:xfrm>
          <a:prstGeom xmlns:a="http://schemas.openxmlformats.org/drawingml/2006/main" prst="rect">
            <a:avLst/>
          </a:prstGeom>
          <a:solidFill xmlns:a="http://schemas.openxmlformats.org/drawingml/2006/main">
            <a:srgbClr val="F4F8FA"/>
          </a:solidFill>
          <a:ln xmlns:a="http://schemas.openxmlformats.org/drawingml/2006/main" w="9525">
            <a:solidFill>
              <a:srgbClr val="D1DEE5"/>
            </a:solidFill>
            <a:prstDash val="solid"/>
          </a:ln>
        </p:spPr>
      </p:sp>
      <p:sp>
        <p:nvSpPr>
          <p:cNvPr id="35" name="text-56">
            <a:extLst xmlns:a="http://schemas.openxmlformats.org/drawingml/2006/main">
              <a:ext uri="{FF2B5EF4-FFF2-40B4-BE49-F238E27FC236}">
                <a16:creationId xmlns:a16="http://schemas.microsoft.com/office/drawing/2014/main" id="{B7173FC2-5D97-4F16-B0CD-6039635A24A9}"/>
              </a:ext>
            </a:extLst>
          </p:cNvPr>
          <p:cNvSpPr>
            <a:spLocks xmlns:a="http://schemas.openxmlformats.org/drawingml/2006/main" noGrp="1"/>
          </p:cNvSpPr>
          <p:nvPr/>
        </p:nvSpPr>
        <p:spPr>
          <a:xfrm xmlns:a="http://schemas.openxmlformats.org/drawingml/2006/main">
            <a:off x="7391400" y="2876550"/>
            <a:ext cx="1866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087F83"/>
                </a:solidFill>
                <a:latin typeface="Arial"/>
                <a:ea typeface="Arial"/>
                <a:cs typeface="Arial"/>
              </a:defRPr>
            </a:defPPr>
          </a:lstStyle>
          <a:p xmlns:a="http://schemas.openxmlformats.org/drawingml/2006/main">
            <a:pPr algn="l">
              <a:defRPr sz="1275" b="1">
                <a:solidFill>
                  <a:srgbClr val="087F83"/>
                </a:solidFill>
                <a:latin typeface="Arial"/>
                <a:ea typeface="Arial"/>
                <a:cs typeface="Arial"/>
              </a:defRPr>
            </a:pPr>
            <a:r>
              <a:rPr sz="1275" b="1">
                <a:solidFill>
                  <a:srgbClr val="087F83"/>
                </a:solidFill>
                <a:latin typeface="Arial"/>
                <a:ea typeface="Arial"/>
                <a:cs typeface="Arial"/>
              </a:rPr>
              <a:t>object_storage</a:t>
            </a:r>
          </a:p>
        </p:txBody>
      </p:sp>
      <p:sp>
        <p:nvSpPr>
          <p:cNvPr id="36" name="text-57">
            <a:extLst xmlns:a="http://schemas.openxmlformats.org/drawingml/2006/main">
              <a:ext uri="{FF2B5EF4-FFF2-40B4-BE49-F238E27FC236}">
                <a16:creationId xmlns:a16="http://schemas.microsoft.com/office/drawing/2014/main" id="{09E5B7E0-2FAD-4D40-B889-21A8A76DC5C0}"/>
              </a:ext>
            </a:extLst>
          </p:cNvPr>
          <p:cNvSpPr>
            <a:spLocks xmlns:a="http://schemas.openxmlformats.org/drawingml/2006/main" noGrp="1"/>
          </p:cNvSpPr>
          <p:nvPr/>
        </p:nvSpPr>
        <p:spPr>
          <a:xfrm xmlns:a="http://schemas.openxmlformats.org/drawingml/2006/main">
            <a:off x="7391400" y="3124200"/>
            <a:ext cx="1866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17364A"/>
                </a:solidFill>
                <a:latin typeface="Arial"/>
                <a:ea typeface="Arial"/>
                <a:cs typeface="Arial"/>
              </a:defRPr>
            </a:defPPr>
          </a:lstStyle>
          <a:p xmlns:a="http://schemas.openxmlformats.org/drawingml/2006/main">
            <a:pPr algn="l">
              <a:defRPr sz="1425" b="0">
                <a:solidFill>
                  <a:srgbClr val="17364A"/>
                </a:solidFill>
                <a:latin typeface="Arial"/>
                <a:ea typeface="Arial"/>
                <a:cs typeface="Arial"/>
              </a:defRPr>
            </a:pPr>
            <a:r>
              <a:rPr sz="1425" b="0">
                <a:solidFill>
                  <a:srgbClr val="17364A"/>
                </a:solidFill>
                <a:latin typeface="Arial"/>
                <a:ea typeface="Arial"/>
                <a:cs typeface="Arial"/>
              </a:rPr>
              <a:t>Private user files</a:t>
            </a:r>
          </a:p>
        </p:txBody>
      </p:sp>
      <p:sp>
        <p:nvSpPr>
          <p:cNvPr id="37" name="component-cache_queue-58">
            <a:extLst xmlns:a="http://schemas.openxmlformats.org/drawingml/2006/main">
              <a:ext uri="{FF2B5EF4-FFF2-40B4-BE49-F238E27FC236}">
                <a16:creationId xmlns:a16="http://schemas.microsoft.com/office/drawing/2014/main" id="{3D2E5A19-0EB5-4E95-BB3D-A64603DC5462}"/>
              </a:ext>
            </a:extLst>
          </p:cNvPr>
          <p:cNvSpPr>
            <a:spLocks xmlns:a="http://schemas.openxmlformats.org/drawingml/2006/main" noGrp="1"/>
          </p:cNvSpPr>
          <p:nvPr/>
        </p:nvSpPr>
        <p:spPr>
          <a:xfrm xmlns:a="http://schemas.openxmlformats.org/drawingml/2006/main">
            <a:off x="9525000" y="2781300"/>
            <a:ext cx="2095500" cy="742950"/>
          </a:xfrm>
          <a:prstGeom xmlns:a="http://schemas.openxmlformats.org/drawingml/2006/main" prst="rect">
            <a:avLst/>
          </a:prstGeom>
          <a:solidFill xmlns:a="http://schemas.openxmlformats.org/drawingml/2006/main">
            <a:srgbClr val="F4F8FA"/>
          </a:solidFill>
          <a:ln xmlns:a="http://schemas.openxmlformats.org/drawingml/2006/main" w="9525">
            <a:solidFill>
              <a:srgbClr val="D1DEE5"/>
            </a:solidFill>
            <a:prstDash val="solid"/>
          </a:ln>
        </p:spPr>
      </p:sp>
      <p:sp>
        <p:nvSpPr>
          <p:cNvPr id="38" name="text-59">
            <a:extLst xmlns:a="http://schemas.openxmlformats.org/drawingml/2006/main">
              <a:ext uri="{FF2B5EF4-FFF2-40B4-BE49-F238E27FC236}">
                <a16:creationId xmlns:a16="http://schemas.microsoft.com/office/drawing/2014/main" id="{5D3EA903-9BBC-4952-9ECA-77BC336460A0}"/>
              </a:ext>
            </a:extLst>
          </p:cNvPr>
          <p:cNvSpPr>
            <a:spLocks xmlns:a="http://schemas.openxmlformats.org/drawingml/2006/main" noGrp="1"/>
          </p:cNvSpPr>
          <p:nvPr/>
        </p:nvSpPr>
        <p:spPr>
          <a:xfrm xmlns:a="http://schemas.openxmlformats.org/drawingml/2006/main">
            <a:off x="9639300" y="2876550"/>
            <a:ext cx="1866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087F83"/>
                </a:solidFill>
                <a:latin typeface="Arial"/>
                <a:ea typeface="Arial"/>
                <a:cs typeface="Arial"/>
              </a:defRPr>
            </a:defPPr>
          </a:lstStyle>
          <a:p xmlns:a="http://schemas.openxmlformats.org/drawingml/2006/main">
            <a:pPr algn="l">
              <a:defRPr sz="1275" b="1">
                <a:solidFill>
                  <a:srgbClr val="087F83"/>
                </a:solidFill>
                <a:latin typeface="Arial"/>
                <a:ea typeface="Arial"/>
                <a:cs typeface="Arial"/>
              </a:defRPr>
            </a:pPr>
            <a:r>
              <a:rPr sz="1275" b="1">
                <a:solidFill>
                  <a:srgbClr val="087F83"/>
                </a:solidFill>
                <a:latin typeface="Arial"/>
                <a:ea typeface="Arial"/>
                <a:cs typeface="Arial"/>
              </a:rPr>
              <a:t>cache_queue</a:t>
            </a:r>
          </a:p>
        </p:txBody>
      </p:sp>
      <p:sp>
        <p:nvSpPr>
          <p:cNvPr id="39" name="text-60">
            <a:extLst xmlns:a="http://schemas.openxmlformats.org/drawingml/2006/main">
              <a:ext uri="{FF2B5EF4-FFF2-40B4-BE49-F238E27FC236}">
                <a16:creationId xmlns:a16="http://schemas.microsoft.com/office/drawing/2014/main" id="{45C2210A-4F55-4266-AE70-5698397D3B36}"/>
              </a:ext>
            </a:extLst>
          </p:cNvPr>
          <p:cNvSpPr>
            <a:spLocks xmlns:a="http://schemas.openxmlformats.org/drawingml/2006/main" noGrp="1"/>
          </p:cNvSpPr>
          <p:nvPr/>
        </p:nvSpPr>
        <p:spPr>
          <a:xfrm xmlns:a="http://schemas.openxmlformats.org/drawingml/2006/main">
            <a:off x="9639300" y="3124200"/>
            <a:ext cx="1866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17364A"/>
                </a:solidFill>
                <a:latin typeface="Arial"/>
                <a:ea typeface="Arial"/>
                <a:cs typeface="Arial"/>
              </a:defRPr>
            </a:defPPr>
          </a:lstStyle>
          <a:p xmlns:a="http://schemas.openxmlformats.org/drawingml/2006/main">
            <a:pPr algn="l">
              <a:defRPr sz="1425" b="0">
                <a:solidFill>
                  <a:srgbClr val="17364A"/>
                </a:solidFill>
                <a:latin typeface="Arial"/>
                <a:ea typeface="Arial"/>
                <a:cs typeface="Arial"/>
              </a:defRPr>
            </a:pPr>
            <a:r>
              <a:rPr sz="1425" b="0">
                <a:solidFill>
                  <a:srgbClr val="17364A"/>
                </a:solidFill>
                <a:latin typeface="Arial"/>
                <a:ea typeface="Arial"/>
                <a:cs typeface="Arial"/>
              </a:rPr>
              <a:t>SQS / TTL cache</a:t>
            </a:r>
          </a:p>
        </p:txBody>
      </p:sp>
      <p:sp>
        <p:nvSpPr>
          <p:cNvPr id="40" name="shape-61">
            <a:extLst xmlns:a="http://schemas.openxmlformats.org/drawingml/2006/main">
              <a:ext uri="{FF2B5EF4-FFF2-40B4-BE49-F238E27FC236}">
                <a16:creationId xmlns:a16="http://schemas.microsoft.com/office/drawing/2014/main" id="{D8E84544-E571-4E5D-946A-1DF0249104CD}"/>
              </a:ext>
            </a:extLst>
          </p:cNvPr>
          <p:cNvSpPr>
            <a:spLocks xmlns:a="http://schemas.openxmlformats.org/drawingml/2006/main" noGrp="1"/>
          </p:cNvSpPr>
          <p:nvPr/>
        </p:nvSpPr>
        <p:spPr>
          <a:xfrm xmlns:a="http://schemas.openxmlformats.org/drawingml/2006/main">
            <a:off x="1581150" y="2552700"/>
            <a:ext cx="8991600" cy="19050"/>
          </a:xfrm>
          <a:prstGeom xmlns:a="http://schemas.openxmlformats.org/drawingml/2006/main" prst="rect">
            <a:avLst/>
          </a:prstGeom>
          <a:solidFill xmlns:a="http://schemas.openxmlformats.org/drawingml/2006/main">
            <a:srgbClr val="087F83"/>
          </a:solidFill>
          <a:ln xmlns:a="http://schemas.openxmlformats.org/drawingml/2006/main" w="0">
            <a:noFill/>
            <a:prstDash val="solid"/>
          </a:ln>
        </p:spPr>
      </p:sp>
      <p:sp>
        <p:nvSpPr>
          <p:cNvPr id="41" name="shape-62">
            <a:extLst xmlns:a="http://schemas.openxmlformats.org/drawingml/2006/main">
              <a:ext uri="{FF2B5EF4-FFF2-40B4-BE49-F238E27FC236}">
                <a16:creationId xmlns:a16="http://schemas.microsoft.com/office/drawing/2014/main" id="{3CA1372B-87F5-49CF-9740-0C5C2A047B77}"/>
              </a:ext>
            </a:extLst>
          </p:cNvPr>
          <p:cNvSpPr>
            <a:spLocks xmlns:a="http://schemas.openxmlformats.org/drawingml/2006/main" noGrp="1"/>
          </p:cNvSpPr>
          <p:nvPr/>
        </p:nvSpPr>
        <p:spPr>
          <a:xfrm xmlns:a="http://schemas.openxmlformats.org/drawingml/2006/main">
            <a:off x="8324850" y="2324100"/>
            <a:ext cx="19050" cy="228600"/>
          </a:xfrm>
          <a:prstGeom xmlns:a="http://schemas.openxmlformats.org/drawingml/2006/main" prst="rect">
            <a:avLst/>
          </a:prstGeom>
          <a:solidFill xmlns:a="http://schemas.openxmlformats.org/drawingml/2006/main">
            <a:srgbClr val="087F83"/>
          </a:solidFill>
          <a:ln xmlns:a="http://schemas.openxmlformats.org/drawingml/2006/main" w="0">
            <a:noFill/>
            <a:prstDash val="solid"/>
          </a:ln>
        </p:spPr>
      </p:sp>
      <p:sp>
        <p:nvSpPr>
          <p:cNvPr id="42" name="shape-63">
            <a:extLst xmlns:a="http://schemas.openxmlformats.org/drawingml/2006/main">
              <a:ext uri="{FF2B5EF4-FFF2-40B4-BE49-F238E27FC236}">
                <a16:creationId xmlns:a16="http://schemas.microsoft.com/office/drawing/2014/main" id="{D82542CA-0F33-48A0-A711-9CDC01A1BF74}"/>
              </a:ext>
            </a:extLst>
          </p:cNvPr>
          <p:cNvSpPr>
            <a:spLocks xmlns:a="http://schemas.openxmlformats.org/drawingml/2006/main" noGrp="1"/>
          </p:cNvSpPr>
          <p:nvPr/>
        </p:nvSpPr>
        <p:spPr>
          <a:xfrm xmlns:a="http://schemas.openxmlformats.org/drawingml/2006/main">
            <a:off x="1571625" y="2552700"/>
            <a:ext cx="19050" cy="228600"/>
          </a:xfrm>
          <a:prstGeom xmlns:a="http://schemas.openxmlformats.org/drawingml/2006/main" prst="rect">
            <a:avLst/>
          </a:prstGeom>
          <a:solidFill xmlns:a="http://schemas.openxmlformats.org/drawingml/2006/main">
            <a:srgbClr val="087F83"/>
          </a:solidFill>
          <a:ln xmlns:a="http://schemas.openxmlformats.org/drawingml/2006/main" w="0">
            <a:noFill/>
            <a:prstDash val="solid"/>
          </a:ln>
        </p:spPr>
      </p:sp>
      <p:sp>
        <p:nvSpPr>
          <p:cNvPr id="43" name="shape-64">
            <a:extLst xmlns:a="http://schemas.openxmlformats.org/drawingml/2006/main">
              <a:ext uri="{FF2B5EF4-FFF2-40B4-BE49-F238E27FC236}">
                <a16:creationId xmlns:a16="http://schemas.microsoft.com/office/drawing/2014/main" id="{9DFB31B7-9C19-47E9-955B-23CF569AB726}"/>
              </a:ext>
            </a:extLst>
          </p:cNvPr>
          <p:cNvSpPr>
            <a:spLocks xmlns:a="http://schemas.openxmlformats.org/drawingml/2006/main" noGrp="1"/>
          </p:cNvSpPr>
          <p:nvPr/>
        </p:nvSpPr>
        <p:spPr>
          <a:xfrm xmlns:a="http://schemas.openxmlformats.org/drawingml/2006/main">
            <a:off x="3819525" y="2552700"/>
            <a:ext cx="19050" cy="228600"/>
          </a:xfrm>
          <a:prstGeom xmlns:a="http://schemas.openxmlformats.org/drawingml/2006/main" prst="rect">
            <a:avLst/>
          </a:prstGeom>
          <a:solidFill xmlns:a="http://schemas.openxmlformats.org/drawingml/2006/main">
            <a:srgbClr val="087F83"/>
          </a:solidFill>
          <a:ln xmlns:a="http://schemas.openxmlformats.org/drawingml/2006/main" w="0">
            <a:noFill/>
            <a:prstDash val="solid"/>
          </a:ln>
        </p:spPr>
      </p:sp>
      <p:sp>
        <p:nvSpPr>
          <p:cNvPr id="44" name="shape-65">
            <a:extLst xmlns:a="http://schemas.openxmlformats.org/drawingml/2006/main">
              <a:ext uri="{FF2B5EF4-FFF2-40B4-BE49-F238E27FC236}">
                <a16:creationId xmlns:a16="http://schemas.microsoft.com/office/drawing/2014/main" id="{7217F831-9506-4334-8D89-5E41AEFFA30E}"/>
              </a:ext>
            </a:extLst>
          </p:cNvPr>
          <p:cNvSpPr>
            <a:spLocks xmlns:a="http://schemas.openxmlformats.org/drawingml/2006/main" noGrp="1"/>
          </p:cNvSpPr>
          <p:nvPr/>
        </p:nvSpPr>
        <p:spPr>
          <a:xfrm xmlns:a="http://schemas.openxmlformats.org/drawingml/2006/main">
            <a:off x="6067425" y="2552700"/>
            <a:ext cx="19050" cy="228600"/>
          </a:xfrm>
          <a:prstGeom xmlns:a="http://schemas.openxmlformats.org/drawingml/2006/main" prst="rect">
            <a:avLst/>
          </a:prstGeom>
          <a:solidFill xmlns:a="http://schemas.openxmlformats.org/drawingml/2006/main">
            <a:srgbClr val="087F83"/>
          </a:solidFill>
          <a:ln xmlns:a="http://schemas.openxmlformats.org/drawingml/2006/main" w="0">
            <a:noFill/>
            <a:prstDash val="solid"/>
          </a:ln>
        </p:spPr>
      </p:sp>
      <p:sp>
        <p:nvSpPr>
          <p:cNvPr id="45" name="shape-66">
            <a:extLst xmlns:a="http://schemas.openxmlformats.org/drawingml/2006/main">
              <a:ext uri="{FF2B5EF4-FFF2-40B4-BE49-F238E27FC236}">
                <a16:creationId xmlns:a16="http://schemas.microsoft.com/office/drawing/2014/main" id="{9D570B4E-DE2E-455B-9434-C6216D93F940}"/>
              </a:ext>
            </a:extLst>
          </p:cNvPr>
          <p:cNvSpPr>
            <a:spLocks xmlns:a="http://schemas.openxmlformats.org/drawingml/2006/main" noGrp="1"/>
          </p:cNvSpPr>
          <p:nvPr/>
        </p:nvSpPr>
        <p:spPr>
          <a:xfrm xmlns:a="http://schemas.openxmlformats.org/drawingml/2006/main">
            <a:off x="8315325" y="2552700"/>
            <a:ext cx="19050" cy="228600"/>
          </a:xfrm>
          <a:prstGeom xmlns:a="http://schemas.openxmlformats.org/drawingml/2006/main" prst="rect">
            <a:avLst/>
          </a:prstGeom>
          <a:solidFill xmlns:a="http://schemas.openxmlformats.org/drawingml/2006/main">
            <a:srgbClr val="087F83"/>
          </a:solidFill>
          <a:ln xmlns:a="http://schemas.openxmlformats.org/drawingml/2006/main" w="0">
            <a:noFill/>
            <a:prstDash val="solid"/>
          </a:ln>
        </p:spPr>
      </p:sp>
      <p:sp>
        <p:nvSpPr>
          <p:cNvPr id="46" name="shape-67">
            <a:extLst xmlns:a="http://schemas.openxmlformats.org/drawingml/2006/main">
              <a:ext uri="{FF2B5EF4-FFF2-40B4-BE49-F238E27FC236}">
                <a16:creationId xmlns:a16="http://schemas.microsoft.com/office/drawing/2014/main" id="{2B7DA544-F95F-420B-AE8A-515E24598421}"/>
              </a:ext>
            </a:extLst>
          </p:cNvPr>
          <p:cNvSpPr>
            <a:spLocks xmlns:a="http://schemas.openxmlformats.org/drawingml/2006/main" noGrp="1"/>
          </p:cNvSpPr>
          <p:nvPr/>
        </p:nvSpPr>
        <p:spPr>
          <a:xfrm xmlns:a="http://schemas.openxmlformats.org/drawingml/2006/main">
            <a:off x="10563225" y="2552700"/>
            <a:ext cx="19050" cy="228600"/>
          </a:xfrm>
          <a:prstGeom xmlns:a="http://schemas.openxmlformats.org/drawingml/2006/main" prst="rect">
            <a:avLst/>
          </a:prstGeom>
          <a:solidFill xmlns:a="http://schemas.openxmlformats.org/drawingml/2006/main">
            <a:srgbClr val="087F83"/>
          </a:solidFill>
          <a:ln xmlns:a="http://schemas.openxmlformats.org/drawingml/2006/main" w="0">
            <a:noFill/>
            <a:prstDash val="solid"/>
          </a:ln>
        </p:spPr>
      </p:sp>
      <p:sp>
        <p:nvSpPr>
          <p:cNvPr id="47" name="component-connectors-68">
            <a:extLst xmlns:a="http://schemas.openxmlformats.org/drawingml/2006/main">
              <a:ext uri="{FF2B5EF4-FFF2-40B4-BE49-F238E27FC236}">
                <a16:creationId xmlns:a16="http://schemas.microsoft.com/office/drawing/2014/main" id="{6630B278-8333-40E3-97C0-A4396422F601}"/>
              </a:ext>
            </a:extLst>
          </p:cNvPr>
          <p:cNvSpPr>
            <a:spLocks xmlns:a="http://schemas.openxmlformats.org/drawingml/2006/main" noGrp="1"/>
          </p:cNvSpPr>
          <p:nvPr/>
        </p:nvSpPr>
        <p:spPr>
          <a:xfrm xmlns:a="http://schemas.openxmlformats.org/drawingml/2006/main">
            <a:off x="533400" y="3981450"/>
            <a:ext cx="2667000" cy="742950"/>
          </a:xfrm>
          <a:prstGeom xmlns:a="http://schemas.openxmlformats.org/drawingml/2006/main" prst="rect">
            <a:avLst/>
          </a:prstGeom>
          <a:solidFill xmlns:a="http://schemas.openxmlformats.org/drawingml/2006/main">
            <a:srgbClr val="F4F8FA"/>
          </a:solidFill>
          <a:ln xmlns:a="http://schemas.openxmlformats.org/drawingml/2006/main" w="9525">
            <a:solidFill>
              <a:srgbClr val="D1DEE5"/>
            </a:solidFill>
            <a:prstDash val="solid"/>
          </a:ln>
        </p:spPr>
      </p:sp>
      <p:sp>
        <p:nvSpPr>
          <p:cNvPr id="48" name="text-69">
            <a:extLst xmlns:a="http://schemas.openxmlformats.org/drawingml/2006/main">
              <a:ext uri="{FF2B5EF4-FFF2-40B4-BE49-F238E27FC236}">
                <a16:creationId xmlns:a16="http://schemas.microsoft.com/office/drawing/2014/main" id="{F3C9DAFC-A590-448A-B603-7A4C19651E87}"/>
              </a:ext>
            </a:extLst>
          </p:cNvPr>
          <p:cNvSpPr>
            <a:spLocks xmlns:a="http://schemas.openxmlformats.org/drawingml/2006/main" noGrp="1"/>
          </p:cNvSpPr>
          <p:nvPr/>
        </p:nvSpPr>
        <p:spPr>
          <a:xfrm xmlns:a="http://schemas.openxmlformats.org/drawingml/2006/main">
            <a:off x="647700" y="40767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087F83"/>
                </a:solidFill>
                <a:latin typeface="Arial"/>
                <a:ea typeface="Arial"/>
                <a:cs typeface="Arial"/>
              </a:defRPr>
            </a:defPPr>
          </a:lstStyle>
          <a:p xmlns:a="http://schemas.openxmlformats.org/drawingml/2006/main">
            <a:pPr algn="l">
              <a:defRPr sz="1275" b="1">
                <a:solidFill>
                  <a:srgbClr val="087F83"/>
                </a:solidFill>
                <a:latin typeface="Arial"/>
                <a:ea typeface="Arial"/>
                <a:cs typeface="Arial"/>
              </a:defRPr>
            </a:pPr>
            <a:r>
              <a:rPr sz="1275" b="1">
                <a:solidFill>
                  <a:srgbClr val="087F83"/>
                </a:solidFill>
                <a:latin typeface="Arial"/>
                <a:ea typeface="Arial"/>
                <a:cs typeface="Arial"/>
              </a:rPr>
              <a:t>connectors</a:t>
            </a:r>
          </a:p>
        </p:txBody>
      </p:sp>
      <p:sp>
        <p:nvSpPr>
          <p:cNvPr id="49" name="text-70">
            <a:extLst xmlns:a="http://schemas.openxmlformats.org/drawingml/2006/main">
              <a:ext uri="{FF2B5EF4-FFF2-40B4-BE49-F238E27FC236}">
                <a16:creationId xmlns:a16="http://schemas.microsoft.com/office/drawing/2014/main" id="{D9A2B08E-6653-46E3-8F48-231D5325631C}"/>
              </a:ext>
            </a:extLst>
          </p:cNvPr>
          <p:cNvSpPr>
            <a:spLocks xmlns:a="http://schemas.openxmlformats.org/drawingml/2006/main" noGrp="1"/>
          </p:cNvSpPr>
          <p:nvPr/>
        </p:nvSpPr>
        <p:spPr>
          <a:xfrm xmlns:a="http://schemas.openxmlformats.org/drawingml/2006/main">
            <a:off x="647700" y="4324350"/>
            <a:ext cx="2438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17364A"/>
                </a:solidFill>
                <a:latin typeface="Arial"/>
                <a:ea typeface="Arial"/>
                <a:cs typeface="Arial"/>
              </a:defRPr>
            </a:defPPr>
          </a:lstStyle>
          <a:p xmlns:a="http://schemas.openxmlformats.org/drawingml/2006/main">
            <a:pPr algn="l">
              <a:defRPr sz="1425" b="0">
                <a:solidFill>
                  <a:srgbClr val="17364A"/>
                </a:solidFill>
                <a:latin typeface="Arial"/>
                <a:ea typeface="Arial"/>
                <a:cs typeface="Arial"/>
              </a:defRPr>
            </a:pPr>
            <a:r>
              <a:rPr sz="1425" b="0">
                <a:solidFill>
                  <a:srgbClr val="17364A"/>
                </a:solidFill>
                <a:latin typeface="Arial"/>
                <a:ea typeface="Arial"/>
                <a:cs typeface="Arial"/>
              </a:rPr>
              <a:t>OAuth delegated</a:t>
            </a:r>
          </a:p>
        </p:txBody>
      </p:sp>
      <p:sp>
        <p:nvSpPr>
          <p:cNvPr id="50" name="component-secrets_kms-71">
            <a:extLst xmlns:a="http://schemas.openxmlformats.org/drawingml/2006/main">
              <a:ext uri="{FF2B5EF4-FFF2-40B4-BE49-F238E27FC236}">
                <a16:creationId xmlns:a16="http://schemas.microsoft.com/office/drawing/2014/main" id="{BF950A1F-DF5C-4D7C-A153-D8EE60D32F71}"/>
              </a:ext>
            </a:extLst>
          </p:cNvPr>
          <p:cNvSpPr>
            <a:spLocks xmlns:a="http://schemas.openxmlformats.org/drawingml/2006/main" noGrp="1"/>
          </p:cNvSpPr>
          <p:nvPr/>
        </p:nvSpPr>
        <p:spPr>
          <a:xfrm xmlns:a="http://schemas.openxmlformats.org/drawingml/2006/main">
            <a:off x="3352800" y="3981450"/>
            <a:ext cx="2667000" cy="742950"/>
          </a:xfrm>
          <a:prstGeom xmlns:a="http://schemas.openxmlformats.org/drawingml/2006/main" prst="rect">
            <a:avLst/>
          </a:prstGeom>
          <a:solidFill xmlns:a="http://schemas.openxmlformats.org/drawingml/2006/main">
            <a:srgbClr val="F4F8FA"/>
          </a:solidFill>
          <a:ln xmlns:a="http://schemas.openxmlformats.org/drawingml/2006/main" w="9525">
            <a:solidFill>
              <a:srgbClr val="D1DEE5"/>
            </a:solidFill>
            <a:prstDash val="solid"/>
          </a:ln>
        </p:spPr>
      </p:sp>
      <p:sp>
        <p:nvSpPr>
          <p:cNvPr id="51" name="text-72">
            <a:extLst xmlns:a="http://schemas.openxmlformats.org/drawingml/2006/main">
              <a:ext uri="{FF2B5EF4-FFF2-40B4-BE49-F238E27FC236}">
                <a16:creationId xmlns:a16="http://schemas.microsoft.com/office/drawing/2014/main" id="{A362F963-A728-4C98-BD1E-C8B3694352A7}"/>
              </a:ext>
            </a:extLst>
          </p:cNvPr>
          <p:cNvSpPr>
            <a:spLocks xmlns:a="http://schemas.openxmlformats.org/drawingml/2006/main" noGrp="1"/>
          </p:cNvSpPr>
          <p:nvPr/>
        </p:nvSpPr>
        <p:spPr>
          <a:xfrm xmlns:a="http://schemas.openxmlformats.org/drawingml/2006/main">
            <a:off x="3467100" y="40767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087F83"/>
                </a:solidFill>
                <a:latin typeface="Arial"/>
                <a:ea typeface="Arial"/>
                <a:cs typeface="Arial"/>
              </a:defRPr>
            </a:defPPr>
          </a:lstStyle>
          <a:p xmlns:a="http://schemas.openxmlformats.org/drawingml/2006/main">
            <a:pPr algn="l">
              <a:defRPr sz="1275" b="1">
                <a:solidFill>
                  <a:srgbClr val="087F83"/>
                </a:solidFill>
                <a:latin typeface="Arial"/>
                <a:ea typeface="Arial"/>
                <a:cs typeface="Arial"/>
              </a:defRPr>
            </a:pPr>
            <a:r>
              <a:rPr sz="1275" b="1">
                <a:solidFill>
                  <a:srgbClr val="087F83"/>
                </a:solidFill>
                <a:latin typeface="Arial"/>
                <a:ea typeface="Arial"/>
                <a:cs typeface="Arial"/>
              </a:rPr>
              <a:t>secrets_kms</a:t>
            </a:r>
          </a:p>
        </p:txBody>
      </p:sp>
      <p:sp>
        <p:nvSpPr>
          <p:cNvPr id="52" name="text-73">
            <a:extLst xmlns:a="http://schemas.openxmlformats.org/drawingml/2006/main">
              <a:ext uri="{FF2B5EF4-FFF2-40B4-BE49-F238E27FC236}">
                <a16:creationId xmlns:a16="http://schemas.microsoft.com/office/drawing/2014/main" id="{8A24B66C-7478-4472-9E8B-D9230E65656C}"/>
              </a:ext>
            </a:extLst>
          </p:cNvPr>
          <p:cNvSpPr>
            <a:spLocks xmlns:a="http://schemas.openxmlformats.org/drawingml/2006/main" noGrp="1"/>
          </p:cNvSpPr>
          <p:nvPr/>
        </p:nvSpPr>
        <p:spPr>
          <a:xfrm xmlns:a="http://schemas.openxmlformats.org/drawingml/2006/main">
            <a:off x="3467100" y="4324350"/>
            <a:ext cx="2438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17364A"/>
                </a:solidFill>
                <a:latin typeface="Arial"/>
                <a:ea typeface="Arial"/>
                <a:cs typeface="Arial"/>
              </a:defRPr>
            </a:defPPr>
          </a:lstStyle>
          <a:p xmlns:a="http://schemas.openxmlformats.org/drawingml/2006/main">
            <a:pPr algn="l">
              <a:defRPr sz="1425" b="0">
                <a:solidFill>
                  <a:srgbClr val="17364A"/>
                </a:solidFill>
                <a:latin typeface="Arial"/>
                <a:ea typeface="Arial"/>
                <a:cs typeface="Arial"/>
              </a:defRPr>
            </a:pPr>
            <a:r>
              <a:rPr sz="1425" b="0">
                <a:solidFill>
                  <a:srgbClr val="17364A"/>
                </a:solidFill>
                <a:latin typeface="Arial"/>
                <a:ea typeface="Arial"/>
                <a:cs typeface="Arial"/>
              </a:rPr>
              <a:t>Token vault + KMS</a:t>
            </a:r>
          </a:p>
        </p:txBody>
      </p:sp>
      <p:sp>
        <p:nvSpPr>
          <p:cNvPr id="53" name="component-sandbox-74">
            <a:extLst xmlns:a="http://schemas.openxmlformats.org/drawingml/2006/main">
              <a:ext uri="{FF2B5EF4-FFF2-40B4-BE49-F238E27FC236}">
                <a16:creationId xmlns:a16="http://schemas.microsoft.com/office/drawing/2014/main" id="{C207B550-B3A0-4659-A4C7-F80691C0646B}"/>
              </a:ext>
            </a:extLst>
          </p:cNvPr>
          <p:cNvSpPr>
            <a:spLocks xmlns:a="http://schemas.openxmlformats.org/drawingml/2006/main" noGrp="1"/>
          </p:cNvSpPr>
          <p:nvPr/>
        </p:nvSpPr>
        <p:spPr>
          <a:xfrm xmlns:a="http://schemas.openxmlformats.org/drawingml/2006/main">
            <a:off x="6172200" y="3981450"/>
            <a:ext cx="2667000" cy="742950"/>
          </a:xfrm>
          <a:prstGeom xmlns:a="http://schemas.openxmlformats.org/drawingml/2006/main" prst="rect">
            <a:avLst/>
          </a:prstGeom>
          <a:solidFill xmlns:a="http://schemas.openxmlformats.org/drawingml/2006/main">
            <a:srgbClr val="F4F8FA"/>
          </a:solidFill>
          <a:ln xmlns:a="http://schemas.openxmlformats.org/drawingml/2006/main" w="9525">
            <a:solidFill>
              <a:srgbClr val="D1DEE5"/>
            </a:solidFill>
            <a:prstDash val="solid"/>
          </a:ln>
        </p:spPr>
      </p:sp>
      <p:sp>
        <p:nvSpPr>
          <p:cNvPr id="54" name="text-75">
            <a:extLst xmlns:a="http://schemas.openxmlformats.org/drawingml/2006/main">
              <a:ext uri="{FF2B5EF4-FFF2-40B4-BE49-F238E27FC236}">
                <a16:creationId xmlns:a16="http://schemas.microsoft.com/office/drawing/2014/main" id="{9DE30527-7FE3-47C4-A4FF-3E6FC735E00A}"/>
              </a:ext>
            </a:extLst>
          </p:cNvPr>
          <p:cNvSpPr>
            <a:spLocks xmlns:a="http://schemas.openxmlformats.org/drawingml/2006/main" noGrp="1"/>
          </p:cNvSpPr>
          <p:nvPr/>
        </p:nvSpPr>
        <p:spPr>
          <a:xfrm xmlns:a="http://schemas.openxmlformats.org/drawingml/2006/main">
            <a:off x="6286500" y="40767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087F83"/>
                </a:solidFill>
                <a:latin typeface="Arial"/>
                <a:ea typeface="Arial"/>
                <a:cs typeface="Arial"/>
              </a:defRPr>
            </a:defPPr>
          </a:lstStyle>
          <a:p xmlns:a="http://schemas.openxmlformats.org/drawingml/2006/main">
            <a:pPr algn="l">
              <a:defRPr sz="1275" b="1">
                <a:solidFill>
                  <a:srgbClr val="087F83"/>
                </a:solidFill>
                <a:latin typeface="Arial"/>
                <a:ea typeface="Arial"/>
                <a:cs typeface="Arial"/>
              </a:defRPr>
            </a:pPr>
            <a:r>
              <a:rPr sz="1275" b="1">
                <a:solidFill>
                  <a:srgbClr val="087F83"/>
                </a:solidFill>
                <a:latin typeface="Arial"/>
                <a:ea typeface="Arial"/>
                <a:cs typeface="Arial"/>
              </a:rPr>
              <a:t>sandbox</a:t>
            </a:r>
          </a:p>
        </p:txBody>
      </p:sp>
      <p:sp>
        <p:nvSpPr>
          <p:cNvPr id="55" name="text-76">
            <a:extLst xmlns:a="http://schemas.openxmlformats.org/drawingml/2006/main">
              <a:ext uri="{FF2B5EF4-FFF2-40B4-BE49-F238E27FC236}">
                <a16:creationId xmlns:a16="http://schemas.microsoft.com/office/drawing/2014/main" id="{40EDC88D-8B09-42A2-83E4-FCE117559365}"/>
              </a:ext>
            </a:extLst>
          </p:cNvPr>
          <p:cNvSpPr>
            <a:spLocks xmlns:a="http://schemas.openxmlformats.org/drawingml/2006/main" noGrp="1"/>
          </p:cNvSpPr>
          <p:nvPr/>
        </p:nvSpPr>
        <p:spPr>
          <a:xfrm xmlns:a="http://schemas.openxmlformats.org/drawingml/2006/main">
            <a:off x="6286500" y="4324350"/>
            <a:ext cx="2438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17364A"/>
                </a:solidFill>
                <a:latin typeface="Arial"/>
                <a:ea typeface="Arial"/>
                <a:cs typeface="Arial"/>
              </a:defRPr>
            </a:defPPr>
          </a:lstStyle>
          <a:p xmlns:a="http://schemas.openxmlformats.org/drawingml/2006/main">
            <a:pPr algn="l">
              <a:defRPr sz="1425" b="0">
                <a:solidFill>
                  <a:srgbClr val="17364A"/>
                </a:solidFill>
                <a:latin typeface="Arial"/>
                <a:ea typeface="Arial"/>
                <a:cs typeface="Arial"/>
              </a:defRPr>
            </a:pPr>
            <a:r>
              <a:rPr sz="1425" b="0">
                <a:solidFill>
                  <a:srgbClr val="17364A"/>
                </a:solidFill>
                <a:latin typeface="Arial"/>
                <a:ea typeface="Arial"/>
                <a:cs typeface="Arial"/>
              </a:rPr>
              <a:t>Code Interpreter</a:t>
            </a:r>
          </a:p>
        </p:txBody>
      </p:sp>
      <p:sp>
        <p:nvSpPr>
          <p:cNvPr id="56" name="component-network-77">
            <a:extLst xmlns:a="http://schemas.openxmlformats.org/drawingml/2006/main">
              <a:ext uri="{FF2B5EF4-FFF2-40B4-BE49-F238E27FC236}">
                <a16:creationId xmlns:a16="http://schemas.microsoft.com/office/drawing/2014/main" id="{589D3CFD-7191-4D3D-BD1D-E016EDD0632E}"/>
              </a:ext>
            </a:extLst>
          </p:cNvPr>
          <p:cNvSpPr>
            <a:spLocks xmlns:a="http://schemas.openxmlformats.org/drawingml/2006/main" noGrp="1"/>
          </p:cNvSpPr>
          <p:nvPr/>
        </p:nvSpPr>
        <p:spPr>
          <a:xfrm xmlns:a="http://schemas.openxmlformats.org/drawingml/2006/main">
            <a:off x="8991600" y="3981450"/>
            <a:ext cx="2667000" cy="742950"/>
          </a:xfrm>
          <a:prstGeom xmlns:a="http://schemas.openxmlformats.org/drawingml/2006/main" prst="rect">
            <a:avLst/>
          </a:prstGeom>
          <a:solidFill xmlns:a="http://schemas.openxmlformats.org/drawingml/2006/main">
            <a:srgbClr val="F4F8FA"/>
          </a:solidFill>
          <a:ln xmlns:a="http://schemas.openxmlformats.org/drawingml/2006/main" w="9525">
            <a:solidFill>
              <a:srgbClr val="D1DEE5"/>
            </a:solidFill>
            <a:prstDash val="solid"/>
          </a:ln>
        </p:spPr>
      </p:sp>
      <p:sp>
        <p:nvSpPr>
          <p:cNvPr id="57" name="text-78">
            <a:extLst xmlns:a="http://schemas.openxmlformats.org/drawingml/2006/main">
              <a:ext uri="{FF2B5EF4-FFF2-40B4-BE49-F238E27FC236}">
                <a16:creationId xmlns:a16="http://schemas.microsoft.com/office/drawing/2014/main" id="{1758FDB5-A769-479B-BCAF-C72AEF5350F6}"/>
              </a:ext>
            </a:extLst>
          </p:cNvPr>
          <p:cNvSpPr>
            <a:spLocks xmlns:a="http://schemas.openxmlformats.org/drawingml/2006/main" noGrp="1"/>
          </p:cNvSpPr>
          <p:nvPr/>
        </p:nvSpPr>
        <p:spPr>
          <a:xfrm xmlns:a="http://schemas.openxmlformats.org/drawingml/2006/main">
            <a:off x="9105900" y="40767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087F83"/>
                </a:solidFill>
                <a:latin typeface="Arial"/>
                <a:ea typeface="Arial"/>
                <a:cs typeface="Arial"/>
              </a:defRPr>
            </a:defPPr>
          </a:lstStyle>
          <a:p xmlns:a="http://schemas.openxmlformats.org/drawingml/2006/main">
            <a:pPr algn="l">
              <a:defRPr sz="1275" b="1">
                <a:solidFill>
                  <a:srgbClr val="087F83"/>
                </a:solidFill>
                <a:latin typeface="Arial"/>
                <a:ea typeface="Arial"/>
                <a:cs typeface="Arial"/>
              </a:defRPr>
            </a:pPr>
            <a:r>
              <a:rPr sz="1275" b="1">
                <a:solidFill>
                  <a:srgbClr val="087F83"/>
                </a:solidFill>
                <a:latin typeface="Arial"/>
                <a:ea typeface="Arial"/>
                <a:cs typeface="Arial"/>
              </a:rPr>
              <a:t>network</a:t>
            </a:r>
          </a:p>
        </p:txBody>
      </p:sp>
      <p:sp>
        <p:nvSpPr>
          <p:cNvPr id="58" name="text-79">
            <a:extLst xmlns:a="http://schemas.openxmlformats.org/drawingml/2006/main">
              <a:ext uri="{FF2B5EF4-FFF2-40B4-BE49-F238E27FC236}">
                <a16:creationId xmlns:a16="http://schemas.microsoft.com/office/drawing/2014/main" id="{A1541839-1962-4C8E-95B3-4C25CB9A2BDF}"/>
              </a:ext>
            </a:extLst>
          </p:cNvPr>
          <p:cNvSpPr>
            <a:spLocks xmlns:a="http://schemas.openxmlformats.org/drawingml/2006/main" noGrp="1"/>
          </p:cNvSpPr>
          <p:nvPr/>
        </p:nvSpPr>
        <p:spPr>
          <a:xfrm xmlns:a="http://schemas.openxmlformats.org/drawingml/2006/main">
            <a:off x="9105900" y="4324350"/>
            <a:ext cx="2438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17364A"/>
                </a:solidFill>
                <a:latin typeface="Arial"/>
                <a:ea typeface="Arial"/>
                <a:cs typeface="Arial"/>
              </a:defRPr>
            </a:defPPr>
          </a:lstStyle>
          <a:p xmlns:a="http://schemas.openxmlformats.org/drawingml/2006/main">
            <a:pPr algn="l">
              <a:defRPr sz="1425" b="0">
                <a:solidFill>
                  <a:srgbClr val="17364A"/>
                </a:solidFill>
                <a:latin typeface="Arial"/>
                <a:ea typeface="Arial"/>
                <a:cs typeface="Arial"/>
              </a:defRPr>
            </a:pPr>
            <a:r>
              <a:rPr sz="1425" b="0">
                <a:solidFill>
                  <a:srgbClr val="17364A"/>
                </a:solidFill>
                <a:latin typeface="Arial"/>
                <a:ea typeface="Arial"/>
                <a:cs typeface="Arial"/>
              </a:rPr>
              <a:t>VPC isolated / 2 AZ</a:t>
            </a:r>
          </a:p>
        </p:txBody>
      </p:sp>
      <p:sp>
        <p:nvSpPr>
          <p:cNvPr id="59" name="component-backup_dr-80">
            <a:extLst xmlns:a="http://schemas.openxmlformats.org/drawingml/2006/main">
              <a:ext uri="{FF2B5EF4-FFF2-40B4-BE49-F238E27FC236}">
                <a16:creationId xmlns:a16="http://schemas.microsoft.com/office/drawing/2014/main" id="{AA8D9923-47E3-4B57-8C1A-6D27A3603EE8}"/>
              </a:ext>
            </a:extLst>
          </p:cNvPr>
          <p:cNvSpPr>
            <a:spLocks xmlns:a="http://schemas.openxmlformats.org/drawingml/2006/main" noGrp="1"/>
          </p:cNvSpPr>
          <p:nvPr/>
        </p:nvSpPr>
        <p:spPr>
          <a:xfrm xmlns:a="http://schemas.openxmlformats.org/drawingml/2006/main">
            <a:off x="533400" y="5181600"/>
            <a:ext cx="2095500" cy="742950"/>
          </a:xfrm>
          <a:prstGeom xmlns:a="http://schemas.openxmlformats.org/drawingml/2006/main" prst="rect">
            <a:avLst/>
          </a:prstGeom>
          <a:solidFill xmlns:a="http://schemas.openxmlformats.org/drawingml/2006/main">
            <a:srgbClr val="F4F8FA"/>
          </a:solidFill>
          <a:ln xmlns:a="http://schemas.openxmlformats.org/drawingml/2006/main" w="9525">
            <a:solidFill>
              <a:srgbClr val="D1DEE5"/>
            </a:solidFill>
            <a:prstDash val="solid"/>
          </a:ln>
        </p:spPr>
      </p:sp>
      <p:sp>
        <p:nvSpPr>
          <p:cNvPr id="60" name="text-81">
            <a:extLst xmlns:a="http://schemas.openxmlformats.org/drawingml/2006/main">
              <a:ext uri="{FF2B5EF4-FFF2-40B4-BE49-F238E27FC236}">
                <a16:creationId xmlns:a16="http://schemas.microsoft.com/office/drawing/2014/main" id="{EC5D18A1-53DC-4564-844C-1F2BDF9948D8}"/>
              </a:ext>
            </a:extLst>
          </p:cNvPr>
          <p:cNvSpPr>
            <a:spLocks xmlns:a="http://schemas.openxmlformats.org/drawingml/2006/main" noGrp="1"/>
          </p:cNvSpPr>
          <p:nvPr/>
        </p:nvSpPr>
        <p:spPr>
          <a:xfrm xmlns:a="http://schemas.openxmlformats.org/drawingml/2006/main">
            <a:off x="647700" y="5276850"/>
            <a:ext cx="1866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087F83"/>
                </a:solidFill>
                <a:latin typeface="Arial"/>
                <a:ea typeface="Arial"/>
                <a:cs typeface="Arial"/>
              </a:defRPr>
            </a:defPPr>
          </a:lstStyle>
          <a:p xmlns:a="http://schemas.openxmlformats.org/drawingml/2006/main">
            <a:pPr algn="l">
              <a:defRPr sz="1275" b="1">
                <a:solidFill>
                  <a:srgbClr val="087F83"/>
                </a:solidFill>
                <a:latin typeface="Arial"/>
                <a:ea typeface="Arial"/>
                <a:cs typeface="Arial"/>
              </a:defRPr>
            </a:pPr>
            <a:r>
              <a:rPr sz="1275" b="1">
                <a:solidFill>
                  <a:srgbClr val="087F83"/>
                </a:solidFill>
                <a:latin typeface="Arial"/>
                <a:ea typeface="Arial"/>
                <a:cs typeface="Arial"/>
              </a:rPr>
              <a:t>backup_dr</a:t>
            </a:r>
          </a:p>
        </p:txBody>
      </p:sp>
      <p:sp>
        <p:nvSpPr>
          <p:cNvPr id="61" name="text-82">
            <a:extLst xmlns:a="http://schemas.openxmlformats.org/drawingml/2006/main">
              <a:ext uri="{FF2B5EF4-FFF2-40B4-BE49-F238E27FC236}">
                <a16:creationId xmlns:a16="http://schemas.microsoft.com/office/drawing/2014/main" id="{716FF835-849C-49BF-9455-825A6B31044B}"/>
              </a:ext>
            </a:extLst>
          </p:cNvPr>
          <p:cNvSpPr>
            <a:spLocks xmlns:a="http://schemas.openxmlformats.org/drawingml/2006/main" noGrp="1"/>
          </p:cNvSpPr>
          <p:nvPr/>
        </p:nvSpPr>
        <p:spPr>
          <a:xfrm xmlns:a="http://schemas.openxmlformats.org/drawingml/2006/main">
            <a:off x="647700" y="5524500"/>
            <a:ext cx="1866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17364A"/>
                </a:solidFill>
                <a:latin typeface="Arial"/>
                <a:ea typeface="Arial"/>
                <a:cs typeface="Arial"/>
              </a:defRPr>
            </a:defPPr>
          </a:lstStyle>
          <a:p xmlns:a="http://schemas.openxmlformats.org/drawingml/2006/main">
            <a:pPr algn="l">
              <a:defRPr sz="1425" b="0">
                <a:solidFill>
                  <a:srgbClr val="17364A"/>
                </a:solidFill>
                <a:latin typeface="Arial"/>
                <a:ea typeface="Arial"/>
                <a:cs typeface="Arial"/>
              </a:defRPr>
            </a:pPr>
            <a:r>
              <a:rPr sz="1425" b="0">
                <a:solidFill>
                  <a:srgbClr val="17364A"/>
                </a:solidFill>
                <a:latin typeface="Arial"/>
                <a:ea typeface="Arial"/>
                <a:cs typeface="Arial"/>
              </a:rPr>
              <a:t>PITR / versions</a:t>
            </a:r>
          </a:p>
        </p:txBody>
      </p:sp>
      <p:sp>
        <p:nvSpPr>
          <p:cNvPr id="62" name="component-monitoring-83">
            <a:extLst xmlns:a="http://schemas.openxmlformats.org/drawingml/2006/main">
              <a:ext uri="{FF2B5EF4-FFF2-40B4-BE49-F238E27FC236}">
                <a16:creationId xmlns:a16="http://schemas.microsoft.com/office/drawing/2014/main" id="{E8D6B5E8-1C70-4435-9A96-E686CE309F78}"/>
              </a:ext>
            </a:extLst>
          </p:cNvPr>
          <p:cNvSpPr>
            <a:spLocks xmlns:a="http://schemas.openxmlformats.org/drawingml/2006/main" noGrp="1"/>
          </p:cNvSpPr>
          <p:nvPr/>
        </p:nvSpPr>
        <p:spPr>
          <a:xfrm xmlns:a="http://schemas.openxmlformats.org/drawingml/2006/main">
            <a:off x="2781300" y="5181600"/>
            <a:ext cx="2095500" cy="742950"/>
          </a:xfrm>
          <a:prstGeom xmlns:a="http://schemas.openxmlformats.org/drawingml/2006/main" prst="rect">
            <a:avLst/>
          </a:prstGeom>
          <a:solidFill xmlns:a="http://schemas.openxmlformats.org/drawingml/2006/main">
            <a:srgbClr val="F4F8FA"/>
          </a:solidFill>
          <a:ln xmlns:a="http://schemas.openxmlformats.org/drawingml/2006/main" w="9525">
            <a:solidFill>
              <a:srgbClr val="D1DEE5"/>
            </a:solidFill>
            <a:prstDash val="solid"/>
          </a:ln>
        </p:spPr>
      </p:sp>
      <p:sp>
        <p:nvSpPr>
          <p:cNvPr id="63" name="text-84">
            <a:extLst xmlns:a="http://schemas.openxmlformats.org/drawingml/2006/main">
              <a:ext uri="{FF2B5EF4-FFF2-40B4-BE49-F238E27FC236}">
                <a16:creationId xmlns:a16="http://schemas.microsoft.com/office/drawing/2014/main" id="{2AD0ECB8-D1EC-437B-B093-70A4A44A2C45}"/>
              </a:ext>
            </a:extLst>
          </p:cNvPr>
          <p:cNvSpPr>
            <a:spLocks xmlns:a="http://schemas.openxmlformats.org/drawingml/2006/main" noGrp="1"/>
          </p:cNvSpPr>
          <p:nvPr/>
        </p:nvSpPr>
        <p:spPr>
          <a:xfrm xmlns:a="http://schemas.openxmlformats.org/drawingml/2006/main">
            <a:off x="2895600" y="5276850"/>
            <a:ext cx="1866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087F83"/>
                </a:solidFill>
                <a:latin typeface="Arial"/>
                <a:ea typeface="Arial"/>
                <a:cs typeface="Arial"/>
              </a:defRPr>
            </a:defPPr>
          </a:lstStyle>
          <a:p xmlns:a="http://schemas.openxmlformats.org/drawingml/2006/main">
            <a:pPr algn="l">
              <a:defRPr sz="1275" b="1">
                <a:solidFill>
                  <a:srgbClr val="087F83"/>
                </a:solidFill>
                <a:latin typeface="Arial"/>
                <a:ea typeface="Arial"/>
                <a:cs typeface="Arial"/>
              </a:defRPr>
            </a:pPr>
            <a:r>
              <a:rPr sz="1275" b="1">
                <a:solidFill>
                  <a:srgbClr val="087F83"/>
                </a:solidFill>
                <a:latin typeface="Arial"/>
                <a:ea typeface="Arial"/>
                <a:cs typeface="Arial"/>
              </a:rPr>
              <a:t>monitoring</a:t>
            </a:r>
          </a:p>
        </p:txBody>
      </p:sp>
      <p:sp>
        <p:nvSpPr>
          <p:cNvPr id="64" name="text-85">
            <a:extLst xmlns:a="http://schemas.openxmlformats.org/drawingml/2006/main">
              <a:ext uri="{FF2B5EF4-FFF2-40B4-BE49-F238E27FC236}">
                <a16:creationId xmlns:a16="http://schemas.microsoft.com/office/drawing/2014/main" id="{4D83F3AF-7CEF-4B2F-934C-67F65E88C716}"/>
              </a:ext>
            </a:extLst>
          </p:cNvPr>
          <p:cNvSpPr>
            <a:spLocks xmlns:a="http://schemas.openxmlformats.org/drawingml/2006/main" noGrp="1"/>
          </p:cNvSpPr>
          <p:nvPr/>
        </p:nvSpPr>
        <p:spPr>
          <a:xfrm xmlns:a="http://schemas.openxmlformats.org/drawingml/2006/main">
            <a:off x="2895600" y="5524500"/>
            <a:ext cx="1866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17364A"/>
                </a:solidFill>
                <a:latin typeface="Arial"/>
                <a:ea typeface="Arial"/>
                <a:cs typeface="Arial"/>
              </a:defRPr>
            </a:defPPr>
          </a:lstStyle>
          <a:p xmlns:a="http://schemas.openxmlformats.org/drawingml/2006/main">
            <a:pPr algn="l">
              <a:defRPr sz="1425" b="0">
                <a:solidFill>
                  <a:srgbClr val="17364A"/>
                </a:solidFill>
                <a:latin typeface="Arial"/>
                <a:ea typeface="Arial"/>
                <a:cs typeface="Arial"/>
              </a:defRPr>
            </a:pPr>
            <a:r>
              <a:rPr sz="1425" b="0">
                <a:solidFill>
                  <a:srgbClr val="17364A"/>
                </a:solidFill>
                <a:latin typeface="Arial"/>
                <a:ea typeface="Arial"/>
                <a:cs typeface="Arial"/>
              </a:rPr>
              <a:t>Metrics / audit</a:t>
            </a:r>
          </a:p>
        </p:txBody>
      </p:sp>
      <p:sp>
        <p:nvSpPr>
          <p:cNvPr id="65" name="component-governance-86">
            <a:extLst xmlns:a="http://schemas.openxmlformats.org/drawingml/2006/main">
              <a:ext uri="{FF2B5EF4-FFF2-40B4-BE49-F238E27FC236}">
                <a16:creationId xmlns:a16="http://schemas.microsoft.com/office/drawing/2014/main" id="{EABDB4CB-B1B8-4CE7-A64F-8260760DB264}"/>
              </a:ext>
            </a:extLst>
          </p:cNvPr>
          <p:cNvSpPr>
            <a:spLocks xmlns:a="http://schemas.openxmlformats.org/drawingml/2006/main" noGrp="1"/>
          </p:cNvSpPr>
          <p:nvPr/>
        </p:nvSpPr>
        <p:spPr>
          <a:xfrm xmlns:a="http://schemas.openxmlformats.org/drawingml/2006/main">
            <a:off x="5029200" y="5181600"/>
            <a:ext cx="2095500" cy="742950"/>
          </a:xfrm>
          <a:prstGeom xmlns:a="http://schemas.openxmlformats.org/drawingml/2006/main" prst="rect">
            <a:avLst/>
          </a:prstGeom>
          <a:solidFill xmlns:a="http://schemas.openxmlformats.org/drawingml/2006/main">
            <a:srgbClr val="F4F8FA"/>
          </a:solidFill>
          <a:ln xmlns:a="http://schemas.openxmlformats.org/drawingml/2006/main" w="9525">
            <a:solidFill>
              <a:srgbClr val="D1DEE5"/>
            </a:solidFill>
            <a:prstDash val="solid"/>
          </a:ln>
        </p:spPr>
      </p:sp>
      <p:sp>
        <p:nvSpPr>
          <p:cNvPr id="66" name="text-87">
            <a:extLst xmlns:a="http://schemas.openxmlformats.org/drawingml/2006/main">
              <a:ext uri="{FF2B5EF4-FFF2-40B4-BE49-F238E27FC236}">
                <a16:creationId xmlns:a16="http://schemas.microsoft.com/office/drawing/2014/main" id="{E7D9F2B0-8767-4F0F-8D28-8B1DF13C0435}"/>
              </a:ext>
            </a:extLst>
          </p:cNvPr>
          <p:cNvSpPr>
            <a:spLocks xmlns:a="http://schemas.openxmlformats.org/drawingml/2006/main" noGrp="1"/>
          </p:cNvSpPr>
          <p:nvPr/>
        </p:nvSpPr>
        <p:spPr>
          <a:xfrm xmlns:a="http://schemas.openxmlformats.org/drawingml/2006/main">
            <a:off x="5143500" y="5276850"/>
            <a:ext cx="1866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087F83"/>
                </a:solidFill>
                <a:latin typeface="Arial"/>
                <a:ea typeface="Arial"/>
                <a:cs typeface="Arial"/>
              </a:defRPr>
            </a:defPPr>
          </a:lstStyle>
          <a:p xmlns:a="http://schemas.openxmlformats.org/drawingml/2006/main">
            <a:pPr algn="l">
              <a:defRPr sz="1275" b="1">
                <a:solidFill>
                  <a:srgbClr val="087F83"/>
                </a:solidFill>
                <a:latin typeface="Arial"/>
                <a:ea typeface="Arial"/>
                <a:cs typeface="Arial"/>
              </a:defRPr>
            </a:pPr>
            <a:r>
              <a:rPr sz="1275" b="1">
                <a:solidFill>
                  <a:srgbClr val="087F83"/>
                </a:solidFill>
                <a:latin typeface="Arial"/>
                <a:ea typeface="Arial"/>
                <a:cs typeface="Arial"/>
              </a:rPr>
              <a:t>governance</a:t>
            </a:r>
          </a:p>
        </p:txBody>
      </p:sp>
      <p:sp>
        <p:nvSpPr>
          <p:cNvPr id="67" name="text-88">
            <a:extLst xmlns:a="http://schemas.openxmlformats.org/drawingml/2006/main">
              <a:ext uri="{FF2B5EF4-FFF2-40B4-BE49-F238E27FC236}">
                <a16:creationId xmlns:a16="http://schemas.microsoft.com/office/drawing/2014/main" id="{2BF1F590-D402-445E-9BDB-DE6C18DF7324}"/>
              </a:ext>
            </a:extLst>
          </p:cNvPr>
          <p:cNvSpPr>
            <a:spLocks xmlns:a="http://schemas.openxmlformats.org/drawingml/2006/main" noGrp="1"/>
          </p:cNvSpPr>
          <p:nvPr/>
        </p:nvSpPr>
        <p:spPr>
          <a:xfrm xmlns:a="http://schemas.openxmlformats.org/drawingml/2006/main">
            <a:off x="5143500" y="5524500"/>
            <a:ext cx="1866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17364A"/>
                </a:solidFill>
                <a:latin typeface="Arial"/>
                <a:ea typeface="Arial"/>
                <a:cs typeface="Arial"/>
              </a:defRPr>
            </a:defPPr>
          </a:lstStyle>
          <a:p xmlns:a="http://schemas.openxmlformats.org/drawingml/2006/main">
            <a:pPr algn="l">
              <a:defRPr sz="1425" b="0">
                <a:solidFill>
                  <a:srgbClr val="17364A"/>
                </a:solidFill>
                <a:latin typeface="Arial"/>
                <a:ea typeface="Arial"/>
                <a:cs typeface="Arial"/>
              </a:defRPr>
            </a:pPr>
            <a:r>
              <a:rPr sz="1425" b="0">
                <a:solidFill>
                  <a:srgbClr val="17364A"/>
                </a:solidFill>
                <a:latin typeface="Arial"/>
                <a:ea typeface="Arial"/>
                <a:cs typeface="Arial"/>
              </a:rPr>
              <a:t>DLP / approvals</a:t>
            </a:r>
          </a:p>
        </p:txBody>
      </p:sp>
      <p:sp>
        <p:nvSpPr>
          <p:cNvPr id="68" name="component-cicd-89">
            <a:extLst xmlns:a="http://schemas.openxmlformats.org/drawingml/2006/main">
              <a:ext uri="{FF2B5EF4-FFF2-40B4-BE49-F238E27FC236}">
                <a16:creationId xmlns:a16="http://schemas.microsoft.com/office/drawing/2014/main" id="{0EEBB223-84C4-410C-9590-137B8ABA4749}"/>
              </a:ext>
            </a:extLst>
          </p:cNvPr>
          <p:cNvSpPr>
            <a:spLocks xmlns:a="http://schemas.openxmlformats.org/drawingml/2006/main" noGrp="1"/>
          </p:cNvSpPr>
          <p:nvPr/>
        </p:nvSpPr>
        <p:spPr>
          <a:xfrm xmlns:a="http://schemas.openxmlformats.org/drawingml/2006/main">
            <a:off x="7277100" y="5181600"/>
            <a:ext cx="2095500" cy="742950"/>
          </a:xfrm>
          <a:prstGeom xmlns:a="http://schemas.openxmlformats.org/drawingml/2006/main" prst="rect">
            <a:avLst/>
          </a:prstGeom>
          <a:solidFill xmlns:a="http://schemas.openxmlformats.org/drawingml/2006/main">
            <a:srgbClr val="F4F8FA"/>
          </a:solidFill>
          <a:ln xmlns:a="http://schemas.openxmlformats.org/drawingml/2006/main" w="9525">
            <a:solidFill>
              <a:srgbClr val="D1DEE5"/>
            </a:solidFill>
            <a:prstDash val="solid"/>
          </a:ln>
        </p:spPr>
      </p:sp>
      <p:sp>
        <p:nvSpPr>
          <p:cNvPr id="69" name="text-90">
            <a:extLst xmlns:a="http://schemas.openxmlformats.org/drawingml/2006/main">
              <a:ext uri="{FF2B5EF4-FFF2-40B4-BE49-F238E27FC236}">
                <a16:creationId xmlns:a16="http://schemas.microsoft.com/office/drawing/2014/main" id="{5672FF34-C082-43C4-8C1F-5D4B94E903B5}"/>
              </a:ext>
            </a:extLst>
          </p:cNvPr>
          <p:cNvSpPr>
            <a:spLocks xmlns:a="http://schemas.openxmlformats.org/drawingml/2006/main" noGrp="1"/>
          </p:cNvSpPr>
          <p:nvPr/>
        </p:nvSpPr>
        <p:spPr>
          <a:xfrm xmlns:a="http://schemas.openxmlformats.org/drawingml/2006/main">
            <a:off x="7391400" y="5276850"/>
            <a:ext cx="1866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087F83"/>
                </a:solidFill>
                <a:latin typeface="Arial"/>
                <a:ea typeface="Arial"/>
                <a:cs typeface="Arial"/>
              </a:defRPr>
            </a:defPPr>
          </a:lstStyle>
          <a:p xmlns:a="http://schemas.openxmlformats.org/drawingml/2006/main">
            <a:pPr algn="l">
              <a:defRPr sz="1275" b="1">
                <a:solidFill>
                  <a:srgbClr val="087F83"/>
                </a:solidFill>
                <a:latin typeface="Arial"/>
                <a:ea typeface="Arial"/>
                <a:cs typeface="Arial"/>
              </a:defRPr>
            </a:pPr>
            <a:r>
              <a:rPr sz="1275" b="1">
                <a:solidFill>
                  <a:srgbClr val="087F83"/>
                </a:solidFill>
                <a:latin typeface="Arial"/>
                <a:ea typeface="Arial"/>
                <a:cs typeface="Arial"/>
              </a:rPr>
              <a:t>cicd</a:t>
            </a:r>
          </a:p>
        </p:txBody>
      </p:sp>
      <p:sp>
        <p:nvSpPr>
          <p:cNvPr id="70" name="text-91">
            <a:extLst xmlns:a="http://schemas.openxmlformats.org/drawingml/2006/main">
              <a:ext uri="{FF2B5EF4-FFF2-40B4-BE49-F238E27FC236}">
                <a16:creationId xmlns:a16="http://schemas.microsoft.com/office/drawing/2014/main" id="{0B4020EA-959B-4FF1-AE95-10610661CAE1}"/>
              </a:ext>
            </a:extLst>
          </p:cNvPr>
          <p:cNvSpPr>
            <a:spLocks xmlns:a="http://schemas.openxmlformats.org/drawingml/2006/main" noGrp="1"/>
          </p:cNvSpPr>
          <p:nvPr/>
        </p:nvSpPr>
        <p:spPr>
          <a:xfrm xmlns:a="http://schemas.openxmlformats.org/drawingml/2006/main">
            <a:off x="7391400" y="5524500"/>
            <a:ext cx="1866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17364A"/>
                </a:solidFill>
                <a:latin typeface="Arial"/>
                <a:ea typeface="Arial"/>
                <a:cs typeface="Arial"/>
              </a:defRPr>
            </a:defPPr>
          </a:lstStyle>
          <a:p xmlns:a="http://schemas.openxmlformats.org/drawingml/2006/main">
            <a:pPr algn="l">
              <a:defRPr sz="1425" b="0">
                <a:solidFill>
                  <a:srgbClr val="17364A"/>
                </a:solidFill>
                <a:latin typeface="Arial"/>
                <a:ea typeface="Arial"/>
                <a:cs typeface="Arial"/>
              </a:defRPr>
            </a:pPr>
            <a:r>
              <a:rPr sz="1425" b="0">
                <a:solidFill>
                  <a:srgbClr val="17364A"/>
                </a:solidFill>
                <a:latin typeface="Arial"/>
                <a:ea typeface="Arial"/>
                <a:cs typeface="Arial"/>
              </a:rPr>
              <a:t>IaC / staging</a:t>
            </a:r>
          </a:p>
        </p:txBody>
      </p:sp>
      <p:sp>
        <p:nvSpPr>
          <p:cNvPr id="71" name="component-ops_labor-92">
            <a:extLst xmlns:a="http://schemas.openxmlformats.org/drawingml/2006/main">
              <a:ext uri="{FF2B5EF4-FFF2-40B4-BE49-F238E27FC236}">
                <a16:creationId xmlns:a16="http://schemas.microsoft.com/office/drawing/2014/main" id="{51FD1C82-E54C-426C-A5D5-C76DF8B617B0}"/>
              </a:ext>
            </a:extLst>
          </p:cNvPr>
          <p:cNvSpPr>
            <a:spLocks xmlns:a="http://schemas.openxmlformats.org/drawingml/2006/main" noGrp="1"/>
          </p:cNvSpPr>
          <p:nvPr/>
        </p:nvSpPr>
        <p:spPr>
          <a:xfrm xmlns:a="http://schemas.openxmlformats.org/drawingml/2006/main">
            <a:off x="9525000" y="5181600"/>
            <a:ext cx="2095500" cy="742950"/>
          </a:xfrm>
          <a:prstGeom xmlns:a="http://schemas.openxmlformats.org/drawingml/2006/main" prst="rect">
            <a:avLst/>
          </a:prstGeom>
          <a:solidFill xmlns:a="http://schemas.openxmlformats.org/drawingml/2006/main">
            <a:srgbClr val="F4F8FA"/>
          </a:solidFill>
          <a:ln xmlns:a="http://schemas.openxmlformats.org/drawingml/2006/main" w="9525">
            <a:solidFill>
              <a:srgbClr val="D1DEE5"/>
            </a:solidFill>
            <a:prstDash val="solid"/>
          </a:ln>
        </p:spPr>
      </p:sp>
      <p:sp>
        <p:nvSpPr>
          <p:cNvPr id="72" name="text-93">
            <a:extLst xmlns:a="http://schemas.openxmlformats.org/drawingml/2006/main">
              <a:ext uri="{FF2B5EF4-FFF2-40B4-BE49-F238E27FC236}">
                <a16:creationId xmlns:a16="http://schemas.microsoft.com/office/drawing/2014/main" id="{7312E0A5-4D76-4718-BC4F-73DEDBA5EBFA}"/>
              </a:ext>
            </a:extLst>
          </p:cNvPr>
          <p:cNvSpPr>
            <a:spLocks xmlns:a="http://schemas.openxmlformats.org/drawingml/2006/main" noGrp="1"/>
          </p:cNvSpPr>
          <p:nvPr/>
        </p:nvSpPr>
        <p:spPr>
          <a:xfrm xmlns:a="http://schemas.openxmlformats.org/drawingml/2006/main">
            <a:off x="9639300" y="5276850"/>
            <a:ext cx="1866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087F83"/>
                </a:solidFill>
                <a:latin typeface="Arial"/>
                <a:ea typeface="Arial"/>
                <a:cs typeface="Arial"/>
              </a:defRPr>
            </a:defPPr>
          </a:lstStyle>
          <a:p xmlns:a="http://schemas.openxmlformats.org/drawingml/2006/main">
            <a:pPr algn="l">
              <a:defRPr sz="1275" b="1">
                <a:solidFill>
                  <a:srgbClr val="087F83"/>
                </a:solidFill>
                <a:latin typeface="Arial"/>
                <a:ea typeface="Arial"/>
                <a:cs typeface="Arial"/>
              </a:defRPr>
            </a:pPr>
            <a:r>
              <a:rPr sz="1275" b="1">
                <a:solidFill>
                  <a:srgbClr val="087F83"/>
                </a:solidFill>
                <a:latin typeface="Arial"/>
                <a:ea typeface="Arial"/>
                <a:cs typeface="Arial"/>
              </a:rPr>
              <a:t>ops_labor</a:t>
            </a:r>
          </a:p>
        </p:txBody>
      </p:sp>
      <p:sp>
        <p:nvSpPr>
          <p:cNvPr id="73" name="text-94">
            <a:extLst xmlns:a="http://schemas.openxmlformats.org/drawingml/2006/main">
              <a:ext uri="{FF2B5EF4-FFF2-40B4-BE49-F238E27FC236}">
                <a16:creationId xmlns:a16="http://schemas.microsoft.com/office/drawing/2014/main" id="{20AF5698-FBBF-4D2D-83D9-08365E2B7816}"/>
              </a:ext>
            </a:extLst>
          </p:cNvPr>
          <p:cNvSpPr>
            <a:spLocks xmlns:a="http://schemas.openxmlformats.org/drawingml/2006/main" noGrp="1"/>
          </p:cNvSpPr>
          <p:nvPr/>
        </p:nvSpPr>
        <p:spPr>
          <a:xfrm xmlns:a="http://schemas.openxmlformats.org/drawingml/2006/main">
            <a:off x="9639300" y="5524500"/>
            <a:ext cx="1866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17364A"/>
                </a:solidFill>
                <a:latin typeface="Arial"/>
                <a:ea typeface="Arial"/>
                <a:cs typeface="Arial"/>
              </a:defRPr>
            </a:defPPr>
          </a:lstStyle>
          <a:p xmlns:a="http://schemas.openxmlformats.org/drawingml/2006/main">
            <a:pPr algn="l">
              <a:defRPr sz="1425" b="0">
                <a:solidFill>
                  <a:srgbClr val="17364A"/>
                </a:solidFill>
                <a:latin typeface="Arial"/>
                <a:ea typeface="Arial"/>
                <a:cs typeface="Arial"/>
              </a:defRPr>
            </a:pPr>
            <a:r>
              <a:rPr sz="1425" b="0">
                <a:solidFill>
                  <a:srgbClr val="17364A"/>
                </a:solidFill>
                <a:latin typeface="Arial"/>
                <a:ea typeface="Arial"/>
                <a:cs typeface="Arial"/>
              </a:rPr>
              <a:t>Shared operations</a:t>
            </a:r>
          </a:p>
        </p:txBody>
      </p:sp>
      <p:sp>
        <p:nvSpPr>
          <p:cNvPr id="74" name="text-95">
            <a:extLst xmlns:a="http://schemas.openxmlformats.org/drawingml/2006/main">
              <a:ext uri="{FF2B5EF4-FFF2-40B4-BE49-F238E27FC236}">
                <a16:creationId xmlns:a16="http://schemas.microsoft.com/office/drawing/2014/main" id="{69B75228-803B-45DC-B3DC-7694F21CA34D}"/>
              </a:ext>
            </a:extLst>
          </p:cNvPr>
          <p:cNvSpPr>
            <a:spLocks xmlns:a="http://schemas.openxmlformats.org/drawingml/2006/main" noGrp="1"/>
          </p:cNvSpPr>
          <p:nvPr/>
        </p:nvSpPr>
        <p:spPr>
          <a:xfrm xmlns:a="http://schemas.openxmlformats.org/drawingml/2006/main">
            <a:off x="533400" y="6076950"/>
            <a:ext cx="11125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587080"/>
                </a:solidFill>
                <a:latin typeface="Arial"/>
                <a:ea typeface="Arial"/>
                <a:cs typeface="Arial"/>
              </a:defRPr>
            </a:defPPr>
          </a:lstStyle>
          <a:p xmlns:a="http://schemas.openxmlformats.org/drawingml/2006/main">
            <a:pPr algn="l">
              <a:defRPr sz="1200" b="0">
                <a:solidFill>
                  <a:srgbClr val="587080"/>
                </a:solidFill>
                <a:latin typeface="Arial"/>
                <a:ea typeface="Arial"/>
                <a:cs typeface="Arial"/>
              </a:defRPr>
            </a:pPr>
            <a:r>
              <a:rPr sz="1200" b="0">
                <a:solidFill>
                  <a:srgbClr val="587080"/>
                </a:solidFill>
                <a:latin typeface="Arial"/>
                <a:ea typeface="Arial"/>
                <a:cs typeface="Arial"/>
              </a:rPr>
              <a:t>Primary Singapore. Nova: APAC, Sonnet: Global, ảnh: Oregon. LB nằm trong API Gateway.</a:t>
            </a:r>
          </a:p>
        </p:txBody>
      </p:sp>
    </p:spTree>
    <p:extLst>
      <p:ext uri="{BB962C8B-B14F-4D97-AF65-F5344CB8AC3E}">
        <p14:creationId xmlns:p14="http://schemas.microsoft.com/office/powerpoint/2010/main" val="97553870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31" name="">
            <a:extLst xmlns:a="http://schemas.openxmlformats.org/drawingml/2006/main">
              <a:ext uri="{FF2B5EF4-FFF2-40B4-BE49-F238E27FC236}">
                <a16:creationId xmlns:a16="http://schemas.microsoft.com/office/drawing/2014/main" id="{C96E9DC0-A8AB-4F26-BAC4-C58FB5D066C7}"/>
              </a:ext>
            </a:extLst>
          </p:cNvPr>
          <p:cNvCxnSpPr>
            <a:stCxn xmlns:a="http://schemas.openxmlformats.org/drawingml/2006/main" id="21" idx="3"/>
            <a:endCxn xmlns:a="http://schemas.openxmlformats.org/drawingml/2006/main" id="24" idx="1"/>
          </p:cNvCxnSpPr>
          <p:nvPr/>
        </p:nvCxnSpPr>
        <p:spPr>
          <a:xfrm xmlns:a="http://schemas.openxmlformats.org/drawingml/2006/main">
            <a:off x="7886700" y="4276725"/>
            <a:ext cx="190500" cy="0"/>
          </a:xfrm>
          <a:prstGeom xmlns:a="http://schemas.openxmlformats.org/drawingml/2006/main" prst="straightConnector1">
            <a:avLst/>
          </a:prstGeom>
          <a:ln xmlns:a="http://schemas.openxmlformats.org/drawingml/2006/main" w="19050">
            <a:solidFill>
              <a:srgbClr val="087F83"/>
            </a:solidFill>
            <a:prstDash val="solid"/>
            <a:tailEnd type="triangle" w="sm" len="sm"/>
          </a:ln>
        </p:spPr>
      </p:cxnSp>
      <p:cxnSp>
        <p:nvCxnSpPr>
          <p:cNvPr id="30" name="">
            <a:extLst xmlns:a="http://schemas.openxmlformats.org/drawingml/2006/main">
              <a:ext uri="{FF2B5EF4-FFF2-40B4-BE49-F238E27FC236}">
                <a16:creationId xmlns:a16="http://schemas.microsoft.com/office/drawing/2014/main" id="{3BC1279A-C09A-44FA-9397-13A159A3D1F3}"/>
              </a:ext>
            </a:extLst>
          </p:cNvPr>
          <p:cNvCxnSpPr>
            <a:stCxn xmlns:a="http://schemas.openxmlformats.org/drawingml/2006/main" id="18" idx="3"/>
            <a:endCxn xmlns:a="http://schemas.openxmlformats.org/drawingml/2006/main" id="21" idx="1"/>
          </p:cNvCxnSpPr>
          <p:nvPr/>
        </p:nvCxnSpPr>
        <p:spPr>
          <a:xfrm xmlns:a="http://schemas.openxmlformats.org/drawingml/2006/main">
            <a:off x="4114800" y="4276725"/>
            <a:ext cx="190500" cy="0"/>
          </a:xfrm>
          <a:prstGeom xmlns:a="http://schemas.openxmlformats.org/drawingml/2006/main" prst="straightConnector1">
            <a:avLst/>
          </a:prstGeom>
          <a:ln xmlns:a="http://schemas.openxmlformats.org/drawingml/2006/main" w="19050">
            <a:solidFill>
              <a:srgbClr val="087F83"/>
            </a:solidFill>
            <a:prstDash val="solid"/>
            <a:tailEnd type="triangle" w="sm" len="sm"/>
          </a:ln>
        </p:spPr>
      </p:cxnSp>
      <p:cxnSp>
        <p:nvCxnSpPr>
          <p:cNvPr id="29" name="">
            <a:extLst xmlns:a="http://schemas.openxmlformats.org/drawingml/2006/main">
              <a:ext uri="{FF2B5EF4-FFF2-40B4-BE49-F238E27FC236}">
                <a16:creationId xmlns:a16="http://schemas.microsoft.com/office/drawing/2014/main" id="{CF6D1E96-0429-4B49-A2D7-FC9048346338}"/>
              </a:ext>
            </a:extLst>
          </p:cNvPr>
          <p:cNvCxnSpPr>
            <a:stCxn xmlns:a="http://schemas.openxmlformats.org/drawingml/2006/main" id="12" idx="3"/>
            <a:endCxn xmlns:a="http://schemas.openxmlformats.org/drawingml/2006/main" id="15" idx="1"/>
          </p:cNvCxnSpPr>
          <p:nvPr/>
        </p:nvCxnSpPr>
        <p:spPr>
          <a:xfrm xmlns:a="http://schemas.openxmlformats.org/drawingml/2006/main">
            <a:off x="8839200" y="2371725"/>
            <a:ext cx="152400" cy="0"/>
          </a:xfrm>
          <a:prstGeom xmlns:a="http://schemas.openxmlformats.org/drawingml/2006/main" prst="straightConnector1">
            <a:avLst/>
          </a:prstGeom>
          <a:ln xmlns:a="http://schemas.openxmlformats.org/drawingml/2006/main" w="19050">
            <a:solidFill>
              <a:srgbClr val="087F83"/>
            </a:solidFill>
            <a:prstDash val="solid"/>
            <a:tailEnd type="triangle" w="sm" len="sm"/>
          </a:ln>
        </p:spPr>
      </p:cxnSp>
      <p:cxnSp>
        <p:nvCxnSpPr>
          <p:cNvPr id="28" name="">
            <a:extLst xmlns:a="http://schemas.openxmlformats.org/drawingml/2006/main">
              <a:ext uri="{FF2B5EF4-FFF2-40B4-BE49-F238E27FC236}">
                <a16:creationId xmlns:a16="http://schemas.microsoft.com/office/drawing/2014/main" id="{E99B9516-4427-4CB0-B61C-1B56EF584B4B}"/>
              </a:ext>
            </a:extLst>
          </p:cNvPr>
          <p:cNvCxnSpPr>
            <a:stCxn xmlns:a="http://schemas.openxmlformats.org/drawingml/2006/main" id="9" idx="3"/>
            <a:endCxn xmlns:a="http://schemas.openxmlformats.org/drawingml/2006/main" id="12" idx="1"/>
          </p:cNvCxnSpPr>
          <p:nvPr/>
        </p:nvCxnSpPr>
        <p:spPr>
          <a:xfrm xmlns:a="http://schemas.openxmlformats.org/drawingml/2006/main">
            <a:off x="6019800" y="2371725"/>
            <a:ext cx="152400" cy="0"/>
          </a:xfrm>
          <a:prstGeom xmlns:a="http://schemas.openxmlformats.org/drawingml/2006/main" prst="straightConnector1">
            <a:avLst/>
          </a:prstGeom>
          <a:ln xmlns:a="http://schemas.openxmlformats.org/drawingml/2006/main" w="19050">
            <a:solidFill>
              <a:srgbClr val="087F83"/>
            </a:solidFill>
            <a:prstDash val="solid"/>
            <a:tailEnd type="triangle" w="sm" len="sm"/>
          </a:ln>
        </p:spPr>
      </p:cxnSp>
      <p:cxnSp>
        <p:nvCxnSpPr>
          <p:cNvPr id="27" name="">
            <a:extLst xmlns:a="http://schemas.openxmlformats.org/drawingml/2006/main">
              <a:ext uri="{FF2B5EF4-FFF2-40B4-BE49-F238E27FC236}">
                <a16:creationId xmlns:a16="http://schemas.microsoft.com/office/drawing/2014/main" id="{105B1779-C8C4-4457-943F-A287AB0C8187}"/>
              </a:ext>
            </a:extLst>
          </p:cNvPr>
          <p:cNvCxnSpPr>
            <a:stCxn xmlns:a="http://schemas.openxmlformats.org/drawingml/2006/main" id="6" idx="3"/>
            <a:endCxn xmlns:a="http://schemas.openxmlformats.org/drawingml/2006/main" id="9" idx="1"/>
          </p:cNvCxnSpPr>
          <p:nvPr/>
        </p:nvCxnSpPr>
        <p:spPr>
          <a:xfrm xmlns:a="http://schemas.openxmlformats.org/drawingml/2006/main">
            <a:off x="3200400" y="2371725"/>
            <a:ext cx="152400" cy="0"/>
          </a:xfrm>
          <a:prstGeom xmlns:a="http://schemas.openxmlformats.org/drawingml/2006/main" prst="straightConnector1">
            <a:avLst/>
          </a:prstGeom>
          <a:ln xmlns:a="http://schemas.openxmlformats.org/drawingml/2006/main" w="19050">
            <a:solidFill>
              <a:srgbClr val="087F83"/>
            </a:solidFill>
            <a:prstDash val="solid"/>
            <a:tailEnd type="triangle" w="sm" len="sm"/>
          </a:ln>
        </p:spPr>
      </p:cxnSp>
      <p:sp>
        <p:nvSpPr>
          <p:cNvPr id="35" name="shape-96">
            <a:extLst xmlns:a="http://schemas.openxmlformats.org/drawingml/2006/main">
              <a:ext uri="{FF2B5EF4-FFF2-40B4-BE49-F238E27FC236}">
                <a16:creationId xmlns:a16="http://schemas.microsoft.com/office/drawing/2014/main" id="{DD37FBC7-6CF2-49E4-AA1C-786D0C54F78F}"/>
              </a:ext>
            </a:extLst>
          </p:cNvPr>
          <p:cNvSpPr>
            <a:spLocks xmlns:a="http://schemas.openxmlformats.org/drawingml/2006/main" noGrp="1"/>
          </p:cNvSpPr>
          <p:nvPr/>
        </p:nvSpPr>
        <p:spPr>
          <a:xfrm xmlns:a="http://schemas.openxmlformats.org/drawingml/2006/main">
            <a:off x="533400" y="428625"/>
            <a:ext cx="419100" cy="47625"/>
          </a:xfrm>
          <a:prstGeom xmlns:a="http://schemas.openxmlformats.org/drawingml/2006/main" prst="rect">
            <a:avLst/>
          </a:prstGeom>
          <a:solidFill xmlns:a="http://schemas.openxmlformats.org/drawingml/2006/main">
            <a:srgbClr val="087F83"/>
          </a:solidFill>
          <a:ln xmlns:a="http://schemas.openxmlformats.org/drawingml/2006/main" w="0">
            <a:noFill/>
            <a:prstDash val="solid"/>
          </a:ln>
        </p:spPr>
      </p:sp>
      <p:sp>
        <p:nvSpPr>
          <p:cNvPr id="2" name="text-97">
            <a:extLst xmlns:a="http://schemas.openxmlformats.org/drawingml/2006/main">
              <a:ext uri="{FF2B5EF4-FFF2-40B4-BE49-F238E27FC236}">
                <a16:creationId xmlns:a16="http://schemas.microsoft.com/office/drawing/2014/main" id="{C6713D30-87F0-4433-82FB-BA1CC581561B}"/>
              </a:ext>
            </a:extLst>
          </p:cNvPr>
          <p:cNvSpPr>
            <a:spLocks xmlns:a="http://schemas.openxmlformats.org/drawingml/2006/main" noGrp="1"/>
          </p:cNvSpPr>
          <p:nvPr/>
        </p:nvSpPr>
        <p:spPr>
          <a:xfrm xmlns:a="http://schemas.openxmlformats.org/drawingml/2006/main">
            <a:off x="533400" y="657225"/>
            <a:ext cx="111252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7364A"/>
                </a:solidFill>
                <a:latin typeface="Arial"/>
                <a:ea typeface="Arial"/>
                <a:cs typeface="Arial"/>
              </a:defRPr>
            </a:defPPr>
          </a:lstStyle>
          <a:p xmlns:a="http://schemas.openxmlformats.org/drawingml/2006/main">
            <a:pPr algn="l">
              <a:defRPr sz="2700" b="1">
                <a:solidFill>
                  <a:srgbClr val="17364A"/>
                </a:solidFill>
                <a:latin typeface="Arial"/>
                <a:ea typeface="Arial"/>
                <a:cs typeface="Arial"/>
              </a:defRPr>
            </a:pPr>
            <a:r>
              <a:rPr sz="2700" b="1">
                <a:solidFill>
                  <a:srgbClr val="17364A"/>
                </a:solidFill>
                <a:latin typeface="Arial"/>
                <a:ea typeface="Arial"/>
                <a:cs typeface="Arial"/>
              </a:rPr>
              <a:t>Một request đi qua kiểm tra quyền và ngân sách</a:t>
            </a:r>
          </a:p>
        </p:txBody>
      </p:sp>
      <p:sp>
        <p:nvSpPr>
          <p:cNvPr id="3" name="shape-98">
            <a:extLst xmlns:a="http://schemas.openxmlformats.org/drawingml/2006/main">
              <a:ext uri="{FF2B5EF4-FFF2-40B4-BE49-F238E27FC236}">
                <a16:creationId xmlns:a16="http://schemas.microsoft.com/office/drawing/2014/main" id="{09FE769E-5D89-4CDD-821B-B7E70FC1BCF5}"/>
              </a:ext>
            </a:extLst>
          </p:cNvPr>
          <p:cNvSpPr>
            <a:spLocks xmlns:a="http://schemas.openxmlformats.org/drawingml/2006/main" noGrp="1"/>
          </p:cNvSpPr>
          <p:nvPr/>
        </p:nvSpPr>
        <p:spPr>
          <a:xfrm xmlns:a="http://schemas.openxmlformats.org/drawingml/2006/main">
            <a:off x="533400" y="6381750"/>
            <a:ext cx="11125200" cy="9525"/>
          </a:xfrm>
          <a:prstGeom xmlns:a="http://schemas.openxmlformats.org/drawingml/2006/main" prst="rect">
            <a:avLst/>
          </a:prstGeom>
          <a:solidFill xmlns:a="http://schemas.openxmlformats.org/drawingml/2006/main">
            <a:srgbClr val="D1DEE5"/>
          </a:solidFill>
          <a:ln xmlns:a="http://schemas.openxmlformats.org/drawingml/2006/main" w="0">
            <a:noFill/>
            <a:prstDash val="solid"/>
          </a:ln>
        </p:spPr>
      </p:sp>
      <p:sp>
        <p:nvSpPr>
          <p:cNvPr id="4" name="text-99">
            <a:extLst xmlns:a="http://schemas.openxmlformats.org/drawingml/2006/main">
              <a:ext uri="{FF2B5EF4-FFF2-40B4-BE49-F238E27FC236}">
                <a16:creationId xmlns:a16="http://schemas.microsoft.com/office/drawing/2014/main" id="{686ACFE0-F35F-4CBE-8774-B17974AF7676}"/>
              </a:ext>
            </a:extLst>
          </p:cNvPr>
          <p:cNvSpPr>
            <a:spLocks xmlns:a="http://schemas.openxmlformats.org/drawingml/2006/main" noGrp="1"/>
          </p:cNvSpPr>
          <p:nvPr/>
        </p:nvSpPr>
        <p:spPr>
          <a:xfrm xmlns:a="http://schemas.openxmlformats.org/drawingml/2006/main">
            <a:off x="533400" y="651510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87080"/>
                </a:solidFill>
                <a:latin typeface="Arial"/>
                <a:ea typeface="Arial"/>
                <a:cs typeface="Arial"/>
              </a:defRPr>
            </a:defPPr>
          </a:lstStyle>
          <a:p xmlns:a="http://schemas.openxmlformats.org/drawingml/2006/main">
            <a:pPr algn="l">
              <a:defRPr sz="975" b="0">
                <a:solidFill>
                  <a:srgbClr val="587080"/>
                </a:solidFill>
                <a:latin typeface="Arial"/>
                <a:ea typeface="Arial"/>
                <a:cs typeface="Arial"/>
              </a:defRPr>
            </a:pPr>
            <a:r>
              <a:rPr sz="975" b="0">
                <a:solidFill>
                  <a:srgbClr val="587080"/>
                </a:solidFill>
                <a:latin typeface="Arial"/>
                <a:ea typeface="Arial"/>
                <a:cs typeface="Arial"/>
              </a:rPr>
              <a:t>G03  /  Eviaura</a:t>
            </a:r>
          </a:p>
        </p:txBody>
      </p:sp>
      <p:sp>
        <p:nvSpPr>
          <p:cNvPr id="5" name="text-100">
            <a:extLst xmlns:a="http://schemas.openxmlformats.org/drawingml/2006/main">
              <a:ext uri="{FF2B5EF4-FFF2-40B4-BE49-F238E27FC236}">
                <a16:creationId xmlns:a16="http://schemas.microsoft.com/office/drawing/2014/main" id="{D064F2AA-9E3D-4587-9233-9F66E564894B}"/>
              </a:ext>
            </a:extLst>
          </p:cNvPr>
          <p:cNvSpPr>
            <a:spLocks xmlns:a="http://schemas.openxmlformats.org/drawingml/2006/main" noGrp="1"/>
          </p:cNvSpPr>
          <p:nvPr/>
        </p:nvSpPr>
        <p:spPr>
          <a:xfrm xmlns:a="http://schemas.openxmlformats.org/drawingml/2006/main">
            <a:off x="11049000" y="6496050"/>
            <a:ext cx="609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050" b="0">
                <a:solidFill>
                  <a:srgbClr val="587080"/>
                </a:solidFill>
                <a:latin typeface="Arial"/>
                <a:ea typeface="Arial"/>
                <a:cs typeface="Arial"/>
              </a:defRPr>
            </a:defPPr>
          </a:lstStyle>
          <a:p xmlns:a="http://schemas.openxmlformats.org/drawingml/2006/main">
            <a:pPr algn="r">
              <a:defRPr sz="1050" b="0">
                <a:solidFill>
                  <a:srgbClr val="587080"/>
                </a:solidFill>
                <a:latin typeface="Arial"/>
                <a:ea typeface="Arial"/>
                <a:cs typeface="Arial"/>
              </a:defRPr>
            </a:pPr>
            <a:r>
              <a:rPr sz="1050" b="0">
                <a:solidFill>
                  <a:srgbClr val="587080"/>
                </a:solidFill>
                <a:latin typeface="Arial"/>
                <a:ea typeface="Arial"/>
                <a:cs typeface="Arial"/>
              </a:rPr>
              <a:t>05</a:t>
            </a:r>
          </a:p>
        </p:txBody>
      </p:sp>
      <p:sp>
        <p:nvSpPr>
          <p:cNvPr id="6" name="shape-101">
            <a:extLst xmlns:a="http://schemas.openxmlformats.org/drawingml/2006/main">
              <a:ext uri="{FF2B5EF4-FFF2-40B4-BE49-F238E27FC236}">
                <a16:creationId xmlns:a16="http://schemas.microsoft.com/office/drawing/2014/main" id="{B284C3AD-A072-4197-BA58-7A2ADBE6CB44}"/>
              </a:ext>
            </a:extLst>
          </p:cNvPr>
          <p:cNvSpPr>
            <a:spLocks xmlns:a="http://schemas.openxmlformats.org/drawingml/2006/main" noGrp="1"/>
          </p:cNvSpPr>
          <p:nvPr/>
        </p:nvSpPr>
        <p:spPr>
          <a:xfrm xmlns:a="http://schemas.openxmlformats.org/drawingml/2006/main">
            <a:off x="533400" y="1809750"/>
            <a:ext cx="2667000" cy="1123950"/>
          </a:xfrm>
          <a:prstGeom xmlns:a="http://schemas.openxmlformats.org/drawingml/2006/main" prst="rect">
            <a:avLst/>
          </a:prstGeom>
          <a:solidFill xmlns:a="http://schemas.openxmlformats.org/drawingml/2006/main">
            <a:srgbClr val="F4F8FA"/>
          </a:solidFill>
          <a:ln xmlns:a="http://schemas.openxmlformats.org/drawingml/2006/main" w="9525">
            <a:solidFill>
              <a:srgbClr val="D1DEE5"/>
            </a:solidFill>
            <a:prstDash val="solid"/>
          </a:ln>
        </p:spPr>
      </p:sp>
      <p:sp>
        <p:nvSpPr>
          <p:cNvPr id="7" name="text-102">
            <a:extLst xmlns:a="http://schemas.openxmlformats.org/drawingml/2006/main">
              <a:ext uri="{FF2B5EF4-FFF2-40B4-BE49-F238E27FC236}">
                <a16:creationId xmlns:a16="http://schemas.microsoft.com/office/drawing/2014/main" id="{619FF31F-9531-4CF7-92F4-8470CC25B27A}"/>
              </a:ext>
            </a:extLst>
          </p:cNvPr>
          <p:cNvSpPr>
            <a:spLocks xmlns:a="http://schemas.openxmlformats.org/drawingml/2006/main" noGrp="1"/>
          </p:cNvSpPr>
          <p:nvPr/>
        </p:nvSpPr>
        <p:spPr>
          <a:xfrm xmlns:a="http://schemas.openxmlformats.org/drawingml/2006/main">
            <a:off x="685800" y="1952625"/>
            <a:ext cx="2362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087F83"/>
                </a:solidFill>
                <a:latin typeface="Arial"/>
                <a:ea typeface="Arial"/>
                <a:cs typeface="Arial"/>
              </a:defRPr>
            </a:defPPr>
          </a:lstStyle>
          <a:p xmlns:a="http://schemas.openxmlformats.org/drawingml/2006/main">
            <a:pPr algn="l">
              <a:defRPr sz="1875" b="1">
                <a:solidFill>
                  <a:srgbClr val="087F83"/>
                </a:solidFill>
                <a:latin typeface="Arial"/>
                <a:ea typeface="Arial"/>
                <a:cs typeface="Arial"/>
              </a:defRPr>
            </a:pPr>
            <a:r>
              <a:rPr sz="1875" b="1">
                <a:solidFill>
                  <a:srgbClr val="087F83"/>
                </a:solidFill>
                <a:latin typeface="Arial"/>
                <a:ea typeface="Arial"/>
                <a:cs typeface="Arial"/>
              </a:rPr>
              <a:t>1. SSO + MFA</a:t>
            </a:r>
          </a:p>
        </p:txBody>
      </p:sp>
      <p:sp>
        <p:nvSpPr>
          <p:cNvPr id="8" name="text-103">
            <a:extLst xmlns:a="http://schemas.openxmlformats.org/drawingml/2006/main">
              <a:ext uri="{FF2B5EF4-FFF2-40B4-BE49-F238E27FC236}">
                <a16:creationId xmlns:a16="http://schemas.microsoft.com/office/drawing/2014/main" id="{4B678D97-E51D-4EC9-8796-A2AF420B2EBE}"/>
              </a:ext>
            </a:extLst>
          </p:cNvPr>
          <p:cNvSpPr>
            <a:spLocks xmlns:a="http://schemas.openxmlformats.org/drawingml/2006/main" noGrp="1"/>
          </p:cNvSpPr>
          <p:nvPr/>
        </p:nvSpPr>
        <p:spPr>
          <a:xfrm xmlns:a="http://schemas.openxmlformats.org/drawingml/2006/main">
            <a:off x="685800" y="2400300"/>
            <a:ext cx="23622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7364A"/>
                </a:solidFill>
                <a:latin typeface="Arial"/>
                <a:ea typeface="Arial"/>
                <a:cs typeface="Arial"/>
              </a:defRPr>
            </a:defPPr>
          </a:lstStyle>
          <a:p xmlns:a="http://schemas.openxmlformats.org/drawingml/2006/main">
            <a:pPr algn="l">
              <a:defRPr sz="1650" b="0">
                <a:solidFill>
                  <a:srgbClr val="17364A"/>
                </a:solidFill>
                <a:latin typeface="Arial"/>
                <a:ea typeface="Arial"/>
                <a:cs typeface="Arial"/>
              </a:defRPr>
            </a:pPr>
            <a:r>
              <a:rPr sz="1650" b="0">
                <a:solidFill>
                  <a:srgbClr val="17364A"/>
                </a:solidFill>
                <a:latin typeface="Arial"/>
                <a:ea typeface="Arial"/>
                <a:cs typeface="Arial"/>
              </a:rPr>
              <a:t>Access token, scope</a:t>
            </a:r>
          </a:p>
        </p:txBody>
      </p:sp>
      <p:sp>
        <p:nvSpPr>
          <p:cNvPr id="9" name="shape-104">
            <a:extLst xmlns:a="http://schemas.openxmlformats.org/drawingml/2006/main">
              <a:ext uri="{FF2B5EF4-FFF2-40B4-BE49-F238E27FC236}">
                <a16:creationId xmlns:a16="http://schemas.microsoft.com/office/drawing/2014/main" id="{397A9C82-F8A7-4498-B1CD-1DC5D8CA5A57}"/>
              </a:ext>
            </a:extLst>
          </p:cNvPr>
          <p:cNvSpPr>
            <a:spLocks xmlns:a="http://schemas.openxmlformats.org/drawingml/2006/main" noGrp="1"/>
          </p:cNvSpPr>
          <p:nvPr/>
        </p:nvSpPr>
        <p:spPr>
          <a:xfrm xmlns:a="http://schemas.openxmlformats.org/drawingml/2006/main">
            <a:off x="3352800" y="1809750"/>
            <a:ext cx="2667000" cy="1123950"/>
          </a:xfrm>
          <a:prstGeom xmlns:a="http://schemas.openxmlformats.org/drawingml/2006/main" prst="rect">
            <a:avLst/>
          </a:prstGeom>
          <a:solidFill xmlns:a="http://schemas.openxmlformats.org/drawingml/2006/main">
            <a:srgbClr val="F4F8FA"/>
          </a:solidFill>
          <a:ln xmlns:a="http://schemas.openxmlformats.org/drawingml/2006/main" w="9525">
            <a:solidFill>
              <a:srgbClr val="D1DEE5"/>
            </a:solidFill>
            <a:prstDash val="solid"/>
          </a:ln>
        </p:spPr>
      </p:sp>
      <p:sp>
        <p:nvSpPr>
          <p:cNvPr id="10" name="text-105">
            <a:extLst xmlns:a="http://schemas.openxmlformats.org/drawingml/2006/main">
              <a:ext uri="{FF2B5EF4-FFF2-40B4-BE49-F238E27FC236}">
                <a16:creationId xmlns:a16="http://schemas.microsoft.com/office/drawing/2014/main" id="{B54583B0-DB93-4EDB-BE9F-88451AC7C901}"/>
              </a:ext>
            </a:extLst>
          </p:cNvPr>
          <p:cNvSpPr>
            <a:spLocks xmlns:a="http://schemas.openxmlformats.org/drawingml/2006/main" noGrp="1"/>
          </p:cNvSpPr>
          <p:nvPr/>
        </p:nvSpPr>
        <p:spPr>
          <a:xfrm xmlns:a="http://schemas.openxmlformats.org/drawingml/2006/main">
            <a:off x="3505200" y="1952625"/>
            <a:ext cx="2362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087F83"/>
                </a:solidFill>
                <a:latin typeface="Arial"/>
                <a:ea typeface="Arial"/>
                <a:cs typeface="Arial"/>
              </a:defRPr>
            </a:defPPr>
          </a:lstStyle>
          <a:p xmlns:a="http://schemas.openxmlformats.org/drawingml/2006/main">
            <a:pPr algn="l">
              <a:defRPr sz="1875" b="1">
                <a:solidFill>
                  <a:srgbClr val="087F83"/>
                </a:solidFill>
                <a:latin typeface="Arial"/>
                <a:ea typeface="Arial"/>
                <a:cs typeface="Arial"/>
              </a:defRPr>
            </a:pPr>
            <a:r>
              <a:rPr sz="1875" b="1">
                <a:solidFill>
                  <a:srgbClr val="087F83"/>
                </a:solidFill>
                <a:latin typeface="Arial"/>
                <a:ea typeface="Arial"/>
                <a:cs typeface="Arial"/>
              </a:rPr>
              <a:t>2. LB / gateway</a:t>
            </a:r>
          </a:p>
        </p:txBody>
      </p:sp>
      <p:sp>
        <p:nvSpPr>
          <p:cNvPr id="11" name="text-106">
            <a:extLst xmlns:a="http://schemas.openxmlformats.org/drawingml/2006/main">
              <a:ext uri="{FF2B5EF4-FFF2-40B4-BE49-F238E27FC236}">
                <a16:creationId xmlns:a16="http://schemas.microsoft.com/office/drawing/2014/main" id="{BDEAD8C9-65C5-4746-851D-C9DBEC4B0545}"/>
              </a:ext>
            </a:extLst>
          </p:cNvPr>
          <p:cNvSpPr>
            <a:spLocks xmlns:a="http://schemas.openxmlformats.org/drawingml/2006/main" noGrp="1"/>
          </p:cNvSpPr>
          <p:nvPr/>
        </p:nvSpPr>
        <p:spPr>
          <a:xfrm xmlns:a="http://schemas.openxmlformats.org/drawingml/2006/main">
            <a:off x="3505200" y="2400300"/>
            <a:ext cx="23622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7364A"/>
                </a:solidFill>
                <a:latin typeface="Arial"/>
                <a:ea typeface="Arial"/>
                <a:cs typeface="Arial"/>
              </a:defRPr>
            </a:defPPr>
          </a:lstStyle>
          <a:p xmlns:a="http://schemas.openxmlformats.org/drawingml/2006/main">
            <a:pPr algn="l">
              <a:defRPr sz="1650" b="0">
                <a:solidFill>
                  <a:srgbClr val="17364A"/>
                </a:solidFill>
                <a:latin typeface="Arial"/>
                <a:ea typeface="Arial"/>
                <a:cs typeface="Arial"/>
              </a:defRPr>
            </a:pPr>
            <a:r>
              <a:rPr sz="1650" b="0">
                <a:solidFill>
                  <a:srgbClr val="17364A"/>
                </a:solidFill>
                <a:latin typeface="Arial"/>
                <a:ea typeface="Arial"/>
                <a:cs typeface="Arial"/>
              </a:rPr>
              <a:t>Xác thực và throttle</a:t>
            </a:r>
          </a:p>
        </p:txBody>
      </p:sp>
      <p:sp>
        <p:nvSpPr>
          <p:cNvPr id="12" name="shape-107">
            <a:extLst xmlns:a="http://schemas.openxmlformats.org/drawingml/2006/main">
              <a:ext uri="{FF2B5EF4-FFF2-40B4-BE49-F238E27FC236}">
                <a16:creationId xmlns:a16="http://schemas.microsoft.com/office/drawing/2014/main" id="{6B00AA8A-FC20-4541-9865-107FE817DFEA}"/>
              </a:ext>
            </a:extLst>
          </p:cNvPr>
          <p:cNvSpPr>
            <a:spLocks xmlns:a="http://schemas.openxmlformats.org/drawingml/2006/main" noGrp="1"/>
          </p:cNvSpPr>
          <p:nvPr/>
        </p:nvSpPr>
        <p:spPr>
          <a:xfrm xmlns:a="http://schemas.openxmlformats.org/drawingml/2006/main">
            <a:off x="6172200" y="1809750"/>
            <a:ext cx="2667000" cy="1123950"/>
          </a:xfrm>
          <a:prstGeom xmlns:a="http://schemas.openxmlformats.org/drawingml/2006/main" prst="rect">
            <a:avLst/>
          </a:prstGeom>
          <a:solidFill xmlns:a="http://schemas.openxmlformats.org/drawingml/2006/main">
            <a:srgbClr val="F4F8FA"/>
          </a:solidFill>
          <a:ln xmlns:a="http://schemas.openxmlformats.org/drawingml/2006/main" w="9525">
            <a:solidFill>
              <a:srgbClr val="D1DEE5"/>
            </a:solidFill>
            <a:prstDash val="solid"/>
          </a:ln>
        </p:spPr>
      </p:sp>
      <p:sp>
        <p:nvSpPr>
          <p:cNvPr id="13" name="text-108">
            <a:extLst xmlns:a="http://schemas.openxmlformats.org/drawingml/2006/main">
              <a:ext uri="{FF2B5EF4-FFF2-40B4-BE49-F238E27FC236}">
                <a16:creationId xmlns:a16="http://schemas.microsoft.com/office/drawing/2014/main" id="{ACA059BB-CA04-4BA7-BA02-53D6BE1CDEE3}"/>
              </a:ext>
            </a:extLst>
          </p:cNvPr>
          <p:cNvSpPr>
            <a:spLocks xmlns:a="http://schemas.openxmlformats.org/drawingml/2006/main" noGrp="1"/>
          </p:cNvSpPr>
          <p:nvPr/>
        </p:nvSpPr>
        <p:spPr>
          <a:xfrm xmlns:a="http://schemas.openxmlformats.org/drawingml/2006/main">
            <a:off x="6324600" y="1952625"/>
            <a:ext cx="2362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087F83"/>
                </a:solidFill>
                <a:latin typeface="Arial"/>
                <a:ea typeface="Arial"/>
                <a:cs typeface="Arial"/>
              </a:defRPr>
            </a:defPPr>
          </a:lstStyle>
          <a:p xmlns:a="http://schemas.openxmlformats.org/drawingml/2006/main">
            <a:pPr algn="l">
              <a:defRPr sz="1875" b="1">
                <a:solidFill>
                  <a:srgbClr val="087F83"/>
                </a:solidFill>
                <a:latin typeface="Arial"/>
                <a:ea typeface="Arial"/>
                <a:cs typeface="Arial"/>
              </a:defRPr>
            </a:pPr>
            <a:r>
              <a:rPr sz="1875" b="1">
                <a:solidFill>
                  <a:srgbClr val="087F83"/>
                </a:solidFill>
                <a:latin typeface="Arial"/>
                <a:ea typeface="Arial"/>
                <a:cs typeface="Arial"/>
              </a:rPr>
              <a:t>3. Admission</a:t>
            </a:r>
          </a:p>
        </p:txBody>
      </p:sp>
      <p:sp>
        <p:nvSpPr>
          <p:cNvPr id="14" name="text-109">
            <a:extLst xmlns:a="http://schemas.openxmlformats.org/drawingml/2006/main">
              <a:ext uri="{FF2B5EF4-FFF2-40B4-BE49-F238E27FC236}">
                <a16:creationId xmlns:a16="http://schemas.microsoft.com/office/drawing/2014/main" id="{8966F7AF-934F-4791-A998-392C4A378B76}"/>
              </a:ext>
            </a:extLst>
          </p:cNvPr>
          <p:cNvSpPr>
            <a:spLocks xmlns:a="http://schemas.openxmlformats.org/drawingml/2006/main" noGrp="1"/>
          </p:cNvSpPr>
          <p:nvPr/>
        </p:nvSpPr>
        <p:spPr>
          <a:xfrm xmlns:a="http://schemas.openxmlformats.org/drawingml/2006/main">
            <a:off x="6324600" y="2400300"/>
            <a:ext cx="23622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7364A"/>
                </a:solidFill>
                <a:latin typeface="Arial"/>
                <a:ea typeface="Arial"/>
                <a:cs typeface="Arial"/>
              </a:defRPr>
            </a:defPPr>
          </a:lstStyle>
          <a:p xmlns:a="http://schemas.openxmlformats.org/drawingml/2006/main">
            <a:pPr algn="l">
              <a:defRPr sz="1650" b="0">
                <a:solidFill>
                  <a:srgbClr val="17364A"/>
                </a:solidFill>
                <a:latin typeface="Arial"/>
                <a:ea typeface="Arial"/>
                <a:cs typeface="Arial"/>
              </a:defRPr>
            </a:pPr>
            <a:r>
              <a:rPr sz="1650" b="0">
                <a:solidFill>
                  <a:srgbClr val="17364A"/>
                </a:solidFill>
                <a:latin typeface="Arial"/>
                <a:ea typeface="Arial"/>
                <a:cs typeface="Arial"/>
              </a:rPr>
              <a:t>Quyền và cost reserve</a:t>
            </a:r>
          </a:p>
        </p:txBody>
      </p:sp>
      <p:sp>
        <p:nvSpPr>
          <p:cNvPr id="15" name="shape-110">
            <a:extLst xmlns:a="http://schemas.openxmlformats.org/drawingml/2006/main">
              <a:ext uri="{FF2B5EF4-FFF2-40B4-BE49-F238E27FC236}">
                <a16:creationId xmlns:a16="http://schemas.microsoft.com/office/drawing/2014/main" id="{F0147A79-8775-43EB-B22E-5DE1098B3DE5}"/>
              </a:ext>
            </a:extLst>
          </p:cNvPr>
          <p:cNvSpPr>
            <a:spLocks xmlns:a="http://schemas.openxmlformats.org/drawingml/2006/main" noGrp="1"/>
          </p:cNvSpPr>
          <p:nvPr/>
        </p:nvSpPr>
        <p:spPr>
          <a:xfrm xmlns:a="http://schemas.openxmlformats.org/drawingml/2006/main">
            <a:off x="8991600" y="1809750"/>
            <a:ext cx="2667000" cy="1123950"/>
          </a:xfrm>
          <a:prstGeom xmlns:a="http://schemas.openxmlformats.org/drawingml/2006/main" prst="rect">
            <a:avLst/>
          </a:prstGeom>
          <a:solidFill xmlns:a="http://schemas.openxmlformats.org/drawingml/2006/main">
            <a:srgbClr val="F4F8FA"/>
          </a:solidFill>
          <a:ln xmlns:a="http://schemas.openxmlformats.org/drawingml/2006/main" w="9525">
            <a:solidFill>
              <a:srgbClr val="D1DEE5"/>
            </a:solidFill>
            <a:prstDash val="solid"/>
          </a:ln>
        </p:spPr>
      </p:sp>
      <p:sp>
        <p:nvSpPr>
          <p:cNvPr id="16" name="text-111">
            <a:extLst xmlns:a="http://schemas.openxmlformats.org/drawingml/2006/main">
              <a:ext uri="{FF2B5EF4-FFF2-40B4-BE49-F238E27FC236}">
                <a16:creationId xmlns:a16="http://schemas.microsoft.com/office/drawing/2014/main" id="{54EC6CDE-813E-4476-B694-921FEEC928C5}"/>
              </a:ext>
            </a:extLst>
          </p:cNvPr>
          <p:cNvSpPr>
            <a:spLocks xmlns:a="http://schemas.openxmlformats.org/drawingml/2006/main" noGrp="1"/>
          </p:cNvSpPr>
          <p:nvPr/>
        </p:nvSpPr>
        <p:spPr>
          <a:xfrm xmlns:a="http://schemas.openxmlformats.org/drawingml/2006/main">
            <a:off x="9144000" y="1952625"/>
            <a:ext cx="2362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087F83"/>
                </a:solidFill>
                <a:latin typeface="Arial"/>
                <a:ea typeface="Arial"/>
                <a:cs typeface="Arial"/>
              </a:defRPr>
            </a:defPPr>
          </a:lstStyle>
          <a:p xmlns:a="http://schemas.openxmlformats.org/drawingml/2006/main">
            <a:pPr algn="l">
              <a:defRPr sz="1875" b="1">
                <a:solidFill>
                  <a:srgbClr val="087F83"/>
                </a:solidFill>
                <a:latin typeface="Arial"/>
                <a:ea typeface="Arial"/>
                <a:cs typeface="Arial"/>
              </a:defRPr>
            </a:pPr>
            <a:r>
              <a:rPr sz="1875" b="1">
                <a:solidFill>
                  <a:srgbClr val="087F83"/>
                </a:solidFill>
                <a:latin typeface="Arial"/>
                <a:ea typeface="Arial"/>
                <a:cs typeface="Arial"/>
              </a:rPr>
              <a:t>4. Retrieval</a:t>
            </a:r>
          </a:p>
        </p:txBody>
      </p:sp>
      <p:sp>
        <p:nvSpPr>
          <p:cNvPr id="17" name="text-112">
            <a:extLst xmlns:a="http://schemas.openxmlformats.org/drawingml/2006/main">
              <a:ext uri="{FF2B5EF4-FFF2-40B4-BE49-F238E27FC236}">
                <a16:creationId xmlns:a16="http://schemas.microsoft.com/office/drawing/2014/main" id="{DAE466BB-9D57-4E76-BB69-2777B813C8B2}"/>
              </a:ext>
            </a:extLst>
          </p:cNvPr>
          <p:cNvSpPr>
            <a:spLocks xmlns:a="http://schemas.openxmlformats.org/drawingml/2006/main" noGrp="1"/>
          </p:cNvSpPr>
          <p:nvPr/>
        </p:nvSpPr>
        <p:spPr>
          <a:xfrm xmlns:a="http://schemas.openxmlformats.org/drawingml/2006/main">
            <a:off x="9144000" y="2400300"/>
            <a:ext cx="23622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7364A"/>
                </a:solidFill>
                <a:latin typeface="Arial"/>
                <a:ea typeface="Arial"/>
                <a:cs typeface="Arial"/>
              </a:defRPr>
            </a:defPPr>
          </a:lstStyle>
          <a:p xmlns:a="http://schemas.openxmlformats.org/drawingml/2006/main">
            <a:pPr algn="l">
              <a:defRPr sz="1650" b="0">
                <a:solidFill>
                  <a:srgbClr val="17364A"/>
                </a:solidFill>
                <a:latin typeface="Arial"/>
                <a:ea typeface="Arial"/>
                <a:cs typeface="Arial"/>
              </a:defRPr>
            </a:pPr>
            <a:r>
              <a:rPr sz="1650" b="0">
                <a:solidFill>
                  <a:srgbClr val="17364A"/>
                </a:solidFill>
                <a:latin typeface="Arial"/>
                <a:ea typeface="Arial"/>
                <a:cs typeface="Arial"/>
              </a:rPr>
              <a:t>ACL tại nguồn</a:t>
            </a:r>
          </a:p>
        </p:txBody>
      </p:sp>
      <p:sp>
        <p:nvSpPr>
          <p:cNvPr id="18" name="shape-113">
            <a:extLst xmlns:a="http://schemas.openxmlformats.org/drawingml/2006/main">
              <a:ext uri="{FF2B5EF4-FFF2-40B4-BE49-F238E27FC236}">
                <a16:creationId xmlns:a16="http://schemas.microsoft.com/office/drawing/2014/main" id="{70AF04E3-F020-45C4-B7FA-BF517476337F}"/>
              </a:ext>
            </a:extLst>
          </p:cNvPr>
          <p:cNvSpPr>
            <a:spLocks xmlns:a="http://schemas.openxmlformats.org/drawingml/2006/main" noGrp="1"/>
          </p:cNvSpPr>
          <p:nvPr/>
        </p:nvSpPr>
        <p:spPr>
          <a:xfrm xmlns:a="http://schemas.openxmlformats.org/drawingml/2006/main">
            <a:off x="533400" y="3714750"/>
            <a:ext cx="3581400" cy="1123950"/>
          </a:xfrm>
          <a:prstGeom xmlns:a="http://schemas.openxmlformats.org/drawingml/2006/main" prst="rect">
            <a:avLst/>
          </a:prstGeom>
          <a:solidFill xmlns:a="http://schemas.openxmlformats.org/drawingml/2006/main">
            <a:srgbClr val="F4F8FA"/>
          </a:solidFill>
          <a:ln xmlns:a="http://schemas.openxmlformats.org/drawingml/2006/main" w="9525">
            <a:solidFill>
              <a:srgbClr val="D1DEE5"/>
            </a:solidFill>
            <a:prstDash val="solid"/>
          </a:ln>
        </p:spPr>
      </p:sp>
      <p:sp>
        <p:nvSpPr>
          <p:cNvPr id="19" name="text-114">
            <a:extLst xmlns:a="http://schemas.openxmlformats.org/drawingml/2006/main">
              <a:ext uri="{FF2B5EF4-FFF2-40B4-BE49-F238E27FC236}">
                <a16:creationId xmlns:a16="http://schemas.microsoft.com/office/drawing/2014/main" id="{8AD92F2D-2480-4FF2-8869-647E80BF9909}"/>
              </a:ext>
            </a:extLst>
          </p:cNvPr>
          <p:cNvSpPr>
            <a:spLocks xmlns:a="http://schemas.openxmlformats.org/drawingml/2006/main" noGrp="1"/>
          </p:cNvSpPr>
          <p:nvPr/>
        </p:nvSpPr>
        <p:spPr>
          <a:xfrm xmlns:a="http://schemas.openxmlformats.org/drawingml/2006/main">
            <a:off x="685800" y="3857625"/>
            <a:ext cx="3276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087F83"/>
                </a:solidFill>
                <a:latin typeface="Arial"/>
                <a:ea typeface="Arial"/>
                <a:cs typeface="Arial"/>
              </a:defRPr>
            </a:defPPr>
          </a:lstStyle>
          <a:p xmlns:a="http://schemas.openxmlformats.org/drawingml/2006/main">
            <a:pPr algn="l">
              <a:defRPr sz="1875" b="1">
                <a:solidFill>
                  <a:srgbClr val="087F83"/>
                </a:solidFill>
                <a:latin typeface="Arial"/>
                <a:ea typeface="Arial"/>
                <a:cs typeface="Arial"/>
              </a:defRPr>
            </a:pPr>
            <a:r>
              <a:rPr sz="1875" b="1">
                <a:solidFill>
                  <a:srgbClr val="087F83"/>
                </a:solidFill>
                <a:latin typeface="Arial"/>
                <a:ea typeface="Arial"/>
                <a:cs typeface="Arial"/>
              </a:rPr>
              <a:t>5. Model / tools</a:t>
            </a:r>
          </a:p>
        </p:txBody>
      </p:sp>
      <p:sp>
        <p:nvSpPr>
          <p:cNvPr id="20" name="text-115">
            <a:extLst xmlns:a="http://schemas.openxmlformats.org/drawingml/2006/main">
              <a:ext uri="{FF2B5EF4-FFF2-40B4-BE49-F238E27FC236}">
                <a16:creationId xmlns:a16="http://schemas.microsoft.com/office/drawing/2014/main" id="{3C71C7D4-23D5-4C92-BD29-8DF9C2937A0D}"/>
              </a:ext>
            </a:extLst>
          </p:cNvPr>
          <p:cNvSpPr>
            <a:spLocks xmlns:a="http://schemas.openxmlformats.org/drawingml/2006/main" noGrp="1"/>
          </p:cNvSpPr>
          <p:nvPr/>
        </p:nvSpPr>
        <p:spPr>
          <a:xfrm xmlns:a="http://schemas.openxmlformats.org/drawingml/2006/main">
            <a:off x="685800" y="4305300"/>
            <a:ext cx="32766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7364A"/>
                </a:solidFill>
                <a:latin typeface="Arial"/>
                <a:ea typeface="Arial"/>
                <a:cs typeface="Arial"/>
              </a:defRPr>
            </a:defPPr>
          </a:lstStyle>
          <a:p xmlns:a="http://schemas.openxmlformats.org/drawingml/2006/main">
            <a:pPr algn="l">
              <a:defRPr sz="1650" b="0">
                <a:solidFill>
                  <a:srgbClr val="17364A"/>
                </a:solidFill>
                <a:latin typeface="Arial"/>
                <a:ea typeface="Arial"/>
                <a:cs typeface="Arial"/>
              </a:defRPr>
            </a:pPr>
            <a:r>
              <a:rPr sz="1650" b="0">
                <a:solidFill>
                  <a:srgbClr val="17364A"/>
                </a:solidFill>
                <a:latin typeface="Arial"/>
                <a:ea typeface="Arial"/>
                <a:cs typeface="Arial"/>
              </a:rPr>
              <a:t>Route hoặc background</a:t>
            </a:r>
          </a:p>
        </p:txBody>
      </p:sp>
      <p:sp>
        <p:nvSpPr>
          <p:cNvPr id="21" name="shape-116">
            <a:extLst xmlns:a="http://schemas.openxmlformats.org/drawingml/2006/main">
              <a:ext uri="{FF2B5EF4-FFF2-40B4-BE49-F238E27FC236}">
                <a16:creationId xmlns:a16="http://schemas.microsoft.com/office/drawing/2014/main" id="{93FEFDB2-19DE-4D08-9E02-3B68E871075B}"/>
              </a:ext>
            </a:extLst>
          </p:cNvPr>
          <p:cNvSpPr>
            <a:spLocks xmlns:a="http://schemas.openxmlformats.org/drawingml/2006/main" noGrp="1"/>
          </p:cNvSpPr>
          <p:nvPr/>
        </p:nvSpPr>
        <p:spPr>
          <a:xfrm xmlns:a="http://schemas.openxmlformats.org/drawingml/2006/main">
            <a:off x="4305300" y="3714750"/>
            <a:ext cx="3581400" cy="1123950"/>
          </a:xfrm>
          <a:prstGeom xmlns:a="http://schemas.openxmlformats.org/drawingml/2006/main" prst="rect">
            <a:avLst/>
          </a:prstGeom>
          <a:solidFill xmlns:a="http://schemas.openxmlformats.org/drawingml/2006/main">
            <a:srgbClr val="F4F8FA"/>
          </a:solidFill>
          <a:ln xmlns:a="http://schemas.openxmlformats.org/drawingml/2006/main" w="9525">
            <a:solidFill>
              <a:srgbClr val="D1DEE5"/>
            </a:solidFill>
            <a:prstDash val="solid"/>
          </a:ln>
        </p:spPr>
      </p:sp>
      <p:sp>
        <p:nvSpPr>
          <p:cNvPr id="22" name="text-117">
            <a:extLst xmlns:a="http://schemas.openxmlformats.org/drawingml/2006/main">
              <a:ext uri="{FF2B5EF4-FFF2-40B4-BE49-F238E27FC236}">
                <a16:creationId xmlns:a16="http://schemas.microsoft.com/office/drawing/2014/main" id="{F242014C-334F-4941-ADC1-8829283B0894}"/>
              </a:ext>
            </a:extLst>
          </p:cNvPr>
          <p:cNvSpPr>
            <a:spLocks xmlns:a="http://schemas.openxmlformats.org/drawingml/2006/main" noGrp="1"/>
          </p:cNvSpPr>
          <p:nvPr/>
        </p:nvSpPr>
        <p:spPr>
          <a:xfrm xmlns:a="http://schemas.openxmlformats.org/drawingml/2006/main">
            <a:off x="4457700" y="3857625"/>
            <a:ext cx="3276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087F83"/>
                </a:solidFill>
                <a:latin typeface="Arial"/>
                <a:ea typeface="Arial"/>
                <a:cs typeface="Arial"/>
              </a:defRPr>
            </a:defPPr>
          </a:lstStyle>
          <a:p xmlns:a="http://schemas.openxmlformats.org/drawingml/2006/main">
            <a:pPr algn="l">
              <a:defRPr sz="1875" b="1">
                <a:solidFill>
                  <a:srgbClr val="087F83"/>
                </a:solidFill>
                <a:latin typeface="Arial"/>
                <a:ea typeface="Arial"/>
                <a:cs typeface="Arial"/>
              </a:defRPr>
            </a:pPr>
            <a:r>
              <a:rPr sz="1875" b="1">
                <a:solidFill>
                  <a:srgbClr val="087F83"/>
                </a:solidFill>
                <a:latin typeface="Arial"/>
                <a:ea typeface="Arial"/>
                <a:cs typeface="Arial"/>
              </a:rPr>
              <a:t>6. Output check</a:t>
            </a:r>
          </a:p>
        </p:txBody>
      </p:sp>
      <p:sp>
        <p:nvSpPr>
          <p:cNvPr id="23" name="text-118">
            <a:extLst xmlns:a="http://schemas.openxmlformats.org/drawingml/2006/main">
              <a:ext uri="{FF2B5EF4-FFF2-40B4-BE49-F238E27FC236}">
                <a16:creationId xmlns:a16="http://schemas.microsoft.com/office/drawing/2014/main" id="{7AF7CBF7-EEBD-41EE-8A57-4CA00C98DD8E}"/>
              </a:ext>
            </a:extLst>
          </p:cNvPr>
          <p:cNvSpPr>
            <a:spLocks xmlns:a="http://schemas.openxmlformats.org/drawingml/2006/main" noGrp="1"/>
          </p:cNvSpPr>
          <p:nvPr/>
        </p:nvSpPr>
        <p:spPr>
          <a:xfrm xmlns:a="http://schemas.openxmlformats.org/drawingml/2006/main">
            <a:off x="4457700" y="4305300"/>
            <a:ext cx="32766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7364A"/>
                </a:solidFill>
                <a:latin typeface="Arial"/>
                <a:ea typeface="Arial"/>
                <a:cs typeface="Arial"/>
              </a:defRPr>
            </a:defPPr>
          </a:lstStyle>
          <a:p xmlns:a="http://schemas.openxmlformats.org/drawingml/2006/main">
            <a:pPr algn="l">
              <a:defRPr sz="1650" b="0">
                <a:solidFill>
                  <a:srgbClr val="17364A"/>
                </a:solidFill>
                <a:latin typeface="Arial"/>
                <a:ea typeface="Arial"/>
                <a:cs typeface="Arial"/>
              </a:defRPr>
            </a:pPr>
            <a:r>
              <a:rPr sz="1650" b="0">
                <a:solidFill>
                  <a:srgbClr val="17364A"/>
                </a:solidFill>
                <a:latin typeface="Arial"/>
                <a:ea typeface="Arial"/>
                <a:cs typeface="Arial"/>
              </a:rPr>
              <a:t>DLP trước phát chunk</a:t>
            </a:r>
          </a:p>
        </p:txBody>
      </p:sp>
      <p:sp>
        <p:nvSpPr>
          <p:cNvPr id="24" name="shape-119">
            <a:extLst xmlns:a="http://schemas.openxmlformats.org/drawingml/2006/main">
              <a:ext uri="{FF2B5EF4-FFF2-40B4-BE49-F238E27FC236}">
                <a16:creationId xmlns:a16="http://schemas.microsoft.com/office/drawing/2014/main" id="{3EBB2214-4CAD-4D5D-AA68-15E120C6F160}"/>
              </a:ext>
            </a:extLst>
          </p:cNvPr>
          <p:cNvSpPr>
            <a:spLocks xmlns:a="http://schemas.openxmlformats.org/drawingml/2006/main" noGrp="1"/>
          </p:cNvSpPr>
          <p:nvPr/>
        </p:nvSpPr>
        <p:spPr>
          <a:xfrm xmlns:a="http://schemas.openxmlformats.org/drawingml/2006/main">
            <a:off x="8077200" y="3714750"/>
            <a:ext cx="3581400" cy="1123950"/>
          </a:xfrm>
          <a:prstGeom xmlns:a="http://schemas.openxmlformats.org/drawingml/2006/main" prst="rect">
            <a:avLst/>
          </a:prstGeom>
          <a:solidFill xmlns:a="http://schemas.openxmlformats.org/drawingml/2006/main">
            <a:srgbClr val="F4F8FA"/>
          </a:solidFill>
          <a:ln xmlns:a="http://schemas.openxmlformats.org/drawingml/2006/main" w="9525">
            <a:solidFill>
              <a:srgbClr val="D1DEE5"/>
            </a:solidFill>
            <a:prstDash val="solid"/>
          </a:ln>
        </p:spPr>
      </p:sp>
      <p:sp>
        <p:nvSpPr>
          <p:cNvPr id="25" name="text-120">
            <a:extLst xmlns:a="http://schemas.openxmlformats.org/drawingml/2006/main">
              <a:ext uri="{FF2B5EF4-FFF2-40B4-BE49-F238E27FC236}">
                <a16:creationId xmlns:a16="http://schemas.microsoft.com/office/drawing/2014/main" id="{552F22AD-322D-440A-8422-AC45564A2D66}"/>
              </a:ext>
            </a:extLst>
          </p:cNvPr>
          <p:cNvSpPr>
            <a:spLocks xmlns:a="http://schemas.openxmlformats.org/drawingml/2006/main" noGrp="1"/>
          </p:cNvSpPr>
          <p:nvPr/>
        </p:nvSpPr>
        <p:spPr>
          <a:xfrm xmlns:a="http://schemas.openxmlformats.org/drawingml/2006/main">
            <a:off x="8229600" y="3857625"/>
            <a:ext cx="3276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087F83"/>
                </a:solidFill>
                <a:latin typeface="Arial"/>
                <a:ea typeface="Arial"/>
                <a:cs typeface="Arial"/>
              </a:defRPr>
            </a:defPPr>
          </a:lstStyle>
          <a:p xmlns:a="http://schemas.openxmlformats.org/drawingml/2006/main">
            <a:pPr algn="l">
              <a:defRPr sz="1875" b="1">
                <a:solidFill>
                  <a:srgbClr val="087F83"/>
                </a:solidFill>
                <a:latin typeface="Arial"/>
                <a:ea typeface="Arial"/>
                <a:cs typeface="Arial"/>
              </a:defRPr>
            </a:pPr>
            <a:r>
              <a:rPr sz="1875" b="1">
                <a:solidFill>
                  <a:srgbClr val="087F83"/>
                </a:solidFill>
                <a:latin typeface="Arial"/>
                <a:ea typeface="Arial"/>
                <a:cs typeface="Arial"/>
              </a:rPr>
              <a:t>7. Phản hồi</a:t>
            </a:r>
          </a:p>
        </p:txBody>
      </p:sp>
      <p:sp>
        <p:nvSpPr>
          <p:cNvPr id="26" name="text-121">
            <a:extLst xmlns:a="http://schemas.openxmlformats.org/drawingml/2006/main">
              <a:ext uri="{FF2B5EF4-FFF2-40B4-BE49-F238E27FC236}">
                <a16:creationId xmlns:a16="http://schemas.microsoft.com/office/drawing/2014/main" id="{4CE871B8-F213-4C05-8B78-E62648AE5ED6}"/>
              </a:ext>
            </a:extLst>
          </p:cNvPr>
          <p:cNvSpPr>
            <a:spLocks xmlns:a="http://schemas.openxmlformats.org/drawingml/2006/main" noGrp="1"/>
          </p:cNvSpPr>
          <p:nvPr/>
        </p:nvSpPr>
        <p:spPr>
          <a:xfrm xmlns:a="http://schemas.openxmlformats.org/drawingml/2006/main">
            <a:off x="8229600" y="4305300"/>
            <a:ext cx="32766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7364A"/>
                </a:solidFill>
                <a:latin typeface="Arial"/>
                <a:ea typeface="Arial"/>
                <a:cs typeface="Arial"/>
              </a:defRPr>
            </a:defPPr>
          </a:lstStyle>
          <a:p xmlns:a="http://schemas.openxmlformats.org/drawingml/2006/main">
            <a:pPr algn="l">
              <a:defRPr sz="1650" b="0">
                <a:solidFill>
                  <a:srgbClr val="17364A"/>
                </a:solidFill>
                <a:latin typeface="Arial"/>
                <a:ea typeface="Arial"/>
                <a:cs typeface="Arial"/>
              </a:defRPr>
            </a:pPr>
            <a:r>
              <a:rPr sz="1650" b="0">
                <a:solidFill>
                  <a:srgbClr val="17364A"/>
                </a:solidFill>
                <a:latin typeface="Arial"/>
                <a:ea typeface="Arial"/>
                <a:cs typeface="Arial"/>
              </a:rPr>
              <a:t>SSE hoặc trạng thái job</a:t>
            </a:r>
          </a:p>
        </p:txBody>
      </p:sp>
      <p:sp>
        <p:nvSpPr>
          <p:cNvPr id="32" name="text-122">
            <a:extLst xmlns:a="http://schemas.openxmlformats.org/drawingml/2006/main">
              <a:ext uri="{FF2B5EF4-FFF2-40B4-BE49-F238E27FC236}">
                <a16:creationId xmlns:a16="http://schemas.microsoft.com/office/drawing/2014/main" id="{4C70CA27-B65B-4693-99ED-B06A82C8917B}"/>
              </a:ext>
            </a:extLst>
          </p:cNvPr>
          <p:cNvSpPr>
            <a:spLocks xmlns:a="http://schemas.openxmlformats.org/drawingml/2006/main" noGrp="1"/>
          </p:cNvSpPr>
          <p:nvPr/>
        </p:nvSpPr>
        <p:spPr>
          <a:xfrm xmlns:a="http://schemas.openxmlformats.org/drawingml/2006/main">
            <a:off x="533400" y="3162300"/>
            <a:ext cx="11125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87080"/>
                </a:solidFill>
                <a:latin typeface="Arial"/>
                <a:ea typeface="Arial"/>
                <a:cs typeface="Arial"/>
              </a:defRPr>
            </a:defPPr>
          </a:lstStyle>
          <a:p xmlns:a="http://schemas.openxmlformats.org/drawingml/2006/main">
            <a:pPr algn="l">
              <a:defRPr sz="1725" b="0">
                <a:solidFill>
                  <a:srgbClr val="587080"/>
                </a:solidFill>
                <a:latin typeface="Arial"/>
                <a:ea typeface="Arial"/>
                <a:cs typeface="Arial"/>
              </a:defRPr>
            </a:pPr>
            <a:r>
              <a:rPr sz="1725" b="0">
                <a:solidFill>
                  <a:srgbClr val="587080"/>
                </a:solidFill>
                <a:latin typeface="Arial"/>
                <a:ea typeface="Arial"/>
                <a:cs typeface="Arial"/>
              </a:rPr>
              <a:t>Kết quả retrieval đã kiểm quyền trở thành context cho bước 5</a:t>
            </a:r>
          </a:p>
        </p:txBody>
      </p:sp>
      <p:sp>
        <p:nvSpPr>
          <p:cNvPr id="33" name="shape-123">
            <a:extLst xmlns:a="http://schemas.openxmlformats.org/drawingml/2006/main">
              <a:ext uri="{FF2B5EF4-FFF2-40B4-BE49-F238E27FC236}">
                <a16:creationId xmlns:a16="http://schemas.microsoft.com/office/drawing/2014/main" id="{1B759068-EB6F-40CE-AF23-3EB4D3A579FA}"/>
              </a:ext>
            </a:extLst>
          </p:cNvPr>
          <p:cNvSpPr>
            <a:spLocks xmlns:a="http://schemas.openxmlformats.org/drawingml/2006/main" noGrp="1"/>
          </p:cNvSpPr>
          <p:nvPr/>
        </p:nvSpPr>
        <p:spPr>
          <a:xfrm xmlns:a="http://schemas.openxmlformats.org/drawingml/2006/main">
            <a:off x="533400" y="5810250"/>
            <a:ext cx="11125200" cy="400050"/>
          </a:xfrm>
          <a:prstGeom xmlns:a="http://schemas.openxmlformats.org/drawingml/2006/main" prst="rect">
            <a:avLst/>
          </a:prstGeom>
          <a:solidFill xmlns:a="http://schemas.openxmlformats.org/drawingml/2006/main">
            <a:srgbClr val="E8F4F3"/>
          </a:solidFill>
          <a:ln xmlns:a="http://schemas.openxmlformats.org/drawingml/2006/main" w="0">
            <a:noFill/>
            <a:prstDash val="solid"/>
          </a:ln>
        </p:spPr>
      </p:sp>
      <p:sp>
        <p:nvSpPr>
          <p:cNvPr id="34" name="text-124">
            <a:extLst xmlns:a="http://schemas.openxmlformats.org/drawingml/2006/main">
              <a:ext uri="{FF2B5EF4-FFF2-40B4-BE49-F238E27FC236}">
                <a16:creationId xmlns:a16="http://schemas.microsoft.com/office/drawing/2014/main" id="{2CCAFD11-0E1D-4AA2-9991-441823ED2E9E}"/>
              </a:ext>
            </a:extLst>
          </p:cNvPr>
          <p:cNvSpPr>
            <a:spLocks xmlns:a="http://schemas.openxmlformats.org/drawingml/2006/main" noGrp="1"/>
          </p:cNvSpPr>
          <p:nvPr/>
        </p:nvSpPr>
        <p:spPr>
          <a:xfrm xmlns:a="http://schemas.openxmlformats.org/drawingml/2006/main">
            <a:off x="666750" y="5905500"/>
            <a:ext cx="10858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17364A"/>
                </a:solidFill>
                <a:latin typeface="Arial"/>
                <a:ea typeface="Arial"/>
                <a:cs typeface="Arial"/>
              </a:defRPr>
            </a:defPPr>
          </a:lstStyle>
          <a:p xmlns:a="http://schemas.openxmlformats.org/drawingml/2006/main">
            <a:pPr algn="l">
              <a:defRPr sz="1350" b="0">
                <a:solidFill>
                  <a:srgbClr val="17364A"/>
                </a:solidFill>
                <a:latin typeface="Arial"/>
                <a:ea typeface="Arial"/>
                <a:cs typeface="Arial"/>
              </a:defRPr>
            </a:pPr>
            <a:r>
              <a:rPr sz="1350" b="0">
                <a:solidFill>
                  <a:srgbClr val="17364A"/>
                </a:solidFill>
                <a:latin typeface="Arial"/>
                <a:ea typeface="Arial"/>
                <a:cs typeface="Arial"/>
              </a:rPr>
              <a:t>Gửi mail, sửa ticket/page hoặc xóa file: proposal có digest, user xác nhận, worker kiểm tra lại.</a:t>
            </a:r>
          </a:p>
        </p:txBody>
      </p:sp>
    </p:spTree>
    <p:extLst>
      <p:ext uri="{BB962C8B-B14F-4D97-AF65-F5344CB8AC3E}">
        <p14:creationId xmlns:p14="http://schemas.microsoft.com/office/powerpoint/2010/main" val="87116868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hape-125">
            <a:extLst xmlns:a="http://schemas.openxmlformats.org/drawingml/2006/main">
              <a:ext uri="{FF2B5EF4-FFF2-40B4-BE49-F238E27FC236}">
                <a16:creationId xmlns:a16="http://schemas.microsoft.com/office/drawing/2014/main" id="{72910E9D-1AE1-463F-B6E0-6FA8614939DC}"/>
              </a:ext>
            </a:extLst>
          </p:cNvPr>
          <p:cNvSpPr>
            <a:spLocks xmlns:a="http://schemas.openxmlformats.org/drawingml/2006/main" noGrp="1"/>
          </p:cNvSpPr>
          <p:nvPr/>
        </p:nvSpPr>
        <p:spPr>
          <a:xfrm xmlns:a="http://schemas.openxmlformats.org/drawingml/2006/main">
            <a:off x="533400" y="428625"/>
            <a:ext cx="419100" cy="47625"/>
          </a:xfrm>
          <a:prstGeom xmlns:a="http://schemas.openxmlformats.org/drawingml/2006/main" prst="rect">
            <a:avLst/>
          </a:prstGeom>
          <a:solidFill xmlns:a="http://schemas.openxmlformats.org/drawingml/2006/main">
            <a:srgbClr val="087F83"/>
          </a:solidFill>
          <a:ln xmlns:a="http://schemas.openxmlformats.org/drawingml/2006/main" w="0">
            <a:noFill/>
            <a:prstDash val="solid"/>
          </a:ln>
        </p:spPr>
      </p:sp>
      <p:sp>
        <p:nvSpPr>
          <p:cNvPr id="2" name="text-126">
            <a:extLst xmlns:a="http://schemas.openxmlformats.org/drawingml/2006/main">
              <a:ext uri="{FF2B5EF4-FFF2-40B4-BE49-F238E27FC236}">
                <a16:creationId xmlns:a16="http://schemas.microsoft.com/office/drawing/2014/main" id="{768E880A-D11D-4EF5-B7BB-4BBBD4531885}"/>
              </a:ext>
            </a:extLst>
          </p:cNvPr>
          <p:cNvSpPr>
            <a:spLocks xmlns:a="http://schemas.openxmlformats.org/drawingml/2006/main" noGrp="1"/>
          </p:cNvSpPr>
          <p:nvPr/>
        </p:nvSpPr>
        <p:spPr>
          <a:xfrm xmlns:a="http://schemas.openxmlformats.org/drawingml/2006/main">
            <a:off x="533400" y="657225"/>
            <a:ext cx="111252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7364A"/>
                </a:solidFill>
                <a:latin typeface="Arial"/>
                <a:ea typeface="Arial"/>
                <a:cs typeface="Arial"/>
              </a:defRPr>
            </a:defPPr>
          </a:lstStyle>
          <a:p xmlns:a="http://schemas.openxmlformats.org/drawingml/2006/main">
            <a:pPr algn="l">
              <a:defRPr sz="2700" b="1">
                <a:solidFill>
                  <a:srgbClr val="17364A"/>
                </a:solidFill>
                <a:latin typeface="Arial"/>
                <a:ea typeface="Arial"/>
                <a:cs typeface="Arial"/>
              </a:defRPr>
            </a:pPr>
            <a:r>
              <a:rPr sz="2700" b="1">
                <a:solidFill>
                  <a:srgbClr val="17364A"/>
                </a:solidFill>
                <a:latin typeface="Arial"/>
                <a:ea typeface="Arial"/>
                <a:cs typeface="Arial"/>
              </a:rPr>
              <a:t>Model nhỏ chỉ thay baseline sau khi đạt chất lượng</a:t>
            </a:r>
          </a:p>
        </p:txBody>
      </p:sp>
      <p:sp>
        <p:nvSpPr>
          <p:cNvPr id="3" name="shape-127">
            <a:extLst xmlns:a="http://schemas.openxmlformats.org/drawingml/2006/main">
              <a:ext uri="{FF2B5EF4-FFF2-40B4-BE49-F238E27FC236}">
                <a16:creationId xmlns:a16="http://schemas.microsoft.com/office/drawing/2014/main" id="{DD1C74B4-A32D-4C3E-A743-0384E44E1ABA}"/>
              </a:ext>
            </a:extLst>
          </p:cNvPr>
          <p:cNvSpPr>
            <a:spLocks xmlns:a="http://schemas.openxmlformats.org/drawingml/2006/main" noGrp="1"/>
          </p:cNvSpPr>
          <p:nvPr/>
        </p:nvSpPr>
        <p:spPr>
          <a:xfrm xmlns:a="http://schemas.openxmlformats.org/drawingml/2006/main">
            <a:off x="533400" y="6381750"/>
            <a:ext cx="11125200" cy="9525"/>
          </a:xfrm>
          <a:prstGeom xmlns:a="http://schemas.openxmlformats.org/drawingml/2006/main" prst="rect">
            <a:avLst/>
          </a:prstGeom>
          <a:solidFill xmlns:a="http://schemas.openxmlformats.org/drawingml/2006/main">
            <a:srgbClr val="D1DEE5"/>
          </a:solidFill>
          <a:ln xmlns:a="http://schemas.openxmlformats.org/drawingml/2006/main" w="0">
            <a:noFill/>
            <a:prstDash val="solid"/>
          </a:ln>
        </p:spPr>
      </p:sp>
      <p:sp>
        <p:nvSpPr>
          <p:cNvPr id="4" name="text-128">
            <a:extLst xmlns:a="http://schemas.openxmlformats.org/drawingml/2006/main">
              <a:ext uri="{FF2B5EF4-FFF2-40B4-BE49-F238E27FC236}">
                <a16:creationId xmlns:a16="http://schemas.microsoft.com/office/drawing/2014/main" id="{E90F053E-CB7C-4D73-8111-1854C135BCA1}"/>
              </a:ext>
            </a:extLst>
          </p:cNvPr>
          <p:cNvSpPr>
            <a:spLocks xmlns:a="http://schemas.openxmlformats.org/drawingml/2006/main" noGrp="1"/>
          </p:cNvSpPr>
          <p:nvPr/>
        </p:nvSpPr>
        <p:spPr>
          <a:xfrm xmlns:a="http://schemas.openxmlformats.org/drawingml/2006/main">
            <a:off x="533400" y="651510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87080"/>
                </a:solidFill>
                <a:latin typeface="Arial"/>
                <a:ea typeface="Arial"/>
                <a:cs typeface="Arial"/>
              </a:defRPr>
            </a:defPPr>
          </a:lstStyle>
          <a:p xmlns:a="http://schemas.openxmlformats.org/drawingml/2006/main">
            <a:pPr algn="l">
              <a:defRPr sz="975" b="0">
                <a:solidFill>
                  <a:srgbClr val="587080"/>
                </a:solidFill>
                <a:latin typeface="Arial"/>
                <a:ea typeface="Arial"/>
                <a:cs typeface="Arial"/>
              </a:defRPr>
            </a:pPr>
            <a:r>
              <a:rPr sz="975" b="0">
                <a:solidFill>
                  <a:srgbClr val="587080"/>
                </a:solidFill>
                <a:latin typeface="Arial"/>
                <a:ea typeface="Arial"/>
                <a:cs typeface="Arial"/>
              </a:rPr>
              <a:t>G03  /  Eviaura</a:t>
            </a:r>
          </a:p>
        </p:txBody>
      </p:sp>
      <p:sp>
        <p:nvSpPr>
          <p:cNvPr id="5" name="text-129">
            <a:extLst xmlns:a="http://schemas.openxmlformats.org/drawingml/2006/main">
              <a:ext uri="{FF2B5EF4-FFF2-40B4-BE49-F238E27FC236}">
                <a16:creationId xmlns:a16="http://schemas.microsoft.com/office/drawing/2014/main" id="{55411AB2-A0BB-47F0-83C9-22DA5B37A957}"/>
              </a:ext>
            </a:extLst>
          </p:cNvPr>
          <p:cNvSpPr>
            <a:spLocks xmlns:a="http://schemas.openxmlformats.org/drawingml/2006/main" noGrp="1"/>
          </p:cNvSpPr>
          <p:nvPr/>
        </p:nvSpPr>
        <p:spPr>
          <a:xfrm xmlns:a="http://schemas.openxmlformats.org/drawingml/2006/main">
            <a:off x="11049000" y="6496050"/>
            <a:ext cx="609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050" b="0">
                <a:solidFill>
                  <a:srgbClr val="587080"/>
                </a:solidFill>
                <a:latin typeface="Arial"/>
                <a:ea typeface="Arial"/>
                <a:cs typeface="Arial"/>
              </a:defRPr>
            </a:defPPr>
          </a:lstStyle>
          <a:p xmlns:a="http://schemas.openxmlformats.org/drawingml/2006/main">
            <a:pPr algn="r">
              <a:defRPr sz="1050" b="0">
                <a:solidFill>
                  <a:srgbClr val="587080"/>
                </a:solidFill>
                <a:latin typeface="Arial"/>
                <a:ea typeface="Arial"/>
                <a:cs typeface="Arial"/>
              </a:defRPr>
            </a:pPr>
            <a:r>
              <a:rPr sz="1050" b="0">
                <a:solidFill>
                  <a:srgbClr val="587080"/>
                </a:solidFill>
                <a:latin typeface="Arial"/>
                <a:ea typeface="Arial"/>
                <a:cs typeface="Arial"/>
              </a:rPr>
              <a:t>06</a:t>
            </a:r>
          </a:p>
        </p:txBody>
      </p:sp>
      <p:graphicFrame>
        <p:nvGraphicFramePr>
          <p:cNvPr id="6" name="">
            <a:extLst xmlns:a="http://schemas.openxmlformats.org/drawingml/2006/main">
              <a:ext uri="{FF2B5EF4-FFF2-40B4-BE49-F238E27FC236}">
                <a16:creationId xmlns:a16="http://schemas.microsoft.com/office/drawing/2014/main" id="{1D8950E6-0EB8-45B6-A214-43360E7D5825}"/>
              </a:ext>
            </a:extLst>
          </p:cNvPr>
          <p:cNvGraphicFramePr/>
          <p:nvPr/>
        </p:nvGraphicFramePr>
        <p:xfrm>
          <a:off xmlns:a="http://schemas.openxmlformats.org/drawingml/2006/main" x="533400" y="1562100"/>
          <a:ext xmlns:a="http://schemas.openxmlformats.org/drawingml/2006/main" cx="11125200" cy="3143250"/>
        </p:xfrm>
        <a:graphic xmlns:a="http://schemas.openxmlformats.org/drawingml/2006/main">
          <a:graphicData uri="http://schemas.openxmlformats.org/drawingml/2006/table">
            <a:tbl>
              <a:tblPr firstRow="0" bandRow="0"/>
              <a:tblGrid>
                <a:gridCol w="3429000"/>
                <a:gridCol w="1143000"/>
                <a:gridCol w="2571750"/>
                <a:gridCol w="3981450"/>
              </a:tblGrid>
              <a:tr h="523875">
                <a:tc>
                  <a:txBody>
                    <a:bodyPr lIns="85725" tIns="85725" rIns="85725" bIns="85725"/>
                    <a:lstStyle/>
                    <a:p>
                      <a:r>
                        <a:rPr sz="1650" b="1">
                          <a:solidFill>
                            <a:srgbClr val="FFFFFF"/>
                          </a:solidFill>
                          <a:latin typeface="Arial"/>
                          <a:ea typeface="Arial"/>
                          <a:cs typeface="Arial"/>
                        </a:rPr>
                        <a:t>Cấp tác vụ</a:t>
                      </a:r>
                    </a:p>
                  </a:txBody>
                  <a:tcPr marL="91440" marR="91440" marT="45720" marB="45720" anchor="ctr">
                    <a:lnL w="5715">
                      <a:solidFill>
                        <a:srgbClr val="D1DEE5"/>
                      </a:solidFill>
                      <a:prstDash val="solid"/>
                    </a:lnL>
                    <a:lnR w="5715">
                      <a:solidFill>
                        <a:srgbClr val="D1DEE5"/>
                      </a:solidFill>
                      <a:prstDash val="solid"/>
                    </a:lnR>
                    <a:lnT w="5715">
                      <a:solidFill>
                        <a:srgbClr val="D1DEE5"/>
                      </a:solidFill>
                      <a:prstDash val="solid"/>
                    </a:lnT>
                    <a:lnB w="5715">
                      <a:solidFill>
                        <a:srgbClr val="D1DEE5"/>
                      </a:solidFill>
                      <a:prstDash val="solid"/>
                    </a:lnB>
                    <a:solidFill>
                      <a:srgbClr val="103548"/>
                    </a:solidFill>
                  </a:tcPr>
                </a:tc>
                <a:tc>
                  <a:txBody>
                    <a:bodyPr lIns="85725" tIns="85725" rIns="85725" bIns="85725"/>
                    <a:lstStyle/>
                    <a:p>
                      <a:r>
                        <a:rPr sz="1650" b="1">
                          <a:solidFill>
                            <a:srgbClr val="FFFFFF"/>
                          </a:solidFill>
                          <a:latin typeface="Arial"/>
                          <a:ea typeface="Arial"/>
                          <a:cs typeface="Arial"/>
                        </a:rPr>
                        <a:t>Tỷ lệ</a:t>
                      </a:r>
                    </a:p>
                  </a:txBody>
                  <a:tcPr marL="91440" marR="91440" marT="45720" marB="45720" anchor="ctr">
                    <a:lnR w="5715">
                      <a:solidFill>
                        <a:srgbClr val="D1DEE5"/>
                      </a:solidFill>
                      <a:prstDash val="solid"/>
                    </a:lnR>
                    <a:lnT w="5715">
                      <a:solidFill>
                        <a:srgbClr val="D1DEE5"/>
                      </a:solidFill>
                      <a:prstDash val="solid"/>
                    </a:lnT>
                    <a:lnB w="5715">
                      <a:solidFill>
                        <a:srgbClr val="D1DEE5"/>
                      </a:solidFill>
                      <a:prstDash val="solid"/>
                    </a:lnB>
                    <a:solidFill>
                      <a:srgbClr val="103548"/>
                    </a:solidFill>
                  </a:tcPr>
                </a:tc>
                <a:tc>
                  <a:txBody>
                    <a:bodyPr lIns="85725" tIns="85725" rIns="85725" bIns="85725"/>
                    <a:lstStyle/>
                    <a:p>
                      <a:r>
                        <a:rPr sz="1650" b="1">
                          <a:solidFill>
                            <a:srgbClr val="FFFFFF"/>
                          </a:solidFill>
                          <a:latin typeface="Arial"/>
                          <a:ea typeface="Arial"/>
                          <a:cs typeface="Arial"/>
                        </a:rPr>
                        <a:t>Input / output</a:t>
                      </a:r>
                    </a:p>
                  </a:txBody>
                  <a:tcPr marL="91440" marR="91440" marT="45720" marB="45720" anchor="ctr">
                    <a:lnR w="5715">
                      <a:solidFill>
                        <a:srgbClr val="D1DEE5"/>
                      </a:solidFill>
                      <a:prstDash val="solid"/>
                    </a:lnR>
                    <a:lnT w="5715">
                      <a:solidFill>
                        <a:srgbClr val="D1DEE5"/>
                      </a:solidFill>
                      <a:prstDash val="solid"/>
                    </a:lnT>
                    <a:lnB w="5715">
                      <a:solidFill>
                        <a:srgbClr val="D1DEE5"/>
                      </a:solidFill>
                      <a:prstDash val="solid"/>
                    </a:lnB>
                    <a:solidFill>
                      <a:srgbClr val="103548"/>
                    </a:solidFill>
                  </a:tcPr>
                </a:tc>
                <a:tc>
                  <a:txBody>
                    <a:bodyPr lIns="85725" tIns="85725" rIns="85725" bIns="85725"/>
                    <a:lstStyle/>
                    <a:p>
                      <a:r>
                        <a:rPr sz="1650" b="1">
                          <a:solidFill>
                            <a:srgbClr val="FFFFFF"/>
                          </a:solidFill>
                          <a:latin typeface="Arial"/>
                          <a:ea typeface="Arial"/>
                          <a:cs typeface="Arial"/>
                        </a:rPr>
                        <a:t>Model dự kiến</a:t>
                      </a:r>
                    </a:p>
                  </a:txBody>
                  <a:tcPr marL="91440" marR="91440" marT="45720" marB="45720" anchor="ctr">
                    <a:lnR w="5715">
                      <a:solidFill>
                        <a:srgbClr val="D1DEE5"/>
                      </a:solidFill>
                      <a:prstDash val="solid"/>
                    </a:lnR>
                    <a:lnT w="5715">
                      <a:solidFill>
                        <a:srgbClr val="D1DEE5"/>
                      </a:solidFill>
                      <a:prstDash val="solid"/>
                    </a:lnT>
                    <a:lnB w="5715">
                      <a:solidFill>
                        <a:srgbClr val="D1DEE5"/>
                      </a:solidFill>
                      <a:prstDash val="solid"/>
                    </a:lnB>
                    <a:solidFill>
                      <a:srgbClr val="103548"/>
                    </a:solidFill>
                  </a:tcPr>
                </a:tc>
              </a:tr>
              <a:tr h="523875">
                <a:tc>
                  <a:txBody>
                    <a:bodyPr lIns="85725" tIns="85725" rIns="85725" bIns="85725"/>
                    <a:lstStyle/>
                    <a:p>
                      <a:r>
                        <a:rPr sz="1650" b="0">
                          <a:solidFill>
                            <a:srgbClr val="17364A"/>
                          </a:solidFill>
                          <a:latin typeface="Arial"/>
                          <a:ea typeface="Arial"/>
                          <a:cs typeface="Arial"/>
                        </a:rPr>
                        <a:t>L1  Email / hỏi đáp</a:t>
                      </a:r>
                    </a:p>
                  </a:txBody>
                  <a:tcPr marL="91440" marR="91440" marT="45720" marB="45720" anchor="ctr">
                    <a:lnL w="5715">
                      <a:solidFill>
                        <a:srgbClr val="D1DEE5"/>
                      </a:solidFill>
                      <a:prstDash val="solid"/>
                    </a:lnL>
                    <a:lnR w="5715">
                      <a:solidFill>
                        <a:srgbClr val="D1DEE5"/>
                      </a:solidFill>
                      <a:prstDash val="solid"/>
                    </a:lnR>
                    <a:lnB w="5715">
                      <a:solidFill>
                        <a:srgbClr val="D1DEE5"/>
                      </a:solidFill>
                      <a:prstDash val="solid"/>
                    </a:lnB>
                    <a:solidFill>
                      <a:srgbClr val="F4F8FA"/>
                    </a:solidFill>
                  </a:tcPr>
                </a:tc>
                <a:tc>
                  <a:txBody>
                    <a:bodyPr lIns="85725" tIns="85725" rIns="85725" bIns="85725"/>
                    <a:lstStyle/>
                    <a:p>
                      <a:r>
                        <a:rPr sz="1650" b="0">
                          <a:solidFill>
                            <a:srgbClr val="17364A"/>
                          </a:solidFill>
                          <a:latin typeface="Arial"/>
                          <a:ea typeface="Arial"/>
                          <a:cs typeface="Arial"/>
                        </a:rPr>
                        <a:t>60%</a:t>
                      </a:r>
                    </a:p>
                  </a:txBody>
                  <a:tcPr marL="91440" marR="91440" marT="45720" marB="45720" anchor="ctr">
                    <a:lnR w="5715">
                      <a:solidFill>
                        <a:srgbClr val="D1DEE5"/>
                      </a:solidFill>
                      <a:prstDash val="solid"/>
                    </a:lnR>
                    <a:lnB w="5715">
                      <a:solidFill>
                        <a:srgbClr val="D1DEE5"/>
                      </a:solidFill>
                      <a:prstDash val="solid"/>
                    </a:lnB>
                    <a:solidFill>
                      <a:srgbClr val="F4F8FA"/>
                    </a:solidFill>
                  </a:tcPr>
                </a:tc>
                <a:tc>
                  <a:txBody>
                    <a:bodyPr lIns="85725" tIns="85725" rIns="85725" bIns="85725"/>
                    <a:lstStyle/>
                    <a:p>
                      <a:r>
                        <a:rPr sz="1650" b="0">
                          <a:solidFill>
                            <a:srgbClr val="17364A"/>
                          </a:solidFill>
                          <a:latin typeface="Arial"/>
                          <a:ea typeface="Arial"/>
                          <a:cs typeface="Arial"/>
                        </a:rPr>
                        <a:t>2.000 / 400</a:t>
                      </a:r>
                    </a:p>
                  </a:txBody>
                  <a:tcPr marL="91440" marR="91440" marT="45720" marB="45720" anchor="ctr">
                    <a:lnR w="5715">
                      <a:solidFill>
                        <a:srgbClr val="D1DEE5"/>
                      </a:solidFill>
                      <a:prstDash val="solid"/>
                    </a:lnR>
                    <a:lnB w="5715">
                      <a:solidFill>
                        <a:srgbClr val="D1DEE5"/>
                      </a:solidFill>
                      <a:prstDash val="solid"/>
                    </a:lnB>
                    <a:solidFill>
                      <a:srgbClr val="F4F8FA"/>
                    </a:solidFill>
                  </a:tcPr>
                </a:tc>
                <a:tc>
                  <a:txBody>
                    <a:bodyPr lIns="85725" tIns="85725" rIns="85725" bIns="85725"/>
                    <a:lstStyle/>
                    <a:p>
                      <a:r>
                        <a:rPr sz="1650" b="0">
                          <a:solidFill>
                            <a:srgbClr val="17364A"/>
                          </a:solidFill>
                          <a:latin typeface="Arial"/>
                          <a:ea typeface="Arial"/>
                          <a:cs typeface="Arial"/>
                        </a:rPr>
                        <a:t>Nova Lite</a:t>
                      </a:r>
                    </a:p>
                  </a:txBody>
                  <a:tcPr marL="91440" marR="91440" marT="45720" marB="45720" anchor="ctr">
                    <a:lnR w="5715">
                      <a:solidFill>
                        <a:srgbClr val="D1DEE5"/>
                      </a:solidFill>
                      <a:prstDash val="solid"/>
                    </a:lnR>
                    <a:lnB w="5715">
                      <a:solidFill>
                        <a:srgbClr val="D1DEE5"/>
                      </a:solidFill>
                      <a:prstDash val="solid"/>
                    </a:lnB>
                    <a:solidFill>
                      <a:srgbClr val="F4F8FA"/>
                    </a:solidFill>
                  </a:tcPr>
                </a:tc>
              </a:tr>
              <a:tr h="523875">
                <a:tc>
                  <a:txBody>
                    <a:bodyPr lIns="85725" tIns="85725" rIns="85725" bIns="85725"/>
                    <a:lstStyle/>
                    <a:p>
                      <a:r>
                        <a:rPr sz="1650" b="0">
                          <a:solidFill>
                            <a:srgbClr val="17364A"/>
                          </a:solidFill>
                          <a:latin typeface="Arial"/>
                          <a:ea typeface="Arial"/>
                          <a:cs typeface="Arial"/>
                        </a:rPr>
                        <a:t>L2  Tài liệu / slide</a:t>
                      </a:r>
                    </a:p>
                  </a:txBody>
                  <a:tcPr marL="91440" marR="91440" marT="45720" marB="45720" anchor="ctr">
                    <a:lnL w="5715">
                      <a:solidFill>
                        <a:srgbClr val="D1DEE5"/>
                      </a:solidFill>
                      <a:prstDash val="solid"/>
                    </a:lnL>
                    <a:lnR w="5715">
                      <a:solidFill>
                        <a:srgbClr val="D1DEE5"/>
                      </a:solidFill>
                      <a:prstDash val="solid"/>
                    </a:lnR>
                    <a:lnB w="5715">
                      <a:solidFill>
                        <a:srgbClr val="D1DEE5"/>
                      </a:solidFill>
                      <a:prstDash val="solid"/>
                    </a:lnB>
                    <a:solidFill>
                      <a:srgbClr val="FFFFFF"/>
                    </a:solidFill>
                  </a:tcPr>
                </a:tc>
                <a:tc>
                  <a:txBody>
                    <a:bodyPr lIns="85725" tIns="85725" rIns="85725" bIns="85725"/>
                    <a:lstStyle/>
                    <a:p>
                      <a:r>
                        <a:rPr sz="1650" b="0">
                          <a:solidFill>
                            <a:srgbClr val="17364A"/>
                          </a:solidFill>
                          <a:latin typeface="Arial"/>
                          <a:ea typeface="Arial"/>
                          <a:cs typeface="Arial"/>
                        </a:rPr>
                        <a:t>20%</a:t>
                      </a:r>
                    </a:p>
                  </a:txBody>
                  <a:tcPr marL="91440" marR="91440" marT="45720" marB="45720" anchor="ctr">
                    <a:lnR w="5715">
                      <a:solidFill>
                        <a:srgbClr val="D1DEE5"/>
                      </a:solidFill>
                      <a:prstDash val="solid"/>
                    </a:lnR>
                    <a:lnB w="5715">
                      <a:solidFill>
                        <a:srgbClr val="D1DEE5"/>
                      </a:solidFill>
                      <a:prstDash val="solid"/>
                    </a:lnB>
                    <a:solidFill>
                      <a:srgbClr val="FFFFFF"/>
                    </a:solidFill>
                  </a:tcPr>
                </a:tc>
                <a:tc>
                  <a:txBody>
                    <a:bodyPr lIns="85725" tIns="85725" rIns="85725" bIns="85725"/>
                    <a:lstStyle/>
                    <a:p>
                      <a:r>
                        <a:rPr sz="1650" b="0">
                          <a:solidFill>
                            <a:srgbClr val="17364A"/>
                          </a:solidFill>
                          <a:latin typeface="Arial"/>
                          <a:ea typeface="Arial"/>
                          <a:cs typeface="Arial"/>
                        </a:rPr>
                        <a:t>4.000 / 900</a:t>
                      </a:r>
                    </a:p>
                  </a:txBody>
                  <a:tcPr marL="91440" marR="91440" marT="45720" marB="45720" anchor="ctr">
                    <a:lnR w="5715">
                      <a:solidFill>
                        <a:srgbClr val="D1DEE5"/>
                      </a:solidFill>
                      <a:prstDash val="solid"/>
                    </a:lnR>
                    <a:lnB w="5715">
                      <a:solidFill>
                        <a:srgbClr val="D1DEE5"/>
                      </a:solidFill>
                      <a:prstDash val="solid"/>
                    </a:lnB>
                    <a:solidFill>
                      <a:srgbClr val="FFFFFF"/>
                    </a:solidFill>
                  </a:tcPr>
                </a:tc>
                <a:tc>
                  <a:txBody>
                    <a:bodyPr lIns="85725" tIns="85725" rIns="85725" bIns="85725"/>
                    <a:lstStyle/>
                    <a:p>
                      <a:r>
                        <a:rPr sz="1650" b="0">
                          <a:solidFill>
                            <a:srgbClr val="17364A"/>
                          </a:solidFill>
                          <a:latin typeface="Arial"/>
                          <a:ea typeface="Arial"/>
                          <a:cs typeface="Arial"/>
                        </a:rPr>
                        <a:t>Nova Lite</a:t>
                      </a:r>
                    </a:p>
                  </a:txBody>
                  <a:tcPr marL="91440" marR="91440" marT="45720" marB="45720" anchor="ctr">
                    <a:lnR w="5715">
                      <a:solidFill>
                        <a:srgbClr val="D1DEE5"/>
                      </a:solidFill>
                      <a:prstDash val="solid"/>
                    </a:lnR>
                    <a:lnB w="5715">
                      <a:solidFill>
                        <a:srgbClr val="D1DEE5"/>
                      </a:solidFill>
                      <a:prstDash val="solid"/>
                    </a:lnB>
                    <a:solidFill>
                      <a:srgbClr val="FFFFFF"/>
                    </a:solidFill>
                  </a:tcPr>
                </a:tc>
              </a:tr>
              <a:tr h="523875">
                <a:tc>
                  <a:txBody>
                    <a:bodyPr lIns="85725" tIns="85725" rIns="85725" bIns="85725"/>
                    <a:lstStyle/>
                    <a:p>
                      <a:r>
                        <a:rPr sz="1650" b="0">
                          <a:solidFill>
                            <a:srgbClr val="17364A"/>
                          </a:solidFill>
                          <a:latin typeface="Arial"/>
                          <a:ea typeface="Arial"/>
                          <a:cs typeface="Arial"/>
                        </a:rPr>
                        <a:t>L3  Dữ liệu / code</a:t>
                      </a:r>
                    </a:p>
                  </a:txBody>
                  <a:tcPr marL="91440" marR="91440" marT="45720" marB="45720" anchor="ctr">
                    <a:lnL w="5715">
                      <a:solidFill>
                        <a:srgbClr val="D1DEE5"/>
                      </a:solidFill>
                      <a:prstDash val="solid"/>
                    </a:lnL>
                    <a:lnR w="5715">
                      <a:solidFill>
                        <a:srgbClr val="D1DEE5"/>
                      </a:solidFill>
                      <a:prstDash val="solid"/>
                    </a:lnR>
                    <a:lnB w="5715">
                      <a:solidFill>
                        <a:srgbClr val="D1DEE5"/>
                      </a:solidFill>
                      <a:prstDash val="solid"/>
                    </a:lnB>
                    <a:solidFill>
                      <a:srgbClr val="F4F8FA"/>
                    </a:solidFill>
                  </a:tcPr>
                </a:tc>
                <a:tc>
                  <a:txBody>
                    <a:bodyPr lIns="85725" tIns="85725" rIns="85725" bIns="85725"/>
                    <a:lstStyle/>
                    <a:p>
                      <a:r>
                        <a:rPr sz="1650" b="0">
                          <a:solidFill>
                            <a:srgbClr val="17364A"/>
                          </a:solidFill>
                          <a:latin typeface="Arial"/>
                          <a:ea typeface="Arial"/>
                          <a:cs typeface="Arial"/>
                        </a:rPr>
                        <a:t>10%</a:t>
                      </a:r>
                    </a:p>
                  </a:txBody>
                  <a:tcPr marL="91440" marR="91440" marT="45720" marB="45720" anchor="ctr">
                    <a:lnR w="5715">
                      <a:solidFill>
                        <a:srgbClr val="D1DEE5"/>
                      </a:solidFill>
                      <a:prstDash val="solid"/>
                    </a:lnR>
                    <a:lnB w="5715">
                      <a:solidFill>
                        <a:srgbClr val="D1DEE5"/>
                      </a:solidFill>
                      <a:prstDash val="solid"/>
                    </a:lnB>
                    <a:solidFill>
                      <a:srgbClr val="F4F8FA"/>
                    </a:solidFill>
                  </a:tcPr>
                </a:tc>
                <a:tc>
                  <a:txBody>
                    <a:bodyPr lIns="85725" tIns="85725" rIns="85725" bIns="85725"/>
                    <a:lstStyle/>
                    <a:p>
                      <a:r>
                        <a:rPr sz="1650" b="0">
                          <a:solidFill>
                            <a:srgbClr val="17364A"/>
                          </a:solidFill>
                          <a:latin typeface="Arial"/>
                          <a:ea typeface="Arial"/>
                          <a:cs typeface="Arial"/>
                        </a:rPr>
                        <a:t>6.000 / 1.500</a:t>
                      </a:r>
                    </a:p>
                  </a:txBody>
                  <a:tcPr marL="91440" marR="91440" marT="45720" marB="45720" anchor="ctr">
                    <a:lnR w="5715">
                      <a:solidFill>
                        <a:srgbClr val="D1DEE5"/>
                      </a:solidFill>
                      <a:prstDash val="solid"/>
                    </a:lnR>
                    <a:lnB w="5715">
                      <a:solidFill>
                        <a:srgbClr val="D1DEE5"/>
                      </a:solidFill>
                      <a:prstDash val="solid"/>
                    </a:lnB>
                    <a:solidFill>
                      <a:srgbClr val="F4F8FA"/>
                    </a:solidFill>
                  </a:tcPr>
                </a:tc>
                <a:tc>
                  <a:txBody>
                    <a:bodyPr lIns="85725" tIns="85725" rIns="85725" bIns="85725"/>
                    <a:lstStyle/>
                    <a:p>
                      <a:r>
                        <a:rPr sz="1650" b="0">
                          <a:solidFill>
                            <a:srgbClr val="17364A"/>
                          </a:solidFill>
                          <a:latin typeface="Arial"/>
                          <a:ea typeface="Arial"/>
                          <a:cs typeface="Arial"/>
                        </a:rPr>
                        <a:t>Sonnet 4.5</a:t>
                      </a:r>
                    </a:p>
                  </a:txBody>
                  <a:tcPr marL="91440" marR="91440" marT="45720" marB="45720" anchor="ctr">
                    <a:lnR w="5715">
                      <a:solidFill>
                        <a:srgbClr val="D1DEE5"/>
                      </a:solidFill>
                      <a:prstDash val="solid"/>
                    </a:lnR>
                    <a:lnB w="5715">
                      <a:solidFill>
                        <a:srgbClr val="D1DEE5"/>
                      </a:solidFill>
                      <a:prstDash val="solid"/>
                    </a:lnB>
                    <a:solidFill>
                      <a:srgbClr val="F4F8FA"/>
                    </a:solidFill>
                  </a:tcPr>
                </a:tc>
              </a:tr>
              <a:tr h="523875">
                <a:tc>
                  <a:txBody>
                    <a:bodyPr lIns="85725" tIns="85725" rIns="85725" bIns="85725"/>
                    <a:lstStyle/>
                    <a:p>
                      <a:r>
                        <a:rPr sz="1650" b="0">
                          <a:solidFill>
                            <a:srgbClr val="17364A"/>
                          </a:solidFill>
                          <a:latin typeface="Arial"/>
                          <a:ea typeface="Arial"/>
                          <a:cs typeface="Arial"/>
                        </a:rPr>
                        <a:t>L4  Agent dự án</a:t>
                      </a:r>
                    </a:p>
                  </a:txBody>
                  <a:tcPr marL="91440" marR="91440" marT="45720" marB="45720" anchor="ctr">
                    <a:lnL w="5715">
                      <a:solidFill>
                        <a:srgbClr val="D1DEE5"/>
                      </a:solidFill>
                      <a:prstDash val="solid"/>
                    </a:lnL>
                    <a:lnR w="5715">
                      <a:solidFill>
                        <a:srgbClr val="D1DEE5"/>
                      </a:solidFill>
                      <a:prstDash val="solid"/>
                    </a:lnR>
                    <a:lnB w="5715">
                      <a:solidFill>
                        <a:srgbClr val="D1DEE5"/>
                      </a:solidFill>
                      <a:prstDash val="solid"/>
                    </a:lnB>
                    <a:solidFill>
                      <a:srgbClr val="FFFFFF"/>
                    </a:solidFill>
                  </a:tcPr>
                </a:tc>
                <a:tc>
                  <a:txBody>
                    <a:bodyPr lIns="85725" tIns="85725" rIns="85725" bIns="85725"/>
                    <a:lstStyle/>
                    <a:p>
                      <a:r>
                        <a:rPr sz="1650" b="0">
                          <a:solidFill>
                            <a:srgbClr val="17364A"/>
                          </a:solidFill>
                          <a:latin typeface="Arial"/>
                          <a:ea typeface="Arial"/>
                          <a:cs typeface="Arial"/>
                        </a:rPr>
                        <a:t>9%</a:t>
                      </a:r>
                    </a:p>
                  </a:txBody>
                  <a:tcPr marL="91440" marR="91440" marT="45720" marB="45720" anchor="ctr">
                    <a:lnR w="5715">
                      <a:solidFill>
                        <a:srgbClr val="D1DEE5"/>
                      </a:solidFill>
                      <a:prstDash val="solid"/>
                    </a:lnR>
                    <a:lnB w="5715">
                      <a:solidFill>
                        <a:srgbClr val="D1DEE5"/>
                      </a:solidFill>
                      <a:prstDash val="solid"/>
                    </a:lnB>
                    <a:solidFill>
                      <a:srgbClr val="FFFFFF"/>
                    </a:solidFill>
                  </a:tcPr>
                </a:tc>
                <a:tc>
                  <a:txBody>
                    <a:bodyPr lIns="85725" tIns="85725" rIns="85725" bIns="85725"/>
                    <a:lstStyle/>
                    <a:p>
                      <a:r>
                        <a:rPr sz="1650" b="0">
                          <a:solidFill>
                            <a:srgbClr val="17364A"/>
                          </a:solidFill>
                          <a:latin typeface="Arial"/>
                          <a:ea typeface="Arial"/>
                          <a:cs typeface="Arial"/>
                        </a:rPr>
                        <a:t>9.000 / 1.600</a:t>
                      </a:r>
                    </a:p>
                  </a:txBody>
                  <a:tcPr marL="91440" marR="91440" marT="45720" marB="45720" anchor="ctr">
                    <a:lnR w="5715">
                      <a:solidFill>
                        <a:srgbClr val="D1DEE5"/>
                      </a:solidFill>
                      <a:prstDash val="solid"/>
                    </a:lnR>
                    <a:lnB w="5715">
                      <a:solidFill>
                        <a:srgbClr val="D1DEE5"/>
                      </a:solidFill>
                      <a:prstDash val="solid"/>
                    </a:lnB>
                    <a:solidFill>
                      <a:srgbClr val="FFFFFF"/>
                    </a:solidFill>
                  </a:tcPr>
                </a:tc>
                <a:tc>
                  <a:txBody>
                    <a:bodyPr lIns="85725" tIns="85725" rIns="85725" bIns="85725"/>
                    <a:lstStyle/>
                    <a:p>
                      <a:r>
                        <a:rPr sz="1650" b="0">
                          <a:solidFill>
                            <a:srgbClr val="17364A"/>
                          </a:solidFill>
                          <a:latin typeface="Arial"/>
                          <a:ea typeface="Arial"/>
                          <a:cs typeface="Arial"/>
                        </a:rPr>
                        <a:t>Sonnet 4.5</a:t>
                      </a:r>
                    </a:p>
                  </a:txBody>
                  <a:tcPr marL="91440" marR="91440" marT="45720" marB="45720" anchor="ctr">
                    <a:lnR w="5715">
                      <a:solidFill>
                        <a:srgbClr val="D1DEE5"/>
                      </a:solidFill>
                      <a:prstDash val="solid"/>
                    </a:lnR>
                    <a:lnB w="5715">
                      <a:solidFill>
                        <a:srgbClr val="D1DEE5"/>
                      </a:solidFill>
                      <a:prstDash val="solid"/>
                    </a:lnB>
                    <a:solidFill>
                      <a:srgbClr val="FFFFFF"/>
                    </a:solidFill>
                  </a:tcPr>
                </a:tc>
              </a:tr>
              <a:tr h="523875">
                <a:tc>
                  <a:txBody>
                    <a:bodyPr lIns="85725" tIns="85725" rIns="85725" bIns="85725"/>
                    <a:lstStyle/>
                    <a:p>
                      <a:r>
                        <a:rPr sz="1650" b="0">
                          <a:solidFill>
                            <a:srgbClr val="17364A"/>
                          </a:solidFill>
                          <a:latin typeface="Arial"/>
                          <a:ea typeface="Arial"/>
                          <a:cs typeface="Arial"/>
                        </a:rPr>
                        <a:t>L5  Thiết kế / ảnh</a:t>
                      </a:r>
                    </a:p>
                  </a:txBody>
                  <a:tcPr marL="91440" marR="91440" marT="45720" marB="45720" anchor="ctr">
                    <a:lnL w="5715">
                      <a:solidFill>
                        <a:srgbClr val="D1DEE5"/>
                      </a:solidFill>
                      <a:prstDash val="solid"/>
                    </a:lnL>
                    <a:lnR w="5715">
                      <a:solidFill>
                        <a:srgbClr val="D1DEE5"/>
                      </a:solidFill>
                      <a:prstDash val="solid"/>
                    </a:lnR>
                    <a:lnB w="5715">
                      <a:solidFill>
                        <a:srgbClr val="D1DEE5"/>
                      </a:solidFill>
                      <a:prstDash val="solid"/>
                    </a:lnB>
                    <a:solidFill>
                      <a:srgbClr val="F4F8FA"/>
                    </a:solidFill>
                  </a:tcPr>
                </a:tc>
                <a:tc>
                  <a:txBody>
                    <a:bodyPr lIns="85725" tIns="85725" rIns="85725" bIns="85725"/>
                    <a:lstStyle/>
                    <a:p>
                      <a:r>
                        <a:rPr sz="1650" b="0">
                          <a:solidFill>
                            <a:srgbClr val="17364A"/>
                          </a:solidFill>
                          <a:latin typeface="Arial"/>
                          <a:ea typeface="Arial"/>
                          <a:cs typeface="Arial"/>
                        </a:rPr>
                        <a:t>1%</a:t>
                      </a:r>
                    </a:p>
                  </a:txBody>
                  <a:tcPr marL="91440" marR="91440" marT="45720" marB="45720" anchor="ctr">
                    <a:lnR w="5715">
                      <a:solidFill>
                        <a:srgbClr val="D1DEE5"/>
                      </a:solidFill>
                      <a:prstDash val="solid"/>
                    </a:lnR>
                    <a:lnB w="5715">
                      <a:solidFill>
                        <a:srgbClr val="D1DEE5"/>
                      </a:solidFill>
                      <a:prstDash val="solid"/>
                    </a:lnB>
                    <a:solidFill>
                      <a:srgbClr val="F4F8FA"/>
                    </a:solidFill>
                  </a:tcPr>
                </a:tc>
                <a:tc>
                  <a:txBody>
                    <a:bodyPr lIns="85725" tIns="85725" rIns="85725" bIns="85725"/>
                    <a:lstStyle/>
                    <a:p>
                      <a:r>
                        <a:rPr sz="1650" b="0">
                          <a:solidFill>
                            <a:srgbClr val="17364A"/>
                          </a:solidFill>
                          <a:latin typeface="Arial"/>
                          <a:ea typeface="Arial"/>
                          <a:cs typeface="Arial"/>
                        </a:rPr>
                        <a:t>2.000 / 300</a:t>
                      </a:r>
                    </a:p>
                  </a:txBody>
                  <a:tcPr marL="91440" marR="91440" marT="45720" marB="45720" anchor="ctr">
                    <a:lnR w="5715">
                      <a:solidFill>
                        <a:srgbClr val="D1DEE5"/>
                      </a:solidFill>
                      <a:prstDash val="solid"/>
                    </a:lnR>
                    <a:lnB w="5715">
                      <a:solidFill>
                        <a:srgbClr val="D1DEE5"/>
                      </a:solidFill>
                      <a:prstDash val="solid"/>
                    </a:lnB>
                    <a:solidFill>
                      <a:srgbClr val="F4F8FA"/>
                    </a:solidFill>
                  </a:tcPr>
                </a:tc>
                <a:tc>
                  <a:txBody>
                    <a:bodyPr lIns="85725" tIns="85725" rIns="85725" bIns="85725"/>
                    <a:lstStyle/>
                    <a:p>
                      <a:r>
                        <a:rPr sz="1650" b="0">
                          <a:solidFill>
                            <a:srgbClr val="17364A"/>
                          </a:solidFill>
                          <a:latin typeface="Arial"/>
                          <a:ea typeface="Arial"/>
                          <a:cs typeface="Arial"/>
                        </a:rPr>
                        <a:t>Lite + Image Core</a:t>
                      </a:r>
                    </a:p>
                  </a:txBody>
                  <a:tcPr marL="91440" marR="91440" marT="45720" marB="45720" anchor="ctr">
                    <a:lnR w="5715">
                      <a:solidFill>
                        <a:srgbClr val="D1DEE5"/>
                      </a:solidFill>
                      <a:prstDash val="solid"/>
                    </a:lnR>
                    <a:lnB w="5715">
                      <a:solidFill>
                        <a:srgbClr val="D1DEE5"/>
                      </a:solidFill>
                      <a:prstDash val="solid"/>
                    </a:lnB>
                    <a:solidFill>
                      <a:srgbClr val="F4F8FA"/>
                    </a:solidFill>
                  </a:tcPr>
                </a:tc>
              </a:tr>
            </a:tbl>
          </a:graphicData>
        </a:graphic>
      </p:graphicFrame>
      <p:sp>
        <p:nvSpPr>
          <p:cNvPr id="7" name="text-130">
            <a:extLst xmlns:a="http://schemas.openxmlformats.org/drawingml/2006/main">
              <a:ext uri="{FF2B5EF4-FFF2-40B4-BE49-F238E27FC236}">
                <a16:creationId xmlns:a16="http://schemas.microsoft.com/office/drawing/2014/main" id="{29F98CEF-61FA-4EE1-AC0C-6DDAA454E8AE}"/>
              </a:ext>
            </a:extLst>
          </p:cNvPr>
          <p:cNvSpPr>
            <a:spLocks xmlns:a="http://schemas.openxmlformats.org/drawingml/2006/main" noGrp="1"/>
          </p:cNvSpPr>
          <p:nvPr/>
        </p:nvSpPr>
        <p:spPr>
          <a:xfrm xmlns:a="http://schemas.openxmlformats.org/drawingml/2006/main">
            <a:off x="533400" y="5067300"/>
            <a:ext cx="523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087F83"/>
                </a:solidFill>
                <a:latin typeface="Arial"/>
                <a:ea typeface="Arial"/>
                <a:cs typeface="Arial"/>
              </a:defRPr>
            </a:defPPr>
          </a:lstStyle>
          <a:p xmlns:a="http://schemas.openxmlformats.org/drawingml/2006/main">
            <a:pPr algn="l">
              <a:defRPr sz="2025" b="1">
                <a:solidFill>
                  <a:srgbClr val="087F83"/>
                </a:solidFill>
                <a:latin typeface="Arial"/>
                <a:ea typeface="Arial"/>
                <a:cs typeface="Arial"/>
              </a:defRPr>
            </a:pPr>
            <a:r>
              <a:rPr sz="2025" b="1">
                <a:solidFill>
                  <a:srgbClr val="087F83"/>
                </a:solidFill>
                <a:latin typeface="Arial"/>
                <a:ea typeface="Arial"/>
                <a:cs typeface="Arial"/>
              </a:rPr>
              <a:t>API thay vì tự host GPU</a:t>
            </a:r>
          </a:p>
        </p:txBody>
      </p:sp>
      <p:sp>
        <p:nvSpPr>
          <p:cNvPr id="8" name="text-131">
            <a:extLst xmlns:a="http://schemas.openxmlformats.org/drawingml/2006/main">
              <a:ext uri="{FF2B5EF4-FFF2-40B4-BE49-F238E27FC236}">
                <a16:creationId xmlns:a16="http://schemas.microsoft.com/office/drawing/2014/main" id="{2C1C1097-1F53-4B2D-A63A-F5F733BD007E}"/>
              </a:ext>
            </a:extLst>
          </p:cNvPr>
          <p:cNvSpPr>
            <a:spLocks xmlns:a="http://schemas.openxmlformats.org/drawingml/2006/main" noGrp="1"/>
          </p:cNvSpPr>
          <p:nvPr/>
        </p:nvSpPr>
        <p:spPr>
          <a:xfrm xmlns:a="http://schemas.openxmlformats.org/drawingml/2006/main">
            <a:off x="533400" y="5495925"/>
            <a:ext cx="5619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87080"/>
                </a:solidFill>
                <a:latin typeface="Arial"/>
                <a:ea typeface="Arial"/>
                <a:cs typeface="Arial"/>
              </a:defRPr>
            </a:defPPr>
          </a:lstStyle>
          <a:p xmlns:a="http://schemas.openxmlformats.org/drawingml/2006/main">
            <a:pPr algn="l">
              <a:defRPr sz="1725" b="0">
                <a:solidFill>
                  <a:srgbClr val="587080"/>
                </a:solidFill>
                <a:latin typeface="Arial"/>
                <a:ea typeface="Arial"/>
                <a:cs typeface="Arial"/>
              </a:defRPr>
            </a:pPr>
            <a:r>
              <a:rPr sz="1725" b="0">
                <a:solidFill>
                  <a:srgbClr val="587080"/>
                </a:solidFill>
                <a:latin typeface="Arial"/>
                <a:ea typeface="Arial"/>
                <a:cs typeface="Arial"/>
              </a:rPr>
              <a:t>Giảm chi phí nhàn rỗi và công vận hành ở tải này</a:t>
            </a:r>
          </a:p>
        </p:txBody>
      </p:sp>
      <p:sp>
        <p:nvSpPr>
          <p:cNvPr id="9" name="text-132">
            <a:extLst xmlns:a="http://schemas.openxmlformats.org/drawingml/2006/main">
              <a:ext uri="{FF2B5EF4-FFF2-40B4-BE49-F238E27FC236}">
                <a16:creationId xmlns:a16="http://schemas.microsoft.com/office/drawing/2014/main" id="{A411FF5E-FF20-4EFE-801A-2F2F734F802C}"/>
              </a:ext>
            </a:extLst>
          </p:cNvPr>
          <p:cNvSpPr>
            <a:spLocks xmlns:a="http://schemas.openxmlformats.org/drawingml/2006/main" noGrp="1"/>
          </p:cNvSpPr>
          <p:nvPr/>
        </p:nvSpPr>
        <p:spPr>
          <a:xfrm xmlns:a="http://schemas.openxmlformats.org/drawingml/2006/main">
            <a:off x="6572250" y="5067300"/>
            <a:ext cx="5086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087F83"/>
                </a:solidFill>
                <a:latin typeface="Arial"/>
                <a:ea typeface="Arial"/>
                <a:cs typeface="Arial"/>
              </a:defRPr>
            </a:defPPr>
          </a:lstStyle>
          <a:p xmlns:a="http://schemas.openxmlformats.org/drawingml/2006/main">
            <a:pPr algn="l">
              <a:defRPr sz="1950" b="1">
                <a:solidFill>
                  <a:srgbClr val="087F83"/>
                </a:solidFill>
                <a:latin typeface="Arial"/>
                <a:ea typeface="Arial"/>
                <a:cs typeface="Arial"/>
              </a:defRPr>
            </a:pPr>
            <a:r>
              <a:rPr sz="1950" b="1">
                <a:solidFill>
                  <a:srgbClr val="087F83"/>
                </a:solidFill>
                <a:latin typeface="Arial"/>
                <a:ea typeface="Arial"/>
                <a:cs typeface="Arial"/>
              </a:rPr>
              <a:t>Escalation 10% + retry 5%</a:t>
            </a:r>
          </a:p>
        </p:txBody>
      </p:sp>
      <p:sp>
        <p:nvSpPr>
          <p:cNvPr id="10" name="text-133">
            <a:extLst xmlns:a="http://schemas.openxmlformats.org/drawingml/2006/main">
              <a:ext uri="{FF2B5EF4-FFF2-40B4-BE49-F238E27FC236}">
                <a16:creationId xmlns:a16="http://schemas.microsoft.com/office/drawing/2014/main" id="{DAFE27C1-5006-466A-8DA4-6849E30F636C}"/>
              </a:ext>
            </a:extLst>
          </p:cNvPr>
          <p:cNvSpPr>
            <a:spLocks xmlns:a="http://schemas.openxmlformats.org/drawingml/2006/main" noGrp="1"/>
          </p:cNvSpPr>
          <p:nvPr/>
        </p:nvSpPr>
        <p:spPr>
          <a:xfrm xmlns:a="http://schemas.openxmlformats.org/drawingml/2006/main">
            <a:off x="6572250" y="5495925"/>
            <a:ext cx="50863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87080"/>
                </a:solidFill>
                <a:latin typeface="Arial"/>
                <a:ea typeface="Arial"/>
                <a:cs typeface="Arial"/>
              </a:defRPr>
            </a:defPPr>
          </a:lstStyle>
          <a:p xmlns:a="http://schemas.openxmlformats.org/drawingml/2006/main">
            <a:pPr algn="l">
              <a:defRPr sz="1725" b="0">
                <a:solidFill>
                  <a:srgbClr val="587080"/>
                </a:solidFill>
                <a:latin typeface="Arial"/>
                <a:ea typeface="Arial"/>
                <a:cs typeface="Arial"/>
              </a:defRPr>
            </a:pPr>
            <a:r>
              <a:rPr sz="1725" b="0">
                <a:solidFill>
                  <a:srgbClr val="587080"/>
                </a:solidFill>
                <a:latin typeface="Arial"/>
                <a:ea typeface="Arial"/>
                <a:cs typeface="Arial"/>
              </a:rPr>
              <a:t>Đã tính phí cả call rẻ trước khi fallback</a:t>
            </a:r>
          </a:p>
        </p:txBody>
      </p:sp>
    </p:spTree>
    <p:extLst>
      <p:ext uri="{BB962C8B-B14F-4D97-AF65-F5344CB8AC3E}">
        <p14:creationId xmlns:p14="http://schemas.microsoft.com/office/powerpoint/2010/main" val="14496768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hape-134">
            <a:extLst xmlns:a="http://schemas.openxmlformats.org/drawingml/2006/main">
              <a:ext uri="{FF2B5EF4-FFF2-40B4-BE49-F238E27FC236}">
                <a16:creationId xmlns:a16="http://schemas.microsoft.com/office/drawing/2014/main" id="{23FFDB68-3465-4C55-B375-5955B5F98C8D}"/>
              </a:ext>
            </a:extLst>
          </p:cNvPr>
          <p:cNvSpPr>
            <a:spLocks xmlns:a="http://schemas.openxmlformats.org/drawingml/2006/main" noGrp="1"/>
          </p:cNvSpPr>
          <p:nvPr/>
        </p:nvSpPr>
        <p:spPr>
          <a:xfrm xmlns:a="http://schemas.openxmlformats.org/drawingml/2006/main">
            <a:off x="533400" y="428625"/>
            <a:ext cx="419100" cy="47625"/>
          </a:xfrm>
          <a:prstGeom xmlns:a="http://schemas.openxmlformats.org/drawingml/2006/main" prst="rect">
            <a:avLst/>
          </a:prstGeom>
          <a:solidFill xmlns:a="http://schemas.openxmlformats.org/drawingml/2006/main">
            <a:srgbClr val="087F83"/>
          </a:solidFill>
          <a:ln xmlns:a="http://schemas.openxmlformats.org/drawingml/2006/main" w="0">
            <a:noFill/>
            <a:prstDash val="solid"/>
          </a:ln>
        </p:spPr>
      </p:sp>
      <p:sp>
        <p:nvSpPr>
          <p:cNvPr id="2" name="text-135">
            <a:extLst xmlns:a="http://schemas.openxmlformats.org/drawingml/2006/main">
              <a:ext uri="{FF2B5EF4-FFF2-40B4-BE49-F238E27FC236}">
                <a16:creationId xmlns:a16="http://schemas.microsoft.com/office/drawing/2014/main" id="{0461506E-5BF1-464B-B55E-C26AD358B4DE}"/>
              </a:ext>
            </a:extLst>
          </p:cNvPr>
          <p:cNvSpPr>
            <a:spLocks xmlns:a="http://schemas.openxmlformats.org/drawingml/2006/main" noGrp="1"/>
          </p:cNvSpPr>
          <p:nvPr/>
        </p:nvSpPr>
        <p:spPr>
          <a:xfrm xmlns:a="http://schemas.openxmlformats.org/drawingml/2006/main">
            <a:off x="533400" y="657225"/>
            <a:ext cx="111252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7364A"/>
                </a:solidFill>
                <a:latin typeface="Arial"/>
                <a:ea typeface="Arial"/>
                <a:cs typeface="Arial"/>
              </a:defRPr>
            </a:defPPr>
          </a:lstStyle>
          <a:p xmlns:a="http://schemas.openxmlformats.org/drawingml/2006/main">
            <a:pPr algn="l">
              <a:defRPr sz="2700" b="1">
                <a:solidFill>
                  <a:srgbClr val="17364A"/>
                </a:solidFill>
                <a:latin typeface="Arial"/>
                <a:ea typeface="Arial"/>
                <a:cs typeface="Arial"/>
              </a:defRPr>
            </a:pPr>
            <a:r>
              <a:rPr sz="2700" b="1">
                <a:solidFill>
                  <a:srgbClr val="17364A"/>
                </a:solidFill>
                <a:latin typeface="Arial"/>
                <a:ea typeface="Arial"/>
                <a:cs typeface="Arial"/>
              </a:rPr>
              <a:t>Connector hành động bằng quyền của người dùng</a:t>
            </a:r>
          </a:p>
        </p:txBody>
      </p:sp>
      <p:sp>
        <p:nvSpPr>
          <p:cNvPr id="3" name="shape-136">
            <a:extLst xmlns:a="http://schemas.openxmlformats.org/drawingml/2006/main">
              <a:ext uri="{FF2B5EF4-FFF2-40B4-BE49-F238E27FC236}">
                <a16:creationId xmlns:a16="http://schemas.microsoft.com/office/drawing/2014/main" id="{5365B253-5236-421E-B0EA-0454460826B4}"/>
              </a:ext>
            </a:extLst>
          </p:cNvPr>
          <p:cNvSpPr>
            <a:spLocks xmlns:a="http://schemas.openxmlformats.org/drawingml/2006/main" noGrp="1"/>
          </p:cNvSpPr>
          <p:nvPr/>
        </p:nvSpPr>
        <p:spPr>
          <a:xfrm xmlns:a="http://schemas.openxmlformats.org/drawingml/2006/main">
            <a:off x="533400" y="6381750"/>
            <a:ext cx="11125200" cy="9525"/>
          </a:xfrm>
          <a:prstGeom xmlns:a="http://schemas.openxmlformats.org/drawingml/2006/main" prst="rect">
            <a:avLst/>
          </a:prstGeom>
          <a:solidFill xmlns:a="http://schemas.openxmlformats.org/drawingml/2006/main">
            <a:srgbClr val="D1DEE5"/>
          </a:solidFill>
          <a:ln xmlns:a="http://schemas.openxmlformats.org/drawingml/2006/main" w="0">
            <a:noFill/>
            <a:prstDash val="solid"/>
          </a:ln>
        </p:spPr>
      </p:sp>
      <p:sp>
        <p:nvSpPr>
          <p:cNvPr id="4" name="text-137">
            <a:extLst xmlns:a="http://schemas.openxmlformats.org/drawingml/2006/main">
              <a:ext uri="{FF2B5EF4-FFF2-40B4-BE49-F238E27FC236}">
                <a16:creationId xmlns:a16="http://schemas.microsoft.com/office/drawing/2014/main" id="{6C5EA618-43B9-42DB-ABC6-59731B6959CC}"/>
              </a:ext>
            </a:extLst>
          </p:cNvPr>
          <p:cNvSpPr>
            <a:spLocks xmlns:a="http://schemas.openxmlformats.org/drawingml/2006/main" noGrp="1"/>
          </p:cNvSpPr>
          <p:nvPr/>
        </p:nvSpPr>
        <p:spPr>
          <a:xfrm xmlns:a="http://schemas.openxmlformats.org/drawingml/2006/main">
            <a:off x="533400" y="651510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87080"/>
                </a:solidFill>
                <a:latin typeface="Arial"/>
                <a:ea typeface="Arial"/>
                <a:cs typeface="Arial"/>
              </a:defRPr>
            </a:defPPr>
          </a:lstStyle>
          <a:p xmlns:a="http://schemas.openxmlformats.org/drawingml/2006/main">
            <a:pPr algn="l">
              <a:defRPr sz="975" b="0">
                <a:solidFill>
                  <a:srgbClr val="587080"/>
                </a:solidFill>
                <a:latin typeface="Arial"/>
                <a:ea typeface="Arial"/>
                <a:cs typeface="Arial"/>
              </a:defRPr>
            </a:pPr>
            <a:r>
              <a:rPr sz="975" b="0">
                <a:solidFill>
                  <a:srgbClr val="587080"/>
                </a:solidFill>
                <a:latin typeface="Arial"/>
                <a:ea typeface="Arial"/>
                <a:cs typeface="Arial"/>
              </a:rPr>
              <a:t>G03  /  Eviaura</a:t>
            </a:r>
          </a:p>
        </p:txBody>
      </p:sp>
      <p:sp>
        <p:nvSpPr>
          <p:cNvPr id="5" name="text-138">
            <a:extLst xmlns:a="http://schemas.openxmlformats.org/drawingml/2006/main">
              <a:ext uri="{FF2B5EF4-FFF2-40B4-BE49-F238E27FC236}">
                <a16:creationId xmlns:a16="http://schemas.microsoft.com/office/drawing/2014/main" id="{82743FC8-304A-4F38-8A04-9C66B8C344DC}"/>
              </a:ext>
            </a:extLst>
          </p:cNvPr>
          <p:cNvSpPr>
            <a:spLocks xmlns:a="http://schemas.openxmlformats.org/drawingml/2006/main" noGrp="1"/>
          </p:cNvSpPr>
          <p:nvPr/>
        </p:nvSpPr>
        <p:spPr>
          <a:xfrm xmlns:a="http://schemas.openxmlformats.org/drawingml/2006/main">
            <a:off x="11049000" y="6496050"/>
            <a:ext cx="609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050" b="0">
                <a:solidFill>
                  <a:srgbClr val="587080"/>
                </a:solidFill>
                <a:latin typeface="Arial"/>
                <a:ea typeface="Arial"/>
                <a:cs typeface="Arial"/>
              </a:defRPr>
            </a:defPPr>
          </a:lstStyle>
          <a:p xmlns:a="http://schemas.openxmlformats.org/drawingml/2006/main">
            <a:pPr algn="r">
              <a:defRPr sz="1050" b="0">
                <a:solidFill>
                  <a:srgbClr val="587080"/>
                </a:solidFill>
                <a:latin typeface="Arial"/>
                <a:ea typeface="Arial"/>
                <a:cs typeface="Arial"/>
              </a:defRPr>
            </a:pPr>
            <a:r>
              <a:rPr sz="1050" b="0">
                <a:solidFill>
                  <a:srgbClr val="587080"/>
                </a:solidFill>
                <a:latin typeface="Arial"/>
                <a:ea typeface="Arial"/>
                <a:cs typeface="Arial"/>
              </a:rPr>
              <a:t>07</a:t>
            </a:r>
          </a:p>
        </p:txBody>
      </p:sp>
      <p:graphicFrame>
        <p:nvGraphicFramePr>
          <p:cNvPr id="6" name="">
            <a:extLst xmlns:a="http://schemas.openxmlformats.org/drawingml/2006/main">
              <a:ext uri="{FF2B5EF4-FFF2-40B4-BE49-F238E27FC236}">
                <a16:creationId xmlns:a16="http://schemas.microsoft.com/office/drawing/2014/main" id="{FA2BA74A-7506-462B-8103-871415C798A1}"/>
              </a:ext>
            </a:extLst>
          </p:cNvPr>
          <p:cNvGraphicFramePr/>
          <p:nvPr/>
        </p:nvGraphicFramePr>
        <p:xfrm>
          <a:off xmlns:a="http://schemas.openxmlformats.org/drawingml/2006/main" x="533400" y="1628775"/>
          <a:ext xmlns:a="http://schemas.openxmlformats.org/drawingml/2006/main" cx="6762750" cy="3000375"/>
        </p:xfrm>
        <a:graphic xmlns:a="http://schemas.openxmlformats.org/drawingml/2006/main">
          <a:graphicData uri="http://schemas.openxmlformats.org/drawingml/2006/table">
            <a:tbl>
              <a:tblPr firstRow="0" bandRow="0"/>
              <a:tblGrid>
                <a:gridCol w="2857500"/>
                <a:gridCol w="3905250"/>
              </a:tblGrid>
              <a:tr h="600075">
                <a:tc>
                  <a:txBody>
                    <a:bodyPr lIns="85725" tIns="85725" rIns="85725" bIns="85725"/>
                    <a:lstStyle/>
                    <a:p>
                      <a:r>
                        <a:rPr sz="1725" b="1">
                          <a:solidFill>
                            <a:srgbClr val="FFFFFF"/>
                          </a:solidFill>
                          <a:latin typeface="Arial"/>
                          <a:ea typeface="Arial"/>
                          <a:cs typeface="Arial"/>
                        </a:rPr>
                        <a:t>Nguồn</a:t>
                      </a:r>
                    </a:p>
                  </a:txBody>
                  <a:tcPr marL="91440" marR="91440" marT="45720" marB="45720" anchor="ctr">
                    <a:lnL w="5715">
                      <a:solidFill>
                        <a:srgbClr val="D1DEE5"/>
                      </a:solidFill>
                      <a:prstDash val="solid"/>
                    </a:lnL>
                    <a:lnR w="5715">
                      <a:solidFill>
                        <a:srgbClr val="D1DEE5"/>
                      </a:solidFill>
                      <a:prstDash val="solid"/>
                    </a:lnR>
                    <a:lnT w="5715">
                      <a:solidFill>
                        <a:srgbClr val="D1DEE5"/>
                      </a:solidFill>
                      <a:prstDash val="solid"/>
                    </a:lnT>
                    <a:lnB w="5715">
                      <a:solidFill>
                        <a:srgbClr val="D1DEE5"/>
                      </a:solidFill>
                      <a:prstDash val="solid"/>
                    </a:lnB>
                    <a:solidFill>
                      <a:srgbClr val="103548"/>
                    </a:solidFill>
                  </a:tcPr>
                </a:tc>
                <a:tc>
                  <a:txBody>
                    <a:bodyPr lIns="85725" tIns="85725" rIns="85725" bIns="85725"/>
                    <a:lstStyle/>
                    <a:p>
                      <a:r>
                        <a:rPr sz="1725" b="1">
                          <a:solidFill>
                            <a:srgbClr val="FFFFFF"/>
                          </a:solidFill>
                          <a:latin typeface="Arial"/>
                          <a:ea typeface="Arial"/>
                          <a:cs typeface="Arial"/>
                        </a:rPr>
                        <a:t>Phạm vi tích hợp</a:t>
                      </a:r>
                    </a:p>
                  </a:txBody>
                  <a:tcPr marL="91440" marR="91440" marT="45720" marB="45720" anchor="ctr">
                    <a:lnR w="5715">
                      <a:solidFill>
                        <a:srgbClr val="D1DEE5"/>
                      </a:solidFill>
                      <a:prstDash val="solid"/>
                    </a:lnR>
                    <a:lnT w="5715">
                      <a:solidFill>
                        <a:srgbClr val="D1DEE5"/>
                      </a:solidFill>
                      <a:prstDash val="solid"/>
                    </a:lnT>
                    <a:lnB w="5715">
                      <a:solidFill>
                        <a:srgbClr val="D1DEE5"/>
                      </a:solidFill>
                      <a:prstDash val="solid"/>
                    </a:lnB>
                    <a:solidFill>
                      <a:srgbClr val="103548"/>
                    </a:solidFill>
                  </a:tcPr>
                </a:tc>
              </a:tr>
              <a:tr h="600075">
                <a:tc>
                  <a:txBody>
                    <a:bodyPr lIns="85725" tIns="85725" rIns="85725" bIns="85725"/>
                    <a:lstStyle/>
                    <a:p>
                      <a:r>
                        <a:rPr sz="1725" b="0">
                          <a:solidFill>
                            <a:srgbClr val="17364A"/>
                          </a:solidFill>
                          <a:latin typeface="Arial"/>
                          <a:ea typeface="Arial"/>
                          <a:cs typeface="Arial"/>
                        </a:rPr>
                        <a:t>Google Workspace</a:t>
                      </a:r>
                    </a:p>
                  </a:txBody>
                  <a:tcPr marL="91440" marR="91440" marT="45720" marB="45720" anchor="ctr">
                    <a:lnL w="5715">
                      <a:solidFill>
                        <a:srgbClr val="D1DEE5"/>
                      </a:solidFill>
                      <a:prstDash val="solid"/>
                    </a:lnL>
                    <a:lnR w="5715">
                      <a:solidFill>
                        <a:srgbClr val="D1DEE5"/>
                      </a:solidFill>
                      <a:prstDash val="solid"/>
                    </a:lnR>
                    <a:lnB w="5715">
                      <a:solidFill>
                        <a:srgbClr val="D1DEE5"/>
                      </a:solidFill>
                      <a:prstDash val="solid"/>
                    </a:lnB>
                    <a:solidFill>
                      <a:srgbClr val="F4F8FA"/>
                    </a:solidFill>
                  </a:tcPr>
                </a:tc>
                <a:tc>
                  <a:txBody>
                    <a:bodyPr lIns="85725" tIns="85725" rIns="85725" bIns="85725"/>
                    <a:lstStyle/>
                    <a:p>
                      <a:r>
                        <a:rPr sz="1725" b="0">
                          <a:solidFill>
                            <a:srgbClr val="17364A"/>
                          </a:solidFill>
                          <a:latin typeface="Arial"/>
                          <a:ea typeface="Arial"/>
                          <a:cs typeface="Arial"/>
                        </a:rPr>
                        <a:t>Mail, tài liệu và lịch theo OAuth user</a:t>
                      </a:r>
                    </a:p>
                  </a:txBody>
                  <a:tcPr marL="91440" marR="91440" marT="45720" marB="45720" anchor="ctr">
                    <a:lnR w="5715">
                      <a:solidFill>
                        <a:srgbClr val="D1DEE5"/>
                      </a:solidFill>
                      <a:prstDash val="solid"/>
                    </a:lnR>
                    <a:lnB w="5715">
                      <a:solidFill>
                        <a:srgbClr val="D1DEE5"/>
                      </a:solidFill>
                      <a:prstDash val="solid"/>
                    </a:lnB>
                    <a:solidFill>
                      <a:srgbClr val="F4F8FA"/>
                    </a:solidFill>
                  </a:tcPr>
                </a:tc>
              </a:tr>
              <a:tr h="600075">
                <a:tc>
                  <a:txBody>
                    <a:bodyPr lIns="85725" tIns="85725" rIns="85725" bIns="85725"/>
                    <a:lstStyle/>
                    <a:p>
                      <a:r>
                        <a:rPr sz="1725" b="0">
                          <a:solidFill>
                            <a:srgbClr val="17364A"/>
                          </a:solidFill>
                          <a:latin typeface="Arial"/>
                          <a:ea typeface="Arial"/>
                          <a:cs typeface="Arial"/>
                        </a:rPr>
                        <a:t>Microsoft 365 / Outlook</a:t>
                      </a:r>
                    </a:p>
                  </a:txBody>
                  <a:tcPr marL="91440" marR="91440" marT="45720" marB="45720" anchor="ctr">
                    <a:lnL w="5715">
                      <a:solidFill>
                        <a:srgbClr val="D1DEE5"/>
                      </a:solidFill>
                      <a:prstDash val="solid"/>
                    </a:lnL>
                    <a:lnR w="5715">
                      <a:solidFill>
                        <a:srgbClr val="D1DEE5"/>
                      </a:solidFill>
                      <a:prstDash val="solid"/>
                    </a:lnR>
                    <a:lnB w="5715">
                      <a:solidFill>
                        <a:srgbClr val="D1DEE5"/>
                      </a:solidFill>
                      <a:prstDash val="solid"/>
                    </a:lnB>
                    <a:solidFill>
                      <a:srgbClr val="FFFFFF"/>
                    </a:solidFill>
                  </a:tcPr>
                </a:tc>
                <a:tc>
                  <a:txBody>
                    <a:bodyPr lIns="85725" tIns="85725" rIns="85725" bIns="85725"/>
                    <a:lstStyle/>
                    <a:p>
                      <a:r>
                        <a:rPr sz="1725" b="0">
                          <a:solidFill>
                            <a:srgbClr val="17364A"/>
                          </a:solidFill>
                          <a:latin typeface="Arial"/>
                          <a:ea typeface="Arial"/>
                          <a:cs typeface="Arial"/>
                        </a:rPr>
                        <a:t>Mail, lịch và file theo delegated token</a:t>
                      </a:r>
                    </a:p>
                  </a:txBody>
                  <a:tcPr marL="91440" marR="91440" marT="45720" marB="45720" anchor="ctr">
                    <a:lnR w="5715">
                      <a:solidFill>
                        <a:srgbClr val="D1DEE5"/>
                      </a:solidFill>
                      <a:prstDash val="solid"/>
                    </a:lnR>
                    <a:lnB w="5715">
                      <a:solidFill>
                        <a:srgbClr val="D1DEE5"/>
                      </a:solidFill>
                      <a:prstDash val="solid"/>
                    </a:lnB>
                    <a:solidFill>
                      <a:srgbClr val="FFFFFF"/>
                    </a:solidFill>
                  </a:tcPr>
                </a:tc>
              </a:tr>
              <a:tr h="600075">
                <a:tc>
                  <a:txBody>
                    <a:bodyPr lIns="85725" tIns="85725" rIns="85725" bIns="85725"/>
                    <a:lstStyle/>
                    <a:p>
                      <a:r>
                        <a:rPr sz="1725" b="0">
                          <a:solidFill>
                            <a:srgbClr val="17364A"/>
                          </a:solidFill>
                          <a:latin typeface="Arial"/>
                          <a:ea typeface="Arial"/>
                          <a:cs typeface="Arial"/>
                        </a:rPr>
                        <a:t>Notion</a:t>
                      </a:r>
                    </a:p>
                  </a:txBody>
                  <a:tcPr marL="91440" marR="91440" marT="45720" marB="45720" anchor="ctr">
                    <a:lnL w="5715">
                      <a:solidFill>
                        <a:srgbClr val="D1DEE5"/>
                      </a:solidFill>
                      <a:prstDash val="solid"/>
                    </a:lnL>
                    <a:lnR w="5715">
                      <a:solidFill>
                        <a:srgbClr val="D1DEE5"/>
                      </a:solidFill>
                      <a:prstDash val="solid"/>
                    </a:lnR>
                    <a:lnB w="5715">
                      <a:solidFill>
                        <a:srgbClr val="D1DEE5"/>
                      </a:solidFill>
                      <a:prstDash val="solid"/>
                    </a:lnB>
                    <a:solidFill>
                      <a:srgbClr val="F4F8FA"/>
                    </a:solidFill>
                  </a:tcPr>
                </a:tc>
                <a:tc>
                  <a:txBody>
                    <a:bodyPr lIns="85725" tIns="85725" rIns="85725" bIns="85725"/>
                    <a:lstStyle/>
                    <a:p>
                      <a:r>
                        <a:rPr sz="1725" b="0">
                          <a:solidFill>
                            <a:srgbClr val="17364A"/>
                          </a:solidFill>
                          <a:latin typeface="Arial"/>
                          <a:ea typeface="Arial"/>
                          <a:cs typeface="Arial"/>
                        </a:rPr>
                        <a:t>Đọc và cập nhật page đã được user cấp quyền</a:t>
                      </a:r>
                    </a:p>
                  </a:txBody>
                  <a:tcPr marL="91440" marR="91440" marT="45720" marB="45720" anchor="ctr">
                    <a:lnR w="5715">
                      <a:solidFill>
                        <a:srgbClr val="D1DEE5"/>
                      </a:solidFill>
                      <a:prstDash val="solid"/>
                    </a:lnR>
                    <a:lnB w="5715">
                      <a:solidFill>
                        <a:srgbClr val="D1DEE5"/>
                      </a:solidFill>
                      <a:prstDash val="solid"/>
                    </a:lnB>
                    <a:solidFill>
                      <a:srgbClr val="F4F8FA"/>
                    </a:solidFill>
                  </a:tcPr>
                </a:tc>
              </a:tr>
              <a:tr h="600075">
                <a:tc>
                  <a:txBody>
                    <a:bodyPr lIns="85725" tIns="85725" rIns="85725" bIns="85725"/>
                    <a:lstStyle/>
                    <a:p>
                      <a:r>
                        <a:rPr sz="1725" b="0">
                          <a:solidFill>
                            <a:srgbClr val="17364A"/>
                          </a:solidFill>
                          <a:latin typeface="Arial"/>
                          <a:ea typeface="Arial"/>
                          <a:cs typeface="Arial"/>
                        </a:rPr>
                        <a:t>Jira / Confluence</a:t>
                      </a:r>
                    </a:p>
                  </a:txBody>
                  <a:tcPr marL="91440" marR="91440" marT="45720" marB="45720" anchor="ctr">
                    <a:lnL w="5715">
                      <a:solidFill>
                        <a:srgbClr val="D1DEE5"/>
                      </a:solidFill>
                      <a:prstDash val="solid"/>
                    </a:lnL>
                    <a:lnR w="5715">
                      <a:solidFill>
                        <a:srgbClr val="D1DEE5"/>
                      </a:solidFill>
                      <a:prstDash val="solid"/>
                    </a:lnR>
                    <a:lnB w="5715">
                      <a:solidFill>
                        <a:srgbClr val="D1DEE5"/>
                      </a:solidFill>
                      <a:prstDash val="solid"/>
                    </a:lnB>
                    <a:solidFill>
                      <a:srgbClr val="FFFFFF"/>
                    </a:solidFill>
                  </a:tcPr>
                </a:tc>
                <a:tc>
                  <a:txBody>
                    <a:bodyPr lIns="85725" tIns="85725" rIns="85725" bIns="85725"/>
                    <a:lstStyle/>
                    <a:p>
                      <a:r>
                        <a:rPr sz="1725" b="0">
                          <a:solidFill>
                            <a:srgbClr val="17364A"/>
                          </a:solidFill>
                          <a:latin typeface="Arial"/>
                          <a:ea typeface="Arial"/>
                          <a:cs typeface="Arial"/>
                        </a:rPr>
                        <a:t>Issue, project và page trong quyền người dùng</a:t>
                      </a:r>
                    </a:p>
                  </a:txBody>
                  <a:tcPr marL="91440" marR="91440" marT="45720" marB="45720" anchor="ctr">
                    <a:lnR w="5715">
                      <a:solidFill>
                        <a:srgbClr val="D1DEE5"/>
                      </a:solidFill>
                      <a:prstDash val="solid"/>
                    </a:lnR>
                    <a:lnB w="5715">
                      <a:solidFill>
                        <a:srgbClr val="D1DEE5"/>
                      </a:solidFill>
                      <a:prstDash val="solid"/>
                    </a:lnB>
                    <a:solidFill>
                      <a:srgbClr val="FFFFFF"/>
                    </a:solidFill>
                  </a:tcPr>
                </a:tc>
              </a:tr>
            </a:tbl>
          </a:graphicData>
        </a:graphic>
      </p:graphicFrame>
      <p:sp>
        <p:nvSpPr>
          <p:cNvPr id="7" name="text-139">
            <a:extLst xmlns:a="http://schemas.openxmlformats.org/drawingml/2006/main">
              <a:ext uri="{FF2B5EF4-FFF2-40B4-BE49-F238E27FC236}">
                <a16:creationId xmlns:a16="http://schemas.microsoft.com/office/drawing/2014/main" id="{4522A0E0-FBDF-43F4-995C-DDC3B6C2475D}"/>
              </a:ext>
            </a:extLst>
          </p:cNvPr>
          <p:cNvSpPr>
            <a:spLocks xmlns:a="http://schemas.openxmlformats.org/drawingml/2006/main" noGrp="1"/>
          </p:cNvSpPr>
          <p:nvPr/>
        </p:nvSpPr>
        <p:spPr>
          <a:xfrm xmlns:a="http://schemas.openxmlformats.org/drawingml/2006/main">
            <a:off x="7715250" y="1685925"/>
            <a:ext cx="39433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087F83"/>
                </a:solidFill>
                <a:latin typeface="Arial"/>
                <a:ea typeface="Arial"/>
                <a:cs typeface="Arial"/>
              </a:defRPr>
            </a:defPPr>
          </a:lstStyle>
          <a:p xmlns:a="http://schemas.openxmlformats.org/drawingml/2006/main">
            <a:pPr algn="l">
              <a:defRPr sz="2025" b="1">
                <a:solidFill>
                  <a:srgbClr val="087F83"/>
                </a:solidFill>
                <a:latin typeface="Arial"/>
                <a:ea typeface="Arial"/>
                <a:cs typeface="Arial"/>
              </a:defRPr>
            </a:pPr>
            <a:r>
              <a:rPr sz="2025" b="1">
                <a:solidFill>
                  <a:srgbClr val="087F83"/>
                </a:solidFill>
                <a:latin typeface="Arial"/>
                <a:ea typeface="Arial"/>
                <a:cs typeface="Arial"/>
              </a:rPr>
              <a:t>Cùng một nguyên tắc</a:t>
            </a:r>
          </a:p>
        </p:txBody>
      </p:sp>
      <p:sp>
        <p:nvSpPr>
          <p:cNvPr id="8" name="text-140">
            <a:extLst xmlns:a="http://schemas.openxmlformats.org/drawingml/2006/main">
              <a:ext uri="{FF2B5EF4-FFF2-40B4-BE49-F238E27FC236}">
                <a16:creationId xmlns:a16="http://schemas.microsoft.com/office/drawing/2014/main" id="{41559734-4E6D-4E67-9901-4298AA11A1D0}"/>
              </a:ext>
            </a:extLst>
          </p:cNvPr>
          <p:cNvSpPr>
            <a:spLocks xmlns:a="http://schemas.openxmlformats.org/drawingml/2006/main" noGrp="1"/>
          </p:cNvSpPr>
          <p:nvPr/>
        </p:nvSpPr>
        <p:spPr>
          <a:xfrm xmlns:a="http://schemas.openxmlformats.org/drawingml/2006/main">
            <a:off x="7715250" y="2276475"/>
            <a:ext cx="394335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364A"/>
                </a:solidFill>
                <a:latin typeface="Arial"/>
                <a:ea typeface="Arial"/>
                <a:cs typeface="Arial"/>
              </a:defRPr>
            </a:defPPr>
          </a:lstStyle>
          <a:p xmlns:a="http://schemas.openxmlformats.org/drawingml/2006/main">
            <a:pPr algn="l">
              <a:defRPr sz="1800" b="0">
                <a:solidFill>
                  <a:srgbClr val="17364A"/>
                </a:solidFill>
                <a:latin typeface="Arial"/>
                <a:ea typeface="Arial"/>
                <a:cs typeface="Arial"/>
              </a:defRPr>
            </a:pPr>
            <a:r>
              <a:rPr sz="1800" b="0">
                <a:solidFill>
                  <a:srgbClr val="17364A"/>
                </a:solidFill>
                <a:latin typeface="Arial"/>
                <a:ea typeface="Arial"/>
                <a:cs typeface="Arial"/>
              </a:rPr>
              <a:t>Scope thấp nhất</a:t>
            </a:r>
          </a:p>
          <a:p xmlns:a="http://schemas.openxmlformats.org/drawingml/2006/main">
            <a:r>
              <a:t/>
            </a:r>
          </a:p>
          <a:p xmlns:a="http://schemas.openxmlformats.org/drawingml/2006/main">
            <a:pPr algn="l">
              <a:defRPr sz="1800" b="0">
                <a:solidFill>
                  <a:srgbClr val="17364A"/>
                </a:solidFill>
                <a:latin typeface="Arial"/>
                <a:ea typeface="Arial"/>
                <a:cs typeface="Arial"/>
              </a:defRPr>
            </a:pPr>
            <a:r>
              <a:rPr sz="1800" b="0">
                <a:solidFill>
                  <a:srgbClr val="17364A"/>
                </a:solidFill>
                <a:latin typeface="Arial"/>
                <a:ea typeface="Arial"/>
                <a:cs typeface="Arial"/>
              </a:rPr>
              <a:t>ACL gốc được kiểm tra lại</a:t>
            </a:r>
          </a:p>
          <a:p xmlns:a="http://schemas.openxmlformats.org/drawingml/2006/main">
            <a:r>
              <a:t/>
            </a:r>
          </a:p>
          <a:p xmlns:a="http://schemas.openxmlformats.org/drawingml/2006/main">
            <a:pPr algn="l">
              <a:defRPr sz="1800" b="0">
                <a:solidFill>
                  <a:srgbClr val="17364A"/>
                </a:solidFill>
                <a:latin typeface="Arial"/>
                <a:ea typeface="Arial"/>
                <a:cs typeface="Arial"/>
              </a:defRPr>
            </a:pPr>
            <a:r>
              <a:rPr sz="1800" b="0">
                <a:solidFill>
                  <a:srgbClr val="17364A"/>
                </a:solidFill>
                <a:latin typeface="Arial"/>
                <a:ea typeface="Arial"/>
                <a:cs typeface="Arial"/>
              </a:rPr>
              <a:t>Ghi ra ngoài cần xác nhận</a:t>
            </a:r>
          </a:p>
        </p:txBody>
      </p:sp>
      <p:sp>
        <p:nvSpPr>
          <p:cNvPr id="9" name="shape-141">
            <a:extLst xmlns:a="http://schemas.openxmlformats.org/drawingml/2006/main">
              <a:ext uri="{FF2B5EF4-FFF2-40B4-BE49-F238E27FC236}">
                <a16:creationId xmlns:a16="http://schemas.microsoft.com/office/drawing/2014/main" id="{D19CEF30-6A8E-406D-96A3-D695CAB80BB2}"/>
              </a:ext>
            </a:extLst>
          </p:cNvPr>
          <p:cNvSpPr>
            <a:spLocks xmlns:a="http://schemas.openxmlformats.org/drawingml/2006/main" noGrp="1"/>
          </p:cNvSpPr>
          <p:nvPr/>
        </p:nvSpPr>
        <p:spPr>
          <a:xfrm xmlns:a="http://schemas.openxmlformats.org/drawingml/2006/main">
            <a:off x="533400" y="5810250"/>
            <a:ext cx="11125200" cy="400050"/>
          </a:xfrm>
          <a:prstGeom xmlns:a="http://schemas.openxmlformats.org/drawingml/2006/main" prst="rect">
            <a:avLst/>
          </a:prstGeom>
          <a:solidFill xmlns:a="http://schemas.openxmlformats.org/drawingml/2006/main">
            <a:srgbClr val="E8F4F3"/>
          </a:solidFill>
          <a:ln xmlns:a="http://schemas.openxmlformats.org/drawingml/2006/main" w="0">
            <a:noFill/>
            <a:prstDash val="solid"/>
          </a:ln>
        </p:spPr>
      </p:sp>
      <p:sp>
        <p:nvSpPr>
          <p:cNvPr id="10" name="text-142">
            <a:extLst xmlns:a="http://schemas.openxmlformats.org/drawingml/2006/main">
              <a:ext uri="{FF2B5EF4-FFF2-40B4-BE49-F238E27FC236}">
                <a16:creationId xmlns:a16="http://schemas.microsoft.com/office/drawing/2014/main" id="{5D7155AD-5552-416D-99FD-FA8BB5FD6FFA}"/>
              </a:ext>
            </a:extLst>
          </p:cNvPr>
          <p:cNvSpPr>
            <a:spLocks xmlns:a="http://schemas.openxmlformats.org/drawingml/2006/main" noGrp="1"/>
          </p:cNvSpPr>
          <p:nvPr/>
        </p:nvSpPr>
        <p:spPr>
          <a:xfrm xmlns:a="http://schemas.openxmlformats.org/drawingml/2006/main">
            <a:off x="666750" y="5905500"/>
            <a:ext cx="10858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17364A"/>
                </a:solidFill>
                <a:latin typeface="Arial"/>
                <a:ea typeface="Arial"/>
                <a:cs typeface="Arial"/>
              </a:defRPr>
            </a:defPPr>
          </a:lstStyle>
          <a:p xmlns:a="http://schemas.openxmlformats.org/drawingml/2006/main">
            <a:pPr algn="l">
              <a:defRPr sz="1350" b="0">
                <a:solidFill>
                  <a:srgbClr val="17364A"/>
                </a:solidFill>
                <a:latin typeface="Arial"/>
                <a:ea typeface="Arial"/>
                <a:cs typeface="Arial"/>
              </a:defRPr>
            </a:pPr>
            <a:r>
              <a:rPr sz="1350" b="0">
                <a:solidFill>
                  <a:srgbClr val="17364A"/>
                </a:solidFill>
                <a:latin typeface="Arial"/>
                <a:ea typeface="Arial"/>
                <a:cs typeface="Arial"/>
              </a:rPr>
              <a:t>Refresh token: KMS envelope encryption. Client secret: Secrets Manager. Retry 429 hữu hạn.</a:t>
            </a:r>
          </a:p>
        </p:txBody>
      </p:sp>
    </p:spTree>
    <p:extLst>
      <p:ext uri="{BB962C8B-B14F-4D97-AF65-F5344CB8AC3E}">
        <p14:creationId xmlns:p14="http://schemas.microsoft.com/office/powerpoint/2010/main" val="146126843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hape-143">
            <a:extLst xmlns:a="http://schemas.openxmlformats.org/drawingml/2006/main">
              <a:ext uri="{FF2B5EF4-FFF2-40B4-BE49-F238E27FC236}">
                <a16:creationId xmlns:a16="http://schemas.microsoft.com/office/drawing/2014/main" id="{E7985BE0-1286-4F02-A237-ECF4F3079E76}"/>
              </a:ext>
            </a:extLst>
          </p:cNvPr>
          <p:cNvSpPr>
            <a:spLocks xmlns:a="http://schemas.openxmlformats.org/drawingml/2006/main" noGrp="1"/>
          </p:cNvSpPr>
          <p:nvPr/>
        </p:nvSpPr>
        <p:spPr>
          <a:xfrm xmlns:a="http://schemas.openxmlformats.org/drawingml/2006/main">
            <a:off x="533400" y="428625"/>
            <a:ext cx="419100" cy="47625"/>
          </a:xfrm>
          <a:prstGeom xmlns:a="http://schemas.openxmlformats.org/drawingml/2006/main" prst="rect">
            <a:avLst/>
          </a:prstGeom>
          <a:solidFill xmlns:a="http://schemas.openxmlformats.org/drawingml/2006/main">
            <a:srgbClr val="087F83"/>
          </a:solidFill>
          <a:ln xmlns:a="http://schemas.openxmlformats.org/drawingml/2006/main" w="0">
            <a:noFill/>
            <a:prstDash val="solid"/>
          </a:ln>
        </p:spPr>
      </p:sp>
      <p:sp>
        <p:nvSpPr>
          <p:cNvPr id="2" name="text-144">
            <a:extLst xmlns:a="http://schemas.openxmlformats.org/drawingml/2006/main">
              <a:ext uri="{FF2B5EF4-FFF2-40B4-BE49-F238E27FC236}">
                <a16:creationId xmlns:a16="http://schemas.microsoft.com/office/drawing/2014/main" id="{45242649-E006-4211-9275-320B6A0A65B8}"/>
              </a:ext>
            </a:extLst>
          </p:cNvPr>
          <p:cNvSpPr>
            <a:spLocks xmlns:a="http://schemas.openxmlformats.org/drawingml/2006/main" noGrp="1"/>
          </p:cNvSpPr>
          <p:nvPr/>
        </p:nvSpPr>
        <p:spPr>
          <a:xfrm xmlns:a="http://schemas.openxmlformats.org/drawingml/2006/main">
            <a:off x="533400" y="657225"/>
            <a:ext cx="111252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7364A"/>
                </a:solidFill>
                <a:latin typeface="Arial"/>
                <a:ea typeface="Arial"/>
                <a:cs typeface="Arial"/>
              </a:defRPr>
            </a:defPPr>
          </a:lstStyle>
          <a:p xmlns:a="http://schemas.openxmlformats.org/drawingml/2006/main">
            <a:pPr algn="l">
              <a:defRPr sz="2700" b="1">
                <a:solidFill>
                  <a:srgbClr val="17364A"/>
                </a:solidFill>
                <a:latin typeface="Arial"/>
                <a:ea typeface="Arial"/>
                <a:cs typeface="Arial"/>
              </a:defRPr>
            </a:pPr>
            <a:r>
              <a:rPr sz="2700" b="1">
                <a:solidFill>
                  <a:srgbClr val="17364A"/>
                </a:solidFill>
                <a:latin typeface="Arial"/>
                <a:ea typeface="Arial"/>
                <a:cs typeface="Arial"/>
              </a:rPr>
              <a:t>Workspace riêng và sandbox không có đường ra ngoài</a:t>
            </a:r>
          </a:p>
        </p:txBody>
      </p:sp>
      <p:sp>
        <p:nvSpPr>
          <p:cNvPr id="3" name="shape-145">
            <a:extLst xmlns:a="http://schemas.openxmlformats.org/drawingml/2006/main">
              <a:ext uri="{FF2B5EF4-FFF2-40B4-BE49-F238E27FC236}">
                <a16:creationId xmlns:a16="http://schemas.microsoft.com/office/drawing/2014/main" id="{2333CB35-6BE1-44E8-9541-BEB6F061BE46}"/>
              </a:ext>
            </a:extLst>
          </p:cNvPr>
          <p:cNvSpPr>
            <a:spLocks xmlns:a="http://schemas.openxmlformats.org/drawingml/2006/main" noGrp="1"/>
          </p:cNvSpPr>
          <p:nvPr/>
        </p:nvSpPr>
        <p:spPr>
          <a:xfrm xmlns:a="http://schemas.openxmlformats.org/drawingml/2006/main">
            <a:off x="533400" y="6381750"/>
            <a:ext cx="11125200" cy="9525"/>
          </a:xfrm>
          <a:prstGeom xmlns:a="http://schemas.openxmlformats.org/drawingml/2006/main" prst="rect">
            <a:avLst/>
          </a:prstGeom>
          <a:solidFill xmlns:a="http://schemas.openxmlformats.org/drawingml/2006/main">
            <a:srgbClr val="D1DEE5"/>
          </a:solidFill>
          <a:ln xmlns:a="http://schemas.openxmlformats.org/drawingml/2006/main" w="0">
            <a:noFill/>
            <a:prstDash val="solid"/>
          </a:ln>
        </p:spPr>
      </p:sp>
      <p:sp>
        <p:nvSpPr>
          <p:cNvPr id="4" name="text-146">
            <a:extLst xmlns:a="http://schemas.openxmlformats.org/drawingml/2006/main">
              <a:ext uri="{FF2B5EF4-FFF2-40B4-BE49-F238E27FC236}">
                <a16:creationId xmlns:a16="http://schemas.microsoft.com/office/drawing/2014/main" id="{0841B26B-D9A3-44CA-B054-96B48C61E02B}"/>
              </a:ext>
            </a:extLst>
          </p:cNvPr>
          <p:cNvSpPr>
            <a:spLocks xmlns:a="http://schemas.openxmlformats.org/drawingml/2006/main" noGrp="1"/>
          </p:cNvSpPr>
          <p:nvPr/>
        </p:nvSpPr>
        <p:spPr>
          <a:xfrm xmlns:a="http://schemas.openxmlformats.org/drawingml/2006/main">
            <a:off x="533400" y="651510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87080"/>
                </a:solidFill>
                <a:latin typeface="Arial"/>
                <a:ea typeface="Arial"/>
                <a:cs typeface="Arial"/>
              </a:defRPr>
            </a:defPPr>
          </a:lstStyle>
          <a:p xmlns:a="http://schemas.openxmlformats.org/drawingml/2006/main">
            <a:pPr algn="l">
              <a:defRPr sz="975" b="0">
                <a:solidFill>
                  <a:srgbClr val="587080"/>
                </a:solidFill>
                <a:latin typeface="Arial"/>
                <a:ea typeface="Arial"/>
                <a:cs typeface="Arial"/>
              </a:defRPr>
            </a:pPr>
            <a:r>
              <a:rPr sz="975" b="0">
                <a:solidFill>
                  <a:srgbClr val="587080"/>
                </a:solidFill>
                <a:latin typeface="Arial"/>
                <a:ea typeface="Arial"/>
                <a:cs typeface="Arial"/>
              </a:rPr>
              <a:t>G03  /  Eviaura</a:t>
            </a:r>
          </a:p>
        </p:txBody>
      </p:sp>
      <p:sp>
        <p:nvSpPr>
          <p:cNvPr id="5" name="text-147">
            <a:extLst xmlns:a="http://schemas.openxmlformats.org/drawingml/2006/main">
              <a:ext uri="{FF2B5EF4-FFF2-40B4-BE49-F238E27FC236}">
                <a16:creationId xmlns:a16="http://schemas.microsoft.com/office/drawing/2014/main" id="{A6B384B8-35FB-499D-A0DF-C7B6478E86C8}"/>
              </a:ext>
            </a:extLst>
          </p:cNvPr>
          <p:cNvSpPr>
            <a:spLocks xmlns:a="http://schemas.openxmlformats.org/drawingml/2006/main" noGrp="1"/>
          </p:cNvSpPr>
          <p:nvPr/>
        </p:nvSpPr>
        <p:spPr>
          <a:xfrm xmlns:a="http://schemas.openxmlformats.org/drawingml/2006/main">
            <a:off x="11049000" y="6496050"/>
            <a:ext cx="609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050" b="0">
                <a:solidFill>
                  <a:srgbClr val="587080"/>
                </a:solidFill>
                <a:latin typeface="Arial"/>
                <a:ea typeface="Arial"/>
                <a:cs typeface="Arial"/>
              </a:defRPr>
            </a:defPPr>
          </a:lstStyle>
          <a:p xmlns:a="http://schemas.openxmlformats.org/drawingml/2006/main">
            <a:pPr algn="r">
              <a:defRPr sz="1050" b="0">
                <a:solidFill>
                  <a:srgbClr val="587080"/>
                </a:solidFill>
                <a:latin typeface="Arial"/>
                <a:ea typeface="Arial"/>
                <a:cs typeface="Arial"/>
              </a:defRPr>
            </a:pPr>
            <a:r>
              <a:rPr sz="1050" b="0">
                <a:solidFill>
                  <a:srgbClr val="587080"/>
                </a:solidFill>
                <a:latin typeface="Arial"/>
                <a:ea typeface="Arial"/>
                <a:cs typeface="Arial"/>
              </a:rPr>
              <a:t>08</a:t>
            </a:r>
          </a:p>
        </p:txBody>
      </p:sp>
      <p:sp>
        <p:nvSpPr>
          <p:cNvPr id="6" name="shape-148">
            <a:extLst xmlns:a="http://schemas.openxmlformats.org/drawingml/2006/main">
              <a:ext uri="{FF2B5EF4-FFF2-40B4-BE49-F238E27FC236}">
                <a16:creationId xmlns:a16="http://schemas.microsoft.com/office/drawing/2014/main" id="{D57673E6-3255-49AE-981D-3B5C37373BDE}"/>
              </a:ext>
            </a:extLst>
          </p:cNvPr>
          <p:cNvSpPr>
            <a:spLocks xmlns:a="http://schemas.openxmlformats.org/drawingml/2006/main" noGrp="1"/>
          </p:cNvSpPr>
          <p:nvPr/>
        </p:nvSpPr>
        <p:spPr>
          <a:xfrm xmlns:a="http://schemas.openxmlformats.org/drawingml/2006/main">
            <a:off x="533400" y="1619250"/>
            <a:ext cx="5257800" cy="3505200"/>
          </a:xfrm>
          <a:prstGeom xmlns:a="http://schemas.openxmlformats.org/drawingml/2006/main" prst="rect">
            <a:avLst/>
          </a:prstGeom>
          <a:solidFill xmlns:a="http://schemas.openxmlformats.org/drawingml/2006/main">
            <a:srgbClr val="F4F8FA"/>
          </a:solidFill>
          <a:ln xmlns:a="http://schemas.openxmlformats.org/drawingml/2006/main" w="9525">
            <a:solidFill>
              <a:srgbClr val="D1DEE5"/>
            </a:solidFill>
            <a:prstDash val="solid"/>
          </a:ln>
        </p:spPr>
      </p:sp>
      <p:sp>
        <p:nvSpPr>
          <p:cNvPr id="7" name="shape-149">
            <a:extLst xmlns:a="http://schemas.openxmlformats.org/drawingml/2006/main">
              <a:ext uri="{FF2B5EF4-FFF2-40B4-BE49-F238E27FC236}">
                <a16:creationId xmlns:a16="http://schemas.microsoft.com/office/drawing/2014/main" id="{F93CD4BF-0DC4-4334-8DB2-C3C6B9AB6E47}"/>
              </a:ext>
            </a:extLst>
          </p:cNvPr>
          <p:cNvSpPr>
            <a:spLocks xmlns:a="http://schemas.openxmlformats.org/drawingml/2006/main" noGrp="1"/>
          </p:cNvSpPr>
          <p:nvPr/>
        </p:nvSpPr>
        <p:spPr>
          <a:xfrm xmlns:a="http://schemas.openxmlformats.org/drawingml/2006/main">
            <a:off x="6248400" y="1619250"/>
            <a:ext cx="5410200" cy="3505200"/>
          </a:xfrm>
          <a:prstGeom xmlns:a="http://schemas.openxmlformats.org/drawingml/2006/main" prst="rect">
            <a:avLst/>
          </a:prstGeom>
          <a:solidFill xmlns:a="http://schemas.openxmlformats.org/drawingml/2006/main">
            <a:srgbClr val="E8F4F3"/>
          </a:solidFill>
          <a:ln xmlns:a="http://schemas.openxmlformats.org/drawingml/2006/main" w="9525">
            <a:solidFill>
              <a:srgbClr val="D1DEE5"/>
            </a:solidFill>
            <a:prstDash val="solid"/>
          </a:ln>
        </p:spPr>
      </p:sp>
      <p:sp>
        <p:nvSpPr>
          <p:cNvPr id="8" name="text-150">
            <a:extLst xmlns:a="http://schemas.openxmlformats.org/drawingml/2006/main">
              <a:ext uri="{FF2B5EF4-FFF2-40B4-BE49-F238E27FC236}">
                <a16:creationId xmlns:a16="http://schemas.microsoft.com/office/drawing/2014/main" id="{A92D87A7-7641-4E90-A904-E347B1A5A972}"/>
              </a:ext>
            </a:extLst>
          </p:cNvPr>
          <p:cNvSpPr>
            <a:spLocks xmlns:a="http://schemas.openxmlformats.org/drawingml/2006/main" noGrp="1"/>
          </p:cNvSpPr>
          <p:nvPr/>
        </p:nvSpPr>
        <p:spPr>
          <a:xfrm xmlns:a="http://schemas.openxmlformats.org/drawingml/2006/main">
            <a:off x="723900" y="1819275"/>
            <a:ext cx="4857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087F83"/>
                </a:solidFill>
                <a:latin typeface="Arial"/>
                <a:ea typeface="Arial"/>
                <a:cs typeface="Arial"/>
              </a:defRPr>
            </a:defPPr>
          </a:lstStyle>
          <a:p xmlns:a="http://schemas.openxmlformats.org/drawingml/2006/main">
            <a:pPr algn="l">
              <a:defRPr sz="2100" b="1">
                <a:solidFill>
                  <a:srgbClr val="087F83"/>
                </a:solidFill>
                <a:latin typeface="Arial"/>
                <a:ea typeface="Arial"/>
                <a:cs typeface="Arial"/>
              </a:defRPr>
            </a:pPr>
            <a:r>
              <a:rPr sz="2100" b="1">
                <a:solidFill>
                  <a:srgbClr val="087F83"/>
                </a:solidFill>
                <a:latin typeface="Arial"/>
                <a:ea typeface="Arial"/>
                <a:cs typeface="Arial"/>
              </a:rPr>
              <a:t>Trusted controller</a:t>
            </a:r>
          </a:p>
        </p:txBody>
      </p:sp>
      <p:sp>
        <p:nvSpPr>
          <p:cNvPr id="9" name="text-151">
            <a:extLst xmlns:a="http://schemas.openxmlformats.org/drawingml/2006/main">
              <a:ext uri="{FF2B5EF4-FFF2-40B4-BE49-F238E27FC236}">
                <a16:creationId xmlns:a16="http://schemas.microsoft.com/office/drawing/2014/main" id="{81E7CDAF-1866-4F02-80B1-AC5E7F242808}"/>
              </a:ext>
            </a:extLst>
          </p:cNvPr>
          <p:cNvSpPr>
            <a:spLocks xmlns:a="http://schemas.openxmlformats.org/drawingml/2006/main" noGrp="1"/>
          </p:cNvSpPr>
          <p:nvPr/>
        </p:nvSpPr>
        <p:spPr>
          <a:xfrm xmlns:a="http://schemas.openxmlformats.org/drawingml/2006/main">
            <a:off x="723900" y="2428875"/>
            <a:ext cx="485775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17364A"/>
                </a:solidFill>
                <a:latin typeface="Arial"/>
                <a:ea typeface="Arial"/>
                <a:cs typeface="Arial"/>
              </a:defRPr>
            </a:defPPr>
          </a:lstStyle>
          <a:p xmlns:a="http://schemas.openxmlformats.org/drawingml/2006/main">
            <a:pPr algn="l">
              <a:defRPr sz="1725" b="0">
                <a:solidFill>
                  <a:srgbClr val="17364A"/>
                </a:solidFill>
                <a:latin typeface="Arial"/>
                <a:ea typeface="Arial"/>
                <a:cs typeface="Arial"/>
              </a:defRPr>
            </a:pPr>
            <a:r>
              <a:rPr sz="1725" b="0">
                <a:solidFill>
                  <a:srgbClr val="17364A"/>
                </a:solidFill>
                <a:latin typeface="Arial"/>
                <a:ea typeface="Arial"/>
                <a:cs typeface="Arial"/>
              </a:rPr>
              <a:t>Identity từ token đã xác thực</a:t>
            </a:r>
          </a:p>
          <a:p xmlns:a="http://schemas.openxmlformats.org/drawingml/2006/main">
            <a:r>
              <a:t/>
            </a:r>
          </a:p>
          <a:p xmlns:a="http://schemas.openxmlformats.org/drawingml/2006/main">
            <a:pPr algn="l">
              <a:defRPr sz="1725" b="0">
                <a:solidFill>
                  <a:srgbClr val="17364A"/>
                </a:solidFill>
                <a:latin typeface="Arial"/>
                <a:ea typeface="Arial"/>
                <a:cs typeface="Arial"/>
              </a:defRPr>
            </a:pPr>
            <a:r>
              <a:rPr sz="1725" b="0">
                <a:solidFill>
                  <a:srgbClr val="17364A"/>
                </a:solidFill>
                <a:latin typeface="Arial"/>
                <a:ea typeface="Arial"/>
                <a:cs typeface="Arial"/>
              </a:rPr>
              <a:t>S3 workspace tối đa 10 GB/user</a:t>
            </a:r>
          </a:p>
          <a:p xmlns:a="http://schemas.openxmlformats.org/drawingml/2006/main">
            <a:r>
              <a:t/>
            </a:r>
          </a:p>
          <a:p xmlns:a="http://schemas.openxmlformats.org/drawingml/2006/main">
            <a:pPr algn="l">
              <a:defRPr sz="1725" b="0">
                <a:solidFill>
                  <a:srgbClr val="17364A"/>
                </a:solidFill>
                <a:latin typeface="Arial"/>
                <a:ea typeface="Arial"/>
                <a:cs typeface="Arial"/>
              </a:defRPr>
            </a:pPr>
            <a:r>
              <a:rPr sz="1725" b="0">
                <a:solidFill>
                  <a:srgbClr val="17364A"/>
                </a:solidFill>
                <a:latin typeface="Arial"/>
                <a:ea typeface="Arial"/>
                <a:cs typeface="Arial"/>
              </a:rPr>
              <a:t>Memory và search lọc theo quyền</a:t>
            </a:r>
          </a:p>
          <a:p xmlns:a="http://schemas.openxmlformats.org/drawingml/2006/main">
            <a:r>
              <a:t/>
            </a:r>
          </a:p>
          <a:p xmlns:a="http://schemas.openxmlformats.org/drawingml/2006/main">
            <a:pPr algn="l">
              <a:defRPr sz="1725" b="0">
                <a:solidFill>
                  <a:srgbClr val="17364A"/>
                </a:solidFill>
                <a:latin typeface="Arial"/>
                <a:ea typeface="Arial"/>
                <a:cs typeface="Arial"/>
              </a:defRPr>
            </a:pPr>
            <a:r>
              <a:rPr sz="1725" b="0">
                <a:solidFill>
                  <a:srgbClr val="17364A"/>
                </a:solidFill>
                <a:latin typeface="Arial"/>
                <a:ea typeface="Arial"/>
                <a:cs typeface="Arial"/>
              </a:rPr>
              <a:t>URL ký ngắn hạn, quota byte atomic</a:t>
            </a:r>
          </a:p>
        </p:txBody>
      </p:sp>
      <p:sp>
        <p:nvSpPr>
          <p:cNvPr id="10" name="text-152">
            <a:extLst xmlns:a="http://schemas.openxmlformats.org/drawingml/2006/main">
              <a:ext uri="{FF2B5EF4-FFF2-40B4-BE49-F238E27FC236}">
                <a16:creationId xmlns:a16="http://schemas.microsoft.com/office/drawing/2014/main" id="{8119FDF0-82F5-4953-844E-C0071C265682}"/>
              </a:ext>
            </a:extLst>
          </p:cNvPr>
          <p:cNvSpPr>
            <a:spLocks xmlns:a="http://schemas.openxmlformats.org/drawingml/2006/main" noGrp="1"/>
          </p:cNvSpPr>
          <p:nvPr/>
        </p:nvSpPr>
        <p:spPr>
          <a:xfrm xmlns:a="http://schemas.openxmlformats.org/drawingml/2006/main">
            <a:off x="6457950" y="1819275"/>
            <a:ext cx="495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087F83"/>
                </a:solidFill>
                <a:latin typeface="Arial"/>
                <a:ea typeface="Arial"/>
                <a:cs typeface="Arial"/>
              </a:defRPr>
            </a:defPPr>
          </a:lstStyle>
          <a:p xmlns:a="http://schemas.openxmlformats.org/drawingml/2006/main">
            <a:pPr algn="l">
              <a:defRPr sz="2100" b="1">
                <a:solidFill>
                  <a:srgbClr val="087F83"/>
                </a:solidFill>
                <a:latin typeface="Arial"/>
                <a:ea typeface="Arial"/>
                <a:cs typeface="Arial"/>
              </a:defRPr>
            </a:pPr>
            <a:r>
              <a:rPr sz="2100" b="1">
                <a:solidFill>
                  <a:srgbClr val="087F83"/>
                </a:solidFill>
                <a:latin typeface="Arial"/>
                <a:ea typeface="Arial"/>
                <a:cs typeface="Arial"/>
              </a:rPr>
              <a:t>Untrusted code session</a:t>
            </a:r>
          </a:p>
        </p:txBody>
      </p:sp>
      <p:sp>
        <p:nvSpPr>
          <p:cNvPr id="11" name="text-153">
            <a:extLst xmlns:a="http://schemas.openxmlformats.org/drawingml/2006/main">
              <a:ext uri="{FF2B5EF4-FFF2-40B4-BE49-F238E27FC236}">
                <a16:creationId xmlns:a16="http://schemas.microsoft.com/office/drawing/2014/main" id="{C3C1E6C1-BD59-4BA5-B742-F0C9D0FB9041}"/>
              </a:ext>
            </a:extLst>
          </p:cNvPr>
          <p:cNvSpPr>
            <a:spLocks xmlns:a="http://schemas.openxmlformats.org/drawingml/2006/main" noGrp="1"/>
          </p:cNvSpPr>
          <p:nvPr/>
        </p:nvSpPr>
        <p:spPr>
          <a:xfrm xmlns:a="http://schemas.openxmlformats.org/drawingml/2006/main">
            <a:off x="6457950" y="2428875"/>
            <a:ext cx="49530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17364A"/>
                </a:solidFill>
                <a:latin typeface="Arial"/>
                <a:ea typeface="Arial"/>
                <a:cs typeface="Arial"/>
              </a:defRPr>
            </a:defPPr>
          </a:lstStyle>
          <a:p xmlns:a="http://schemas.openxmlformats.org/drawingml/2006/main">
            <a:pPr algn="l">
              <a:defRPr sz="1725" b="0">
                <a:solidFill>
                  <a:srgbClr val="17364A"/>
                </a:solidFill>
                <a:latin typeface="Arial"/>
                <a:ea typeface="Arial"/>
                <a:cs typeface="Arial"/>
              </a:defRPr>
            </a:pPr>
            <a:r>
              <a:rPr sz="1725" b="0">
                <a:solidFill>
                  <a:srgbClr val="17364A"/>
                </a:solidFill>
                <a:latin typeface="Arial"/>
                <a:ea typeface="Arial"/>
                <a:cs typeface="Arial"/>
              </a:rPr>
              <a:t>AgentCore Code Interpreter VPC</a:t>
            </a:r>
          </a:p>
          <a:p xmlns:a="http://schemas.openxmlformats.org/drawingml/2006/main">
            <a:r>
              <a:t/>
            </a:r>
          </a:p>
          <a:p xmlns:a="http://schemas.openxmlformats.org/drawingml/2006/main">
            <a:pPr algn="l">
              <a:defRPr sz="1725" b="0">
                <a:solidFill>
                  <a:srgbClr val="17364A"/>
                </a:solidFill>
                <a:latin typeface="Arial"/>
                <a:ea typeface="Arial"/>
                <a:cs typeface="Arial"/>
              </a:defRPr>
            </a:pPr>
            <a:r>
              <a:rPr sz="1725" b="0">
                <a:solidFill>
                  <a:srgbClr val="17364A"/>
                </a:solidFill>
                <a:latin typeface="Arial"/>
                <a:ea typeface="Arial"/>
                <a:cs typeface="Arial"/>
              </a:rPr>
              <a:t>Subnet cô lập, DNS disabled</a:t>
            </a:r>
          </a:p>
          <a:p xmlns:a="http://schemas.openxmlformats.org/drawingml/2006/main">
            <a:r>
              <a:t/>
            </a:r>
          </a:p>
          <a:p xmlns:a="http://schemas.openxmlformats.org/drawingml/2006/main">
            <a:pPr algn="l">
              <a:defRPr sz="1725" b="0">
                <a:solidFill>
                  <a:srgbClr val="17364A"/>
                </a:solidFill>
                <a:latin typeface="Arial"/>
                <a:ea typeface="Arial"/>
                <a:cs typeface="Arial"/>
              </a:defRPr>
            </a:pPr>
            <a:r>
              <a:rPr sz="1725" b="0">
                <a:solidFill>
                  <a:srgbClr val="17364A"/>
                </a:solidFill>
                <a:latin typeface="Arial"/>
                <a:ea typeface="Arial"/>
                <a:cs typeface="Arial"/>
              </a:rPr>
              <a:t>Không OAuth token hoặc data role</a:t>
            </a:r>
          </a:p>
          <a:p xmlns:a="http://schemas.openxmlformats.org/drawingml/2006/main">
            <a:r>
              <a:t/>
            </a:r>
          </a:p>
          <a:p xmlns:a="http://schemas.openxmlformats.org/drawingml/2006/main">
            <a:pPr algn="l">
              <a:defRPr sz="1725" b="0">
                <a:solidFill>
                  <a:srgbClr val="17364A"/>
                </a:solidFill>
                <a:latin typeface="Arial"/>
                <a:ea typeface="Arial"/>
                <a:cs typeface="Arial"/>
              </a:defRPr>
            </a:pPr>
            <a:r>
              <a:rPr sz="1725" b="0">
                <a:solidFill>
                  <a:srgbClr val="17364A"/>
                </a:solidFill>
                <a:latin typeface="Arial"/>
                <a:ea typeface="Arial"/>
                <a:cs typeface="Arial"/>
              </a:rPr>
              <a:t>Deadline ≤ 600 giây, hủy sau job</a:t>
            </a:r>
          </a:p>
        </p:txBody>
      </p:sp>
      <p:sp>
        <p:nvSpPr>
          <p:cNvPr id="12" name="text-154">
            <a:extLst xmlns:a="http://schemas.openxmlformats.org/drawingml/2006/main">
              <a:ext uri="{FF2B5EF4-FFF2-40B4-BE49-F238E27FC236}">
                <a16:creationId xmlns:a16="http://schemas.microsoft.com/office/drawing/2014/main" id="{F75E7924-D63F-4D04-8626-2C6DE8581B92}"/>
              </a:ext>
            </a:extLst>
          </p:cNvPr>
          <p:cNvSpPr>
            <a:spLocks xmlns:a="http://schemas.openxmlformats.org/drawingml/2006/main" noGrp="1"/>
          </p:cNvSpPr>
          <p:nvPr/>
        </p:nvSpPr>
        <p:spPr>
          <a:xfrm xmlns:a="http://schemas.openxmlformats.org/drawingml/2006/main">
            <a:off x="533400" y="5381625"/>
            <a:ext cx="11125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7364A"/>
                </a:solidFill>
                <a:latin typeface="Arial"/>
                <a:ea typeface="Arial"/>
                <a:cs typeface="Arial"/>
              </a:defRPr>
            </a:defPPr>
          </a:lstStyle>
          <a:p xmlns:a="http://schemas.openxmlformats.org/drawingml/2006/main">
            <a:pPr algn="l">
              <a:defRPr sz="1875" b="1">
                <a:solidFill>
                  <a:srgbClr val="17364A"/>
                </a:solidFill>
                <a:latin typeface="Arial"/>
                <a:ea typeface="Arial"/>
                <a:cs typeface="Arial"/>
              </a:defRPr>
            </a:pPr>
            <a:r>
              <a:rPr sz="1875" b="1">
                <a:solidFill>
                  <a:srgbClr val="17364A"/>
                </a:solidFill>
                <a:latin typeface="Arial"/>
                <a:ea typeface="Arial"/>
                <a:cs typeface="Arial"/>
              </a:rPr>
              <a:t>Controller trao file qua tool API sau kiểm tra owner</a:t>
            </a:r>
          </a:p>
        </p:txBody>
      </p:sp>
      <p:sp>
        <p:nvSpPr>
          <p:cNvPr id="13" name="text-155">
            <a:extLst xmlns:a="http://schemas.openxmlformats.org/drawingml/2006/main">
              <a:ext uri="{FF2B5EF4-FFF2-40B4-BE49-F238E27FC236}">
                <a16:creationId xmlns:a16="http://schemas.microsoft.com/office/drawing/2014/main" id="{CDA1CFA7-AB9E-4E73-AD60-696E5C71FB4E}"/>
              </a:ext>
            </a:extLst>
          </p:cNvPr>
          <p:cNvSpPr>
            <a:spLocks xmlns:a="http://schemas.openxmlformats.org/drawingml/2006/main" noGrp="1"/>
          </p:cNvSpPr>
          <p:nvPr/>
        </p:nvSpPr>
        <p:spPr>
          <a:xfrm xmlns:a="http://schemas.openxmlformats.org/drawingml/2006/main">
            <a:off x="533400" y="5876925"/>
            <a:ext cx="11125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A76014"/>
                </a:solidFill>
                <a:latin typeface="Arial"/>
                <a:ea typeface="Arial"/>
                <a:cs typeface="Arial"/>
              </a:defRPr>
            </a:defPPr>
          </a:lstStyle>
          <a:p xmlns:a="http://schemas.openxmlformats.org/drawingml/2006/main">
            <a:pPr algn="l">
              <a:defRPr sz="1500" b="0">
                <a:solidFill>
                  <a:srgbClr val="A76014"/>
                </a:solidFill>
                <a:latin typeface="Arial"/>
                <a:ea typeface="Arial"/>
                <a:cs typeface="Arial"/>
              </a:defRPr>
            </a:pPr>
            <a:r>
              <a:rPr sz="1500" b="0">
                <a:solidFill>
                  <a:srgbClr val="A76014"/>
                </a:solidFill>
                <a:latin typeface="Arial"/>
                <a:ea typeface="Arial"/>
                <a:cs typeface="Arial"/>
              </a:rPr>
              <a:t>Chế độ SANDBOX vẫn có thể truy cập S3. Thiết kế chọn VPC và phải test cả DNS/IPv6/HTTP.</a:t>
            </a:r>
          </a:p>
        </p:txBody>
      </p:sp>
    </p:spTree>
    <p:extLst>
      <p:ext uri="{BB962C8B-B14F-4D97-AF65-F5344CB8AC3E}">
        <p14:creationId xmlns:p14="http://schemas.microsoft.com/office/powerpoint/2010/main" val="133512118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shape-156">
            <a:extLst xmlns:a="http://schemas.openxmlformats.org/drawingml/2006/main">
              <a:ext uri="{FF2B5EF4-FFF2-40B4-BE49-F238E27FC236}">
                <a16:creationId xmlns:a16="http://schemas.microsoft.com/office/drawing/2014/main" id="{B8708EDD-CE77-4DEC-AF2C-60B1B813AA00}"/>
              </a:ext>
            </a:extLst>
          </p:cNvPr>
          <p:cNvSpPr>
            <a:spLocks xmlns:a="http://schemas.openxmlformats.org/drawingml/2006/main" noGrp="1"/>
          </p:cNvSpPr>
          <p:nvPr/>
        </p:nvSpPr>
        <p:spPr>
          <a:xfrm xmlns:a="http://schemas.openxmlformats.org/drawingml/2006/main">
            <a:off x="533400" y="428625"/>
            <a:ext cx="419100" cy="47625"/>
          </a:xfrm>
          <a:prstGeom xmlns:a="http://schemas.openxmlformats.org/drawingml/2006/main" prst="rect">
            <a:avLst/>
          </a:prstGeom>
          <a:solidFill xmlns:a="http://schemas.openxmlformats.org/drawingml/2006/main">
            <a:srgbClr val="087F83"/>
          </a:solidFill>
          <a:ln xmlns:a="http://schemas.openxmlformats.org/drawingml/2006/main" w="0">
            <a:noFill/>
            <a:prstDash val="solid"/>
          </a:ln>
        </p:spPr>
      </p:sp>
      <p:sp>
        <p:nvSpPr>
          <p:cNvPr id="2" name="text-157">
            <a:extLst xmlns:a="http://schemas.openxmlformats.org/drawingml/2006/main">
              <a:ext uri="{FF2B5EF4-FFF2-40B4-BE49-F238E27FC236}">
                <a16:creationId xmlns:a16="http://schemas.microsoft.com/office/drawing/2014/main" id="{7E28FEB2-FB81-451C-A4B3-DED65A747825}"/>
              </a:ext>
            </a:extLst>
          </p:cNvPr>
          <p:cNvSpPr>
            <a:spLocks xmlns:a="http://schemas.openxmlformats.org/drawingml/2006/main" noGrp="1"/>
          </p:cNvSpPr>
          <p:nvPr/>
        </p:nvSpPr>
        <p:spPr>
          <a:xfrm xmlns:a="http://schemas.openxmlformats.org/drawingml/2006/main">
            <a:off x="533400" y="657225"/>
            <a:ext cx="111252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7364A"/>
                </a:solidFill>
                <a:latin typeface="Arial"/>
                <a:ea typeface="Arial"/>
                <a:cs typeface="Arial"/>
              </a:defRPr>
            </a:defPPr>
          </a:lstStyle>
          <a:p xmlns:a="http://schemas.openxmlformats.org/drawingml/2006/main">
            <a:pPr algn="l">
              <a:defRPr sz="2700" b="1">
                <a:solidFill>
                  <a:srgbClr val="17364A"/>
                </a:solidFill>
                <a:latin typeface="Arial"/>
                <a:ea typeface="Arial"/>
                <a:cs typeface="Arial"/>
              </a:defRPr>
            </a:pPr>
            <a:r>
              <a:rPr sz="2700" b="1">
                <a:solidFill>
                  <a:srgbClr val="17364A"/>
                </a:solidFill>
                <a:latin typeface="Arial"/>
                <a:ea typeface="Arial"/>
                <a:cs typeface="Arial"/>
              </a:rPr>
              <a:t>Governance chặn dữ liệu và hành động vượt quyền</a:t>
            </a:r>
          </a:p>
        </p:txBody>
      </p:sp>
      <p:sp>
        <p:nvSpPr>
          <p:cNvPr id="3" name="shape-158">
            <a:extLst xmlns:a="http://schemas.openxmlformats.org/drawingml/2006/main">
              <a:ext uri="{FF2B5EF4-FFF2-40B4-BE49-F238E27FC236}">
                <a16:creationId xmlns:a16="http://schemas.microsoft.com/office/drawing/2014/main" id="{BCDE8DD2-909C-4B64-BFED-01312C84897E}"/>
              </a:ext>
            </a:extLst>
          </p:cNvPr>
          <p:cNvSpPr>
            <a:spLocks xmlns:a="http://schemas.openxmlformats.org/drawingml/2006/main" noGrp="1"/>
          </p:cNvSpPr>
          <p:nvPr/>
        </p:nvSpPr>
        <p:spPr>
          <a:xfrm xmlns:a="http://schemas.openxmlformats.org/drawingml/2006/main">
            <a:off x="533400" y="6381750"/>
            <a:ext cx="11125200" cy="9525"/>
          </a:xfrm>
          <a:prstGeom xmlns:a="http://schemas.openxmlformats.org/drawingml/2006/main" prst="rect">
            <a:avLst/>
          </a:prstGeom>
          <a:solidFill xmlns:a="http://schemas.openxmlformats.org/drawingml/2006/main">
            <a:srgbClr val="D1DEE5"/>
          </a:solidFill>
          <a:ln xmlns:a="http://schemas.openxmlformats.org/drawingml/2006/main" w="0">
            <a:noFill/>
            <a:prstDash val="solid"/>
          </a:ln>
        </p:spPr>
      </p:sp>
      <p:sp>
        <p:nvSpPr>
          <p:cNvPr id="4" name="text-159">
            <a:extLst xmlns:a="http://schemas.openxmlformats.org/drawingml/2006/main">
              <a:ext uri="{FF2B5EF4-FFF2-40B4-BE49-F238E27FC236}">
                <a16:creationId xmlns:a16="http://schemas.microsoft.com/office/drawing/2014/main" id="{3F80DA62-FDEC-4E37-BB7D-C260EAA1717D}"/>
              </a:ext>
            </a:extLst>
          </p:cNvPr>
          <p:cNvSpPr>
            <a:spLocks xmlns:a="http://schemas.openxmlformats.org/drawingml/2006/main" noGrp="1"/>
          </p:cNvSpPr>
          <p:nvPr/>
        </p:nvSpPr>
        <p:spPr>
          <a:xfrm xmlns:a="http://schemas.openxmlformats.org/drawingml/2006/main">
            <a:off x="533400" y="651510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87080"/>
                </a:solidFill>
                <a:latin typeface="Arial"/>
                <a:ea typeface="Arial"/>
                <a:cs typeface="Arial"/>
              </a:defRPr>
            </a:defPPr>
          </a:lstStyle>
          <a:p xmlns:a="http://schemas.openxmlformats.org/drawingml/2006/main">
            <a:pPr algn="l">
              <a:defRPr sz="975" b="0">
                <a:solidFill>
                  <a:srgbClr val="587080"/>
                </a:solidFill>
                <a:latin typeface="Arial"/>
                <a:ea typeface="Arial"/>
                <a:cs typeface="Arial"/>
              </a:defRPr>
            </a:pPr>
            <a:r>
              <a:rPr sz="975" b="0">
                <a:solidFill>
                  <a:srgbClr val="587080"/>
                </a:solidFill>
                <a:latin typeface="Arial"/>
                <a:ea typeface="Arial"/>
                <a:cs typeface="Arial"/>
              </a:rPr>
              <a:t>G03  /  Eviaura</a:t>
            </a:r>
          </a:p>
        </p:txBody>
      </p:sp>
      <p:sp>
        <p:nvSpPr>
          <p:cNvPr id="5" name="text-160">
            <a:extLst xmlns:a="http://schemas.openxmlformats.org/drawingml/2006/main">
              <a:ext uri="{FF2B5EF4-FFF2-40B4-BE49-F238E27FC236}">
                <a16:creationId xmlns:a16="http://schemas.microsoft.com/office/drawing/2014/main" id="{A6E867D9-B6D0-4B4F-ABCB-B498AD72A4F3}"/>
              </a:ext>
            </a:extLst>
          </p:cNvPr>
          <p:cNvSpPr>
            <a:spLocks xmlns:a="http://schemas.openxmlformats.org/drawingml/2006/main" noGrp="1"/>
          </p:cNvSpPr>
          <p:nvPr/>
        </p:nvSpPr>
        <p:spPr>
          <a:xfrm xmlns:a="http://schemas.openxmlformats.org/drawingml/2006/main">
            <a:off x="11049000" y="6496050"/>
            <a:ext cx="609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050" b="0">
                <a:solidFill>
                  <a:srgbClr val="587080"/>
                </a:solidFill>
                <a:latin typeface="Arial"/>
                <a:ea typeface="Arial"/>
                <a:cs typeface="Arial"/>
              </a:defRPr>
            </a:defPPr>
          </a:lstStyle>
          <a:p xmlns:a="http://schemas.openxmlformats.org/drawingml/2006/main">
            <a:pPr algn="r">
              <a:defRPr sz="1050" b="0">
                <a:solidFill>
                  <a:srgbClr val="587080"/>
                </a:solidFill>
                <a:latin typeface="Arial"/>
                <a:ea typeface="Arial"/>
                <a:cs typeface="Arial"/>
              </a:defRPr>
            </a:pPr>
            <a:r>
              <a:rPr sz="1050" b="0">
                <a:solidFill>
                  <a:srgbClr val="587080"/>
                </a:solidFill>
                <a:latin typeface="Arial"/>
                <a:ea typeface="Arial"/>
                <a:cs typeface="Arial"/>
              </a:rPr>
              <a:t>09</a:t>
            </a:r>
          </a:p>
        </p:txBody>
      </p:sp>
      <p:sp>
        <p:nvSpPr>
          <p:cNvPr id="6" name="shape-161">
            <a:extLst xmlns:a="http://schemas.openxmlformats.org/drawingml/2006/main">
              <a:ext uri="{FF2B5EF4-FFF2-40B4-BE49-F238E27FC236}">
                <a16:creationId xmlns:a16="http://schemas.microsoft.com/office/drawing/2014/main" id="{DA8A4B3D-56B4-4569-97BA-9418567E5C2A}"/>
              </a:ext>
            </a:extLst>
          </p:cNvPr>
          <p:cNvSpPr>
            <a:spLocks xmlns:a="http://schemas.openxmlformats.org/drawingml/2006/main" noGrp="1"/>
          </p:cNvSpPr>
          <p:nvPr/>
        </p:nvSpPr>
        <p:spPr>
          <a:xfrm xmlns:a="http://schemas.openxmlformats.org/drawingml/2006/main">
            <a:off x="533400" y="1685925"/>
            <a:ext cx="38100" cy="1504950"/>
          </a:xfrm>
          <a:prstGeom xmlns:a="http://schemas.openxmlformats.org/drawingml/2006/main" prst="rect">
            <a:avLst/>
          </a:prstGeom>
          <a:solidFill xmlns:a="http://schemas.openxmlformats.org/drawingml/2006/main">
            <a:srgbClr val="087F83"/>
          </a:solidFill>
          <a:ln xmlns:a="http://schemas.openxmlformats.org/drawingml/2006/main" w="0">
            <a:noFill/>
            <a:prstDash val="solid"/>
          </a:ln>
        </p:spPr>
      </p:sp>
      <p:sp>
        <p:nvSpPr>
          <p:cNvPr id="7" name="text-162">
            <a:extLst xmlns:a="http://schemas.openxmlformats.org/drawingml/2006/main">
              <a:ext uri="{FF2B5EF4-FFF2-40B4-BE49-F238E27FC236}">
                <a16:creationId xmlns:a16="http://schemas.microsoft.com/office/drawing/2014/main" id="{E138B6BF-74CD-4CA7-B099-90CA54555B6F}"/>
              </a:ext>
            </a:extLst>
          </p:cNvPr>
          <p:cNvSpPr>
            <a:spLocks xmlns:a="http://schemas.openxmlformats.org/drawingml/2006/main" noGrp="1"/>
          </p:cNvSpPr>
          <p:nvPr/>
        </p:nvSpPr>
        <p:spPr>
          <a:xfrm xmlns:a="http://schemas.openxmlformats.org/drawingml/2006/main">
            <a:off x="723900" y="1685925"/>
            <a:ext cx="5086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7364A"/>
                </a:solidFill>
                <a:latin typeface="Arial"/>
                <a:ea typeface="Arial"/>
                <a:cs typeface="Arial"/>
              </a:defRPr>
            </a:defPPr>
          </a:lstStyle>
          <a:p xmlns:a="http://schemas.openxmlformats.org/drawingml/2006/main">
            <a:pPr algn="l">
              <a:defRPr sz="1800" b="1">
                <a:solidFill>
                  <a:srgbClr val="17364A"/>
                </a:solidFill>
                <a:latin typeface="Arial"/>
                <a:ea typeface="Arial"/>
                <a:cs typeface="Arial"/>
              </a:defRPr>
            </a:pPr>
            <a:r>
              <a:rPr sz="1800" b="1">
                <a:solidFill>
                  <a:srgbClr val="17364A"/>
                </a:solidFill>
                <a:latin typeface="Arial"/>
                <a:ea typeface="Arial"/>
                <a:cs typeface="Arial"/>
              </a:rPr>
              <a:t>Input và retrieval</a:t>
            </a:r>
          </a:p>
        </p:txBody>
      </p:sp>
      <p:sp>
        <p:nvSpPr>
          <p:cNvPr id="8" name="text-163">
            <a:extLst xmlns:a="http://schemas.openxmlformats.org/drawingml/2006/main">
              <a:ext uri="{FF2B5EF4-FFF2-40B4-BE49-F238E27FC236}">
                <a16:creationId xmlns:a16="http://schemas.microsoft.com/office/drawing/2014/main" id="{D110FE4D-F600-45F8-9C5C-FAF962466E3A}"/>
              </a:ext>
            </a:extLst>
          </p:cNvPr>
          <p:cNvSpPr>
            <a:spLocks xmlns:a="http://schemas.openxmlformats.org/drawingml/2006/main" noGrp="1"/>
          </p:cNvSpPr>
          <p:nvPr/>
        </p:nvSpPr>
        <p:spPr>
          <a:xfrm xmlns:a="http://schemas.openxmlformats.org/drawingml/2006/main">
            <a:off x="723900" y="2114550"/>
            <a:ext cx="50482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87080"/>
                </a:solidFill>
                <a:latin typeface="Arial"/>
                <a:ea typeface="Arial"/>
                <a:cs typeface="Arial"/>
              </a:defRPr>
            </a:defPPr>
          </a:lstStyle>
          <a:p xmlns:a="http://schemas.openxmlformats.org/drawingml/2006/main">
            <a:pPr algn="l">
              <a:defRPr sz="1650" b="0">
                <a:solidFill>
                  <a:srgbClr val="587080"/>
                </a:solidFill>
                <a:latin typeface="Arial"/>
                <a:ea typeface="Arial"/>
                <a:cs typeface="Arial"/>
              </a:defRPr>
            </a:pPr>
            <a:r>
              <a:rPr sz="1650" b="0">
                <a:solidFill>
                  <a:srgbClr val="587080"/>
                </a:solidFill>
                <a:latin typeface="Arial"/>
                <a:ea typeface="Arial"/>
                <a:cs typeface="Arial"/>
              </a:rPr>
              <a:t>Phân loại dữ liệu, che PII/secrets.</a:t>
            </a:r>
          </a:p>
          <a:p xmlns:a="http://schemas.openxmlformats.org/drawingml/2006/main">
            <a:pPr algn="l">
              <a:defRPr sz="1650" b="0">
                <a:solidFill>
                  <a:srgbClr val="587080"/>
                </a:solidFill>
                <a:latin typeface="Arial"/>
                <a:ea typeface="Arial"/>
                <a:cs typeface="Arial"/>
              </a:defRPr>
            </a:pPr>
            <a:r>
              <a:rPr sz="1650" b="0">
                <a:solidFill>
                  <a:srgbClr val="587080"/>
                </a:solidFill>
                <a:latin typeface="Arial"/>
                <a:ea typeface="Arial"/>
                <a:cs typeface="Arial"/>
              </a:rPr>
              <a:t>Email và tài liệu không trở thành chỉ thị hệ thống.</a:t>
            </a:r>
          </a:p>
        </p:txBody>
      </p:sp>
      <p:sp>
        <p:nvSpPr>
          <p:cNvPr id="9" name="shape-164">
            <a:extLst xmlns:a="http://schemas.openxmlformats.org/drawingml/2006/main">
              <a:ext uri="{FF2B5EF4-FFF2-40B4-BE49-F238E27FC236}">
                <a16:creationId xmlns:a16="http://schemas.microsoft.com/office/drawing/2014/main" id="{732F62A0-97A2-48F6-B605-43C6853A84C1}"/>
              </a:ext>
            </a:extLst>
          </p:cNvPr>
          <p:cNvSpPr>
            <a:spLocks xmlns:a="http://schemas.openxmlformats.org/drawingml/2006/main" noGrp="1"/>
          </p:cNvSpPr>
          <p:nvPr/>
        </p:nvSpPr>
        <p:spPr>
          <a:xfrm xmlns:a="http://schemas.openxmlformats.org/drawingml/2006/main">
            <a:off x="6381750" y="1685925"/>
            <a:ext cx="38100" cy="1504950"/>
          </a:xfrm>
          <a:prstGeom xmlns:a="http://schemas.openxmlformats.org/drawingml/2006/main" prst="rect">
            <a:avLst/>
          </a:prstGeom>
          <a:solidFill xmlns:a="http://schemas.openxmlformats.org/drawingml/2006/main">
            <a:srgbClr val="087F83"/>
          </a:solidFill>
          <a:ln xmlns:a="http://schemas.openxmlformats.org/drawingml/2006/main" w="0">
            <a:noFill/>
            <a:prstDash val="solid"/>
          </a:ln>
        </p:spPr>
      </p:sp>
      <p:sp>
        <p:nvSpPr>
          <p:cNvPr id="10" name="text-165">
            <a:extLst xmlns:a="http://schemas.openxmlformats.org/drawingml/2006/main">
              <a:ext uri="{FF2B5EF4-FFF2-40B4-BE49-F238E27FC236}">
                <a16:creationId xmlns:a16="http://schemas.microsoft.com/office/drawing/2014/main" id="{218DACC8-36CF-484F-891D-E08065F249C9}"/>
              </a:ext>
            </a:extLst>
          </p:cNvPr>
          <p:cNvSpPr>
            <a:spLocks xmlns:a="http://schemas.openxmlformats.org/drawingml/2006/main" noGrp="1"/>
          </p:cNvSpPr>
          <p:nvPr/>
        </p:nvSpPr>
        <p:spPr>
          <a:xfrm xmlns:a="http://schemas.openxmlformats.org/drawingml/2006/main">
            <a:off x="6572250" y="1685925"/>
            <a:ext cx="5086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7364A"/>
                </a:solidFill>
                <a:latin typeface="Arial"/>
                <a:ea typeface="Arial"/>
                <a:cs typeface="Arial"/>
              </a:defRPr>
            </a:defPPr>
          </a:lstStyle>
          <a:p xmlns:a="http://schemas.openxmlformats.org/drawingml/2006/main">
            <a:pPr algn="l">
              <a:defRPr sz="1800" b="1">
                <a:solidFill>
                  <a:srgbClr val="17364A"/>
                </a:solidFill>
                <a:latin typeface="Arial"/>
                <a:ea typeface="Arial"/>
                <a:cs typeface="Arial"/>
              </a:defRPr>
            </a:pPr>
            <a:r>
              <a:rPr sz="1800" b="1">
                <a:solidFill>
                  <a:srgbClr val="17364A"/>
                </a:solidFill>
                <a:latin typeface="Arial"/>
                <a:ea typeface="Arial"/>
                <a:cs typeface="Arial"/>
              </a:rPr>
              <a:t>Output và tool calls</a:t>
            </a:r>
          </a:p>
        </p:txBody>
      </p:sp>
      <p:sp>
        <p:nvSpPr>
          <p:cNvPr id="11" name="text-166">
            <a:extLst xmlns:a="http://schemas.openxmlformats.org/drawingml/2006/main">
              <a:ext uri="{FF2B5EF4-FFF2-40B4-BE49-F238E27FC236}">
                <a16:creationId xmlns:a16="http://schemas.microsoft.com/office/drawing/2014/main" id="{FF0AE51B-4A1D-4C04-B63E-4AAF3209E2D7}"/>
              </a:ext>
            </a:extLst>
          </p:cNvPr>
          <p:cNvSpPr>
            <a:spLocks xmlns:a="http://schemas.openxmlformats.org/drawingml/2006/main" noGrp="1"/>
          </p:cNvSpPr>
          <p:nvPr/>
        </p:nvSpPr>
        <p:spPr>
          <a:xfrm xmlns:a="http://schemas.openxmlformats.org/drawingml/2006/main">
            <a:off x="6572250" y="2114550"/>
            <a:ext cx="50482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87080"/>
                </a:solidFill>
                <a:latin typeface="Arial"/>
                <a:ea typeface="Arial"/>
                <a:cs typeface="Arial"/>
              </a:defRPr>
            </a:defPPr>
          </a:lstStyle>
          <a:p xmlns:a="http://schemas.openxmlformats.org/drawingml/2006/main">
            <a:pPr algn="l">
              <a:defRPr sz="1650" b="0">
                <a:solidFill>
                  <a:srgbClr val="587080"/>
                </a:solidFill>
                <a:latin typeface="Arial"/>
                <a:ea typeface="Arial"/>
                <a:cs typeface="Arial"/>
              </a:defRPr>
            </a:pPr>
            <a:r>
              <a:rPr sz="1650" b="0">
                <a:solidFill>
                  <a:srgbClr val="587080"/>
                </a:solidFill>
                <a:latin typeface="Arial"/>
                <a:ea typeface="Arial"/>
                <a:cs typeface="Arial"/>
              </a:rPr>
              <a:t>Kiểm tra chunk trước stream.</a:t>
            </a:r>
          </a:p>
          <a:p xmlns:a="http://schemas.openxmlformats.org/drawingml/2006/main">
            <a:pPr algn="l">
              <a:defRPr sz="1650" b="0">
                <a:solidFill>
                  <a:srgbClr val="587080"/>
                </a:solidFill>
                <a:latin typeface="Arial"/>
                <a:ea typeface="Arial"/>
                <a:cs typeface="Arial"/>
              </a:defRPr>
            </a:pPr>
            <a:r>
              <a:rPr sz="1650" b="0">
                <a:solidFill>
                  <a:srgbClr val="587080"/>
                </a:solidFill>
                <a:latin typeface="Arial"/>
                <a:ea typeface="Arial"/>
                <a:cs typeface="Arial"/>
              </a:rPr>
              <a:t>Approval ràng buộc target, payload digest và expiry.</a:t>
            </a:r>
          </a:p>
        </p:txBody>
      </p:sp>
      <p:sp>
        <p:nvSpPr>
          <p:cNvPr id="12" name="shape-167">
            <a:extLst xmlns:a="http://schemas.openxmlformats.org/drawingml/2006/main">
              <a:ext uri="{FF2B5EF4-FFF2-40B4-BE49-F238E27FC236}">
                <a16:creationId xmlns:a16="http://schemas.microsoft.com/office/drawing/2014/main" id="{2ECE648C-EB01-4F7C-B4AA-447600D0844B}"/>
              </a:ext>
            </a:extLst>
          </p:cNvPr>
          <p:cNvSpPr>
            <a:spLocks xmlns:a="http://schemas.openxmlformats.org/drawingml/2006/main" noGrp="1"/>
          </p:cNvSpPr>
          <p:nvPr/>
        </p:nvSpPr>
        <p:spPr>
          <a:xfrm xmlns:a="http://schemas.openxmlformats.org/drawingml/2006/main">
            <a:off x="533400" y="3743325"/>
            <a:ext cx="38100" cy="1504950"/>
          </a:xfrm>
          <a:prstGeom xmlns:a="http://schemas.openxmlformats.org/drawingml/2006/main" prst="rect">
            <a:avLst/>
          </a:prstGeom>
          <a:solidFill xmlns:a="http://schemas.openxmlformats.org/drawingml/2006/main">
            <a:srgbClr val="087F83"/>
          </a:solidFill>
          <a:ln xmlns:a="http://schemas.openxmlformats.org/drawingml/2006/main" w="0">
            <a:noFill/>
            <a:prstDash val="solid"/>
          </a:ln>
        </p:spPr>
      </p:sp>
      <p:sp>
        <p:nvSpPr>
          <p:cNvPr id="13" name="text-168">
            <a:extLst xmlns:a="http://schemas.openxmlformats.org/drawingml/2006/main">
              <a:ext uri="{FF2B5EF4-FFF2-40B4-BE49-F238E27FC236}">
                <a16:creationId xmlns:a16="http://schemas.microsoft.com/office/drawing/2014/main" id="{7E7FAB49-2BCB-4E83-8A82-C085BA67B73F}"/>
              </a:ext>
            </a:extLst>
          </p:cNvPr>
          <p:cNvSpPr>
            <a:spLocks xmlns:a="http://schemas.openxmlformats.org/drawingml/2006/main" noGrp="1"/>
          </p:cNvSpPr>
          <p:nvPr/>
        </p:nvSpPr>
        <p:spPr>
          <a:xfrm xmlns:a="http://schemas.openxmlformats.org/drawingml/2006/main">
            <a:off x="723900" y="3743325"/>
            <a:ext cx="5086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7364A"/>
                </a:solidFill>
                <a:latin typeface="Arial"/>
                <a:ea typeface="Arial"/>
                <a:cs typeface="Arial"/>
              </a:defRPr>
            </a:defPPr>
          </a:lstStyle>
          <a:p xmlns:a="http://schemas.openxmlformats.org/drawingml/2006/main">
            <a:pPr algn="l">
              <a:defRPr sz="1800" b="1">
                <a:solidFill>
                  <a:srgbClr val="17364A"/>
                </a:solidFill>
                <a:latin typeface="Arial"/>
                <a:ea typeface="Arial"/>
                <a:cs typeface="Arial"/>
              </a:defRPr>
            </a:pPr>
            <a:r>
              <a:rPr sz="1800" b="1">
                <a:solidFill>
                  <a:srgbClr val="17364A"/>
                </a:solidFill>
                <a:latin typeface="Arial"/>
                <a:ea typeface="Arial"/>
                <a:cs typeface="Arial"/>
              </a:rPr>
              <a:t>Data retention</a:t>
            </a:r>
          </a:p>
        </p:txBody>
      </p:sp>
      <p:sp>
        <p:nvSpPr>
          <p:cNvPr id="14" name="text-169">
            <a:extLst xmlns:a="http://schemas.openxmlformats.org/drawingml/2006/main">
              <a:ext uri="{FF2B5EF4-FFF2-40B4-BE49-F238E27FC236}">
                <a16:creationId xmlns:a16="http://schemas.microsoft.com/office/drawing/2014/main" id="{1521877C-392E-465E-BAE1-697D1A4A2618}"/>
              </a:ext>
            </a:extLst>
          </p:cNvPr>
          <p:cNvSpPr>
            <a:spLocks xmlns:a="http://schemas.openxmlformats.org/drawingml/2006/main" noGrp="1"/>
          </p:cNvSpPr>
          <p:nvPr/>
        </p:nvSpPr>
        <p:spPr>
          <a:xfrm xmlns:a="http://schemas.openxmlformats.org/drawingml/2006/main">
            <a:off x="723900" y="4171950"/>
            <a:ext cx="50482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87080"/>
                </a:solidFill>
                <a:latin typeface="Arial"/>
                <a:ea typeface="Arial"/>
                <a:cs typeface="Arial"/>
              </a:defRPr>
            </a:defPPr>
          </a:lstStyle>
          <a:p xmlns:a="http://schemas.openxmlformats.org/drawingml/2006/main">
            <a:pPr algn="l">
              <a:defRPr sz="1650" b="0">
                <a:solidFill>
                  <a:srgbClr val="587080"/>
                </a:solidFill>
                <a:latin typeface="Arial"/>
                <a:ea typeface="Arial"/>
                <a:cs typeface="Arial"/>
              </a:defRPr>
            </a:pPr>
            <a:r>
              <a:rPr sz="1650" b="0">
                <a:solidFill>
                  <a:srgbClr val="587080"/>
                </a:solidFill>
                <a:latin typeface="Arial"/>
                <a:ea typeface="Arial"/>
                <a:cs typeface="Arial"/>
              </a:rPr>
              <a:t>TLS/SSE, vault dùng KMS.</a:t>
            </a:r>
          </a:p>
          <a:p xmlns:a="http://schemas.openxmlformats.org/drawingml/2006/main">
            <a:pPr algn="l">
              <a:defRPr sz="1650" b="0">
                <a:solidFill>
                  <a:srgbClr val="587080"/>
                </a:solidFill>
                <a:latin typeface="Arial"/>
                <a:ea typeface="Arial"/>
                <a:cs typeface="Arial"/>
              </a:defRPr>
            </a:pPr>
            <a:r>
              <a:rPr sz="1650" b="0">
                <a:solidFill>
                  <a:srgbClr val="587080"/>
                </a:solidFill>
                <a:latin typeface="Arial"/>
                <a:ea typeface="Arial"/>
                <a:cs typeface="Arial"/>
              </a:rPr>
              <a:t>Hot logs 30 ngày, audit immutable ≥ 12 tháng.</a:t>
            </a:r>
          </a:p>
        </p:txBody>
      </p:sp>
      <p:sp>
        <p:nvSpPr>
          <p:cNvPr id="15" name="shape-170">
            <a:extLst xmlns:a="http://schemas.openxmlformats.org/drawingml/2006/main">
              <a:ext uri="{FF2B5EF4-FFF2-40B4-BE49-F238E27FC236}">
                <a16:creationId xmlns:a16="http://schemas.microsoft.com/office/drawing/2014/main" id="{6BE1BB55-23B7-4BCE-ACF3-A9E2F7831AAB}"/>
              </a:ext>
            </a:extLst>
          </p:cNvPr>
          <p:cNvSpPr>
            <a:spLocks xmlns:a="http://schemas.openxmlformats.org/drawingml/2006/main" noGrp="1"/>
          </p:cNvSpPr>
          <p:nvPr/>
        </p:nvSpPr>
        <p:spPr>
          <a:xfrm xmlns:a="http://schemas.openxmlformats.org/drawingml/2006/main">
            <a:off x="6381750" y="3743325"/>
            <a:ext cx="38100" cy="1504950"/>
          </a:xfrm>
          <a:prstGeom xmlns:a="http://schemas.openxmlformats.org/drawingml/2006/main" prst="rect">
            <a:avLst/>
          </a:prstGeom>
          <a:solidFill xmlns:a="http://schemas.openxmlformats.org/drawingml/2006/main">
            <a:srgbClr val="087F83"/>
          </a:solidFill>
          <a:ln xmlns:a="http://schemas.openxmlformats.org/drawingml/2006/main" w="0">
            <a:noFill/>
            <a:prstDash val="solid"/>
          </a:ln>
        </p:spPr>
      </p:sp>
      <p:sp>
        <p:nvSpPr>
          <p:cNvPr id="16" name="text-171">
            <a:extLst xmlns:a="http://schemas.openxmlformats.org/drawingml/2006/main">
              <a:ext uri="{FF2B5EF4-FFF2-40B4-BE49-F238E27FC236}">
                <a16:creationId xmlns:a16="http://schemas.microsoft.com/office/drawing/2014/main" id="{55FCCD80-D62E-4343-8293-63B368D10210}"/>
              </a:ext>
            </a:extLst>
          </p:cNvPr>
          <p:cNvSpPr>
            <a:spLocks xmlns:a="http://schemas.openxmlformats.org/drawingml/2006/main" noGrp="1"/>
          </p:cNvSpPr>
          <p:nvPr/>
        </p:nvSpPr>
        <p:spPr>
          <a:xfrm xmlns:a="http://schemas.openxmlformats.org/drawingml/2006/main">
            <a:off x="6572250" y="3743325"/>
            <a:ext cx="5086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7364A"/>
                </a:solidFill>
                <a:latin typeface="Arial"/>
                <a:ea typeface="Arial"/>
                <a:cs typeface="Arial"/>
              </a:defRPr>
            </a:defPPr>
          </a:lstStyle>
          <a:p xmlns:a="http://schemas.openxmlformats.org/drawingml/2006/main">
            <a:pPr algn="l">
              <a:defRPr sz="1800" b="1">
                <a:solidFill>
                  <a:srgbClr val="17364A"/>
                </a:solidFill>
                <a:latin typeface="Arial"/>
                <a:ea typeface="Arial"/>
                <a:cs typeface="Arial"/>
              </a:defRPr>
            </a:pPr>
            <a:r>
              <a:rPr sz="1800" b="1">
                <a:solidFill>
                  <a:srgbClr val="17364A"/>
                </a:solidFill>
                <a:latin typeface="Arial"/>
                <a:ea typeface="Arial"/>
                <a:cs typeface="Arial"/>
              </a:rPr>
              <a:t>Model và prompt change</a:t>
            </a:r>
          </a:p>
        </p:txBody>
      </p:sp>
      <p:sp>
        <p:nvSpPr>
          <p:cNvPr id="17" name="text-172">
            <a:extLst xmlns:a="http://schemas.openxmlformats.org/drawingml/2006/main">
              <a:ext uri="{FF2B5EF4-FFF2-40B4-BE49-F238E27FC236}">
                <a16:creationId xmlns:a16="http://schemas.microsoft.com/office/drawing/2014/main" id="{98C20C9F-CE14-4EAA-9FE7-355114A3DBE9}"/>
              </a:ext>
            </a:extLst>
          </p:cNvPr>
          <p:cNvSpPr>
            <a:spLocks xmlns:a="http://schemas.openxmlformats.org/drawingml/2006/main" noGrp="1"/>
          </p:cNvSpPr>
          <p:nvPr/>
        </p:nvSpPr>
        <p:spPr>
          <a:xfrm xmlns:a="http://schemas.openxmlformats.org/drawingml/2006/main">
            <a:off x="6572250" y="4171950"/>
            <a:ext cx="50482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87080"/>
                </a:solidFill>
                <a:latin typeface="Arial"/>
                <a:ea typeface="Arial"/>
                <a:cs typeface="Arial"/>
              </a:defRPr>
            </a:defPPr>
          </a:lstStyle>
          <a:p xmlns:a="http://schemas.openxmlformats.org/drawingml/2006/main">
            <a:pPr algn="l">
              <a:defRPr sz="1650" b="0">
                <a:solidFill>
                  <a:srgbClr val="587080"/>
                </a:solidFill>
                <a:latin typeface="Arial"/>
                <a:ea typeface="Arial"/>
                <a:cs typeface="Arial"/>
              </a:defRPr>
            </a:pPr>
            <a:r>
              <a:rPr sz="1650" b="0">
                <a:solidFill>
                  <a:srgbClr val="587080"/>
                </a:solidFill>
                <a:latin typeface="Arial"/>
                <a:ea typeface="Arial"/>
                <a:cs typeface="Arial"/>
              </a:rPr>
              <a:t>Eval theo từng cấp, tối thiểu 50 ca/cấp.</a:t>
            </a:r>
          </a:p>
          <a:p xmlns:a="http://schemas.openxmlformats.org/drawingml/2006/main">
            <a:pPr algn="l">
              <a:defRPr sz="1650" b="0">
                <a:solidFill>
                  <a:srgbClr val="587080"/>
                </a:solidFill>
                <a:latin typeface="Arial"/>
                <a:ea typeface="Arial"/>
                <a:cs typeface="Arial"/>
              </a:defRPr>
            </a:pPr>
            <a:r>
              <a:rPr sz="1650" b="0">
                <a:solidFill>
                  <a:srgbClr val="587080"/>
                </a:solidFill>
                <a:latin typeface="Arial"/>
                <a:ea typeface="Arial"/>
                <a:cs typeface="Arial"/>
              </a:rPr>
              <a:t>Deny release nếu thiếu dữ liệu hoặc &lt;95% baseline.</a:t>
            </a:r>
          </a:p>
        </p:txBody>
      </p:sp>
      <p:sp>
        <p:nvSpPr>
          <p:cNvPr id="18" name="shape-173">
            <a:extLst xmlns:a="http://schemas.openxmlformats.org/drawingml/2006/main">
              <a:ext uri="{FF2B5EF4-FFF2-40B4-BE49-F238E27FC236}">
                <a16:creationId xmlns:a16="http://schemas.microsoft.com/office/drawing/2014/main" id="{CA12BB3D-787E-4AFD-8280-28B621C9EEE9}"/>
              </a:ext>
            </a:extLst>
          </p:cNvPr>
          <p:cNvSpPr>
            <a:spLocks xmlns:a="http://schemas.openxmlformats.org/drawingml/2006/main" noGrp="1"/>
          </p:cNvSpPr>
          <p:nvPr/>
        </p:nvSpPr>
        <p:spPr>
          <a:xfrm xmlns:a="http://schemas.openxmlformats.org/drawingml/2006/main">
            <a:off x="533400" y="5810250"/>
            <a:ext cx="11125200" cy="400050"/>
          </a:xfrm>
          <a:prstGeom xmlns:a="http://schemas.openxmlformats.org/drawingml/2006/main" prst="rect">
            <a:avLst/>
          </a:prstGeom>
          <a:solidFill xmlns:a="http://schemas.openxmlformats.org/drawingml/2006/main">
            <a:srgbClr val="E8F4F3"/>
          </a:solidFill>
          <a:ln xmlns:a="http://schemas.openxmlformats.org/drawingml/2006/main" w="0">
            <a:noFill/>
            <a:prstDash val="solid"/>
          </a:ln>
        </p:spPr>
      </p:sp>
      <p:sp>
        <p:nvSpPr>
          <p:cNvPr id="19" name="text-174">
            <a:extLst xmlns:a="http://schemas.openxmlformats.org/drawingml/2006/main">
              <a:ext uri="{FF2B5EF4-FFF2-40B4-BE49-F238E27FC236}">
                <a16:creationId xmlns:a16="http://schemas.microsoft.com/office/drawing/2014/main" id="{D75BDFFC-9030-4AE9-A032-F466A18270F2}"/>
              </a:ext>
            </a:extLst>
          </p:cNvPr>
          <p:cNvSpPr>
            <a:spLocks xmlns:a="http://schemas.openxmlformats.org/drawingml/2006/main" noGrp="1"/>
          </p:cNvSpPr>
          <p:nvPr/>
        </p:nvSpPr>
        <p:spPr>
          <a:xfrm xmlns:a="http://schemas.openxmlformats.org/drawingml/2006/main">
            <a:off x="666750" y="5905500"/>
            <a:ext cx="10858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17364A"/>
                </a:solidFill>
                <a:latin typeface="Arial"/>
                <a:ea typeface="Arial"/>
                <a:cs typeface="Arial"/>
              </a:defRPr>
            </a:defPPr>
          </a:lstStyle>
          <a:p xmlns:a="http://schemas.openxmlformats.org/drawingml/2006/main">
            <a:pPr algn="l">
              <a:defRPr sz="1350" b="0">
                <a:solidFill>
                  <a:srgbClr val="17364A"/>
                </a:solidFill>
                <a:latin typeface="Arial"/>
                <a:ea typeface="Arial"/>
                <a:cs typeface="Arial"/>
              </a:defRPr>
            </a:pPr>
            <a:r>
              <a:rPr sz="1350" b="0">
                <a:solidFill>
                  <a:srgbClr val="17364A"/>
                </a:solidFill>
                <a:latin typeface="Arial"/>
                <a:ea typeface="Arial"/>
                <a:cs typeface="Arial"/>
              </a:rPr>
              <a:t>Không log raw prompt, nội dung tài liệu hoặc OAuth token. Chính sách model phải được duyệt trước release.</a:t>
            </a:r>
          </a:p>
        </p:txBody>
      </p:sp>
    </p:spTree>
    <p:extLst>
      <p:ext uri="{BB962C8B-B14F-4D97-AF65-F5344CB8AC3E}">
        <p14:creationId xmlns:p14="http://schemas.microsoft.com/office/powerpoint/2010/main" val="154339187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hape-175">
            <a:extLst xmlns:a="http://schemas.openxmlformats.org/drawingml/2006/main">
              <a:ext uri="{FF2B5EF4-FFF2-40B4-BE49-F238E27FC236}">
                <a16:creationId xmlns:a16="http://schemas.microsoft.com/office/drawing/2014/main" id="{C48E13CD-752D-4A0F-9AC1-BF207D6BF21F}"/>
              </a:ext>
            </a:extLst>
          </p:cNvPr>
          <p:cNvSpPr>
            <a:spLocks xmlns:a="http://schemas.openxmlformats.org/drawingml/2006/main" noGrp="1"/>
          </p:cNvSpPr>
          <p:nvPr/>
        </p:nvSpPr>
        <p:spPr>
          <a:xfrm xmlns:a="http://schemas.openxmlformats.org/drawingml/2006/main">
            <a:off x="533400" y="428625"/>
            <a:ext cx="419100" cy="47625"/>
          </a:xfrm>
          <a:prstGeom xmlns:a="http://schemas.openxmlformats.org/drawingml/2006/main" prst="rect">
            <a:avLst/>
          </a:prstGeom>
          <a:solidFill xmlns:a="http://schemas.openxmlformats.org/drawingml/2006/main">
            <a:srgbClr val="087F83"/>
          </a:solidFill>
          <a:ln xmlns:a="http://schemas.openxmlformats.org/drawingml/2006/main" w="0">
            <a:noFill/>
            <a:prstDash val="solid"/>
          </a:ln>
        </p:spPr>
      </p:sp>
      <p:sp>
        <p:nvSpPr>
          <p:cNvPr id="2" name="text-176">
            <a:extLst xmlns:a="http://schemas.openxmlformats.org/drawingml/2006/main">
              <a:ext uri="{FF2B5EF4-FFF2-40B4-BE49-F238E27FC236}">
                <a16:creationId xmlns:a16="http://schemas.microsoft.com/office/drawing/2014/main" id="{6F73D3D7-2E09-4E06-9E90-9330FDC786DB}"/>
              </a:ext>
            </a:extLst>
          </p:cNvPr>
          <p:cNvSpPr>
            <a:spLocks xmlns:a="http://schemas.openxmlformats.org/drawingml/2006/main" noGrp="1"/>
          </p:cNvSpPr>
          <p:nvPr/>
        </p:nvSpPr>
        <p:spPr>
          <a:xfrm xmlns:a="http://schemas.openxmlformats.org/drawingml/2006/main">
            <a:off x="533400" y="657225"/>
            <a:ext cx="111252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7364A"/>
                </a:solidFill>
                <a:latin typeface="Arial"/>
                <a:ea typeface="Arial"/>
                <a:cs typeface="Arial"/>
              </a:defRPr>
            </a:defPPr>
          </a:lstStyle>
          <a:p xmlns:a="http://schemas.openxmlformats.org/drawingml/2006/main">
            <a:pPr algn="l">
              <a:defRPr sz="2700" b="1">
                <a:solidFill>
                  <a:srgbClr val="17364A"/>
                </a:solidFill>
                <a:latin typeface="Arial"/>
                <a:ea typeface="Arial"/>
                <a:cs typeface="Arial"/>
              </a:defRPr>
            </a:pPr>
            <a:r>
              <a:rPr sz="2700" b="1">
                <a:solidFill>
                  <a:srgbClr val="17364A"/>
                </a:solidFill>
                <a:latin typeface="Arial"/>
                <a:ea typeface="Arial"/>
                <a:cs typeface="Arial"/>
              </a:rPr>
              <a:t>HA đa AZ, DR cùng region cần diễn tập khôi phục</a:t>
            </a:r>
          </a:p>
        </p:txBody>
      </p:sp>
      <p:sp>
        <p:nvSpPr>
          <p:cNvPr id="3" name="shape-177">
            <a:extLst xmlns:a="http://schemas.openxmlformats.org/drawingml/2006/main">
              <a:ext uri="{FF2B5EF4-FFF2-40B4-BE49-F238E27FC236}">
                <a16:creationId xmlns:a16="http://schemas.microsoft.com/office/drawing/2014/main" id="{A549812F-6910-497E-AEA1-3EDE2F3D047B}"/>
              </a:ext>
            </a:extLst>
          </p:cNvPr>
          <p:cNvSpPr>
            <a:spLocks xmlns:a="http://schemas.openxmlformats.org/drawingml/2006/main" noGrp="1"/>
          </p:cNvSpPr>
          <p:nvPr/>
        </p:nvSpPr>
        <p:spPr>
          <a:xfrm xmlns:a="http://schemas.openxmlformats.org/drawingml/2006/main">
            <a:off x="533400" y="6381750"/>
            <a:ext cx="11125200" cy="9525"/>
          </a:xfrm>
          <a:prstGeom xmlns:a="http://schemas.openxmlformats.org/drawingml/2006/main" prst="rect">
            <a:avLst/>
          </a:prstGeom>
          <a:solidFill xmlns:a="http://schemas.openxmlformats.org/drawingml/2006/main">
            <a:srgbClr val="D1DEE5"/>
          </a:solidFill>
          <a:ln xmlns:a="http://schemas.openxmlformats.org/drawingml/2006/main" w="0">
            <a:noFill/>
            <a:prstDash val="solid"/>
          </a:ln>
        </p:spPr>
      </p:sp>
      <p:sp>
        <p:nvSpPr>
          <p:cNvPr id="4" name="text-178">
            <a:extLst xmlns:a="http://schemas.openxmlformats.org/drawingml/2006/main">
              <a:ext uri="{FF2B5EF4-FFF2-40B4-BE49-F238E27FC236}">
                <a16:creationId xmlns:a16="http://schemas.microsoft.com/office/drawing/2014/main" id="{4CED3CA4-92C8-4FCB-A1EB-C1DB831D5442}"/>
              </a:ext>
            </a:extLst>
          </p:cNvPr>
          <p:cNvSpPr>
            <a:spLocks xmlns:a="http://schemas.openxmlformats.org/drawingml/2006/main" noGrp="1"/>
          </p:cNvSpPr>
          <p:nvPr/>
        </p:nvSpPr>
        <p:spPr>
          <a:xfrm xmlns:a="http://schemas.openxmlformats.org/drawingml/2006/main">
            <a:off x="533400" y="651510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87080"/>
                </a:solidFill>
                <a:latin typeface="Arial"/>
                <a:ea typeface="Arial"/>
                <a:cs typeface="Arial"/>
              </a:defRPr>
            </a:defPPr>
          </a:lstStyle>
          <a:p xmlns:a="http://schemas.openxmlformats.org/drawingml/2006/main">
            <a:pPr algn="l">
              <a:defRPr sz="975" b="0">
                <a:solidFill>
                  <a:srgbClr val="587080"/>
                </a:solidFill>
                <a:latin typeface="Arial"/>
                <a:ea typeface="Arial"/>
                <a:cs typeface="Arial"/>
              </a:defRPr>
            </a:pPr>
            <a:r>
              <a:rPr sz="975" b="0">
                <a:solidFill>
                  <a:srgbClr val="587080"/>
                </a:solidFill>
                <a:latin typeface="Arial"/>
                <a:ea typeface="Arial"/>
                <a:cs typeface="Arial"/>
              </a:rPr>
              <a:t>G03  /  Eviaura</a:t>
            </a:r>
          </a:p>
        </p:txBody>
      </p:sp>
      <p:sp>
        <p:nvSpPr>
          <p:cNvPr id="5" name="text-179">
            <a:extLst xmlns:a="http://schemas.openxmlformats.org/drawingml/2006/main">
              <a:ext uri="{FF2B5EF4-FFF2-40B4-BE49-F238E27FC236}">
                <a16:creationId xmlns:a16="http://schemas.microsoft.com/office/drawing/2014/main" id="{C5909004-6C57-4878-BE7D-9E6DA25D94EF}"/>
              </a:ext>
            </a:extLst>
          </p:cNvPr>
          <p:cNvSpPr>
            <a:spLocks xmlns:a="http://schemas.openxmlformats.org/drawingml/2006/main" noGrp="1"/>
          </p:cNvSpPr>
          <p:nvPr/>
        </p:nvSpPr>
        <p:spPr>
          <a:xfrm xmlns:a="http://schemas.openxmlformats.org/drawingml/2006/main">
            <a:off x="11049000" y="6496050"/>
            <a:ext cx="609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050" b="0">
                <a:solidFill>
                  <a:srgbClr val="587080"/>
                </a:solidFill>
                <a:latin typeface="Arial"/>
                <a:ea typeface="Arial"/>
                <a:cs typeface="Arial"/>
              </a:defRPr>
            </a:defPPr>
          </a:lstStyle>
          <a:p xmlns:a="http://schemas.openxmlformats.org/drawingml/2006/main">
            <a:pPr algn="r">
              <a:defRPr sz="1050" b="0">
                <a:solidFill>
                  <a:srgbClr val="587080"/>
                </a:solidFill>
                <a:latin typeface="Arial"/>
                <a:ea typeface="Arial"/>
                <a:cs typeface="Arial"/>
              </a:defRPr>
            </a:pPr>
            <a:r>
              <a:rPr sz="1050" b="0">
                <a:solidFill>
                  <a:srgbClr val="587080"/>
                </a:solidFill>
                <a:latin typeface="Arial"/>
                <a:ea typeface="Arial"/>
                <a:cs typeface="Arial"/>
              </a:rPr>
              <a:t>10</a:t>
            </a:r>
          </a:p>
        </p:txBody>
      </p:sp>
      <p:graphicFrame>
        <p:nvGraphicFramePr>
          <p:cNvPr id="6" name="">
            <a:extLst xmlns:a="http://schemas.openxmlformats.org/drawingml/2006/main">
              <a:ext uri="{FF2B5EF4-FFF2-40B4-BE49-F238E27FC236}">
                <a16:creationId xmlns:a16="http://schemas.microsoft.com/office/drawing/2014/main" id="{F73A0D74-998A-4CBC-852A-2453D2AF77D0}"/>
              </a:ext>
            </a:extLst>
          </p:cNvPr>
          <p:cNvGraphicFramePr/>
          <p:nvPr/>
        </p:nvGraphicFramePr>
        <p:xfrm>
          <a:off xmlns:a="http://schemas.openxmlformats.org/drawingml/2006/main" x="533400" y="1628775"/>
          <a:ext xmlns:a="http://schemas.openxmlformats.org/drawingml/2006/main" cx="11125200" cy="2857500"/>
        </p:xfrm>
        <a:graphic xmlns:a="http://schemas.openxmlformats.org/drawingml/2006/main">
          <a:graphicData uri="http://schemas.openxmlformats.org/drawingml/2006/table">
            <a:tbl>
              <a:tblPr firstRow="0" bandRow="0"/>
              <a:tblGrid>
                <a:gridCol w="2571750"/>
                <a:gridCol w="2857500"/>
                <a:gridCol w="5695950"/>
              </a:tblGrid>
              <a:tr h="571500">
                <a:tc>
                  <a:txBody>
                    <a:bodyPr lIns="85725" tIns="85725" rIns="85725" bIns="85725"/>
                    <a:lstStyle/>
                    <a:p>
                      <a:r>
                        <a:rPr sz="1650" b="1">
                          <a:solidFill>
                            <a:srgbClr val="FFFFFF"/>
                          </a:solidFill>
                          <a:latin typeface="Arial"/>
                          <a:ea typeface="Arial"/>
                          <a:cs typeface="Arial"/>
                        </a:rPr>
                        <a:t>Chỉ tiêu</a:t>
                      </a:r>
                    </a:p>
                  </a:txBody>
                  <a:tcPr marL="91440" marR="91440" marT="45720" marB="45720" anchor="ctr">
                    <a:lnL w="5715">
                      <a:solidFill>
                        <a:srgbClr val="D1DEE5"/>
                      </a:solidFill>
                      <a:prstDash val="solid"/>
                    </a:lnL>
                    <a:lnR w="5715">
                      <a:solidFill>
                        <a:srgbClr val="D1DEE5"/>
                      </a:solidFill>
                      <a:prstDash val="solid"/>
                    </a:lnR>
                    <a:lnT w="5715">
                      <a:solidFill>
                        <a:srgbClr val="D1DEE5"/>
                      </a:solidFill>
                      <a:prstDash val="solid"/>
                    </a:lnT>
                    <a:lnB w="5715">
                      <a:solidFill>
                        <a:srgbClr val="D1DEE5"/>
                      </a:solidFill>
                      <a:prstDash val="solid"/>
                    </a:lnB>
                    <a:solidFill>
                      <a:srgbClr val="103548"/>
                    </a:solidFill>
                  </a:tcPr>
                </a:tc>
                <a:tc>
                  <a:txBody>
                    <a:bodyPr lIns="85725" tIns="85725" rIns="85725" bIns="85725"/>
                    <a:lstStyle/>
                    <a:p>
                      <a:r>
                        <a:rPr sz="1650" b="1">
                          <a:solidFill>
                            <a:srgbClr val="FFFFFF"/>
                          </a:solidFill>
                          <a:latin typeface="Arial"/>
                          <a:ea typeface="Arial"/>
                          <a:cs typeface="Arial"/>
                        </a:rPr>
                        <a:t>Mục tiêu thiết kế</a:t>
                      </a:r>
                    </a:p>
                  </a:txBody>
                  <a:tcPr marL="91440" marR="91440" marT="45720" marB="45720" anchor="ctr">
                    <a:lnR w="5715">
                      <a:solidFill>
                        <a:srgbClr val="D1DEE5"/>
                      </a:solidFill>
                      <a:prstDash val="solid"/>
                    </a:lnR>
                    <a:lnT w="5715">
                      <a:solidFill>
                        <a:srgbClr val="D1DEE5"/>
                      </a:solidFill>
                      <a:prstDash val="solid"/>
                    </a:lnT>
                    <a:lnB w="5715">
                      <a:solidFill>
                        <a:srgbClr val="D1DEE5"/>
                      </a:solidFill>
                      <a:prstDash val="solid"/>
                    </a:lnB>
                    <a:solidFill>
                      <a:srgbClr val="103548"/>
                    </a:solidFill>
                  </a:tcPr>
                </a:tc>
                <a:tc>
                  <a:txBody>
                    <a:bodyPr lIns="85725" tIns="85725" rIns="85725" bIns="85725"/>
                    <a:lstStyle/>
                    <a:p>
                      <a:r>
                        <a:rPr sz="1650" b="1">
                          <a:solidFill>
                            <a:srgbClr val="FFFFFF"/>
                          </a:solidFill>
                          <a:latin typeface="Arial"/>
                          <a:ea typeface="Arial"/>
                          <a:cs typeface="Arial"/>
                        </a:rPr>
                        <a:t>Cơ chế</a:t>
                      </a:r>
                    </a:p>
                  </a:txBody>
                  <a:tcPr marL="91440" marR="91440" marT="45720" marB="45720" anchor="ctr">
                    <a:lnR w="5715">
                      <a:solidFill>
                        <a:srgbClr val="D1DEE5"/>
                      </a:solidFill>
                      <a:prstDash val="solid"/>
                    </a:lnR>
                    <a:lnT w="5715">
                      <a:solidFill>
                        <a:srgbClr val="D1DEE5"/>
                      </a:solidFill>
                      <a:prstDash val="solid"/>
                    </a:lnT>
                    <a:lnB w="5715">
                      <a:solidFill>
                        <a:srgbClr val="D1DEE5"/>
                      </a:solidFill>
                      <a:prstDash val="solid"/>
                    </a:lnB>
                    <a:solidFill>
                      <a:srgbClr val="103548"/>
                    </a:solidFill>
                  </a:tcPr>
                </a:tc>
              </a:tr>
              <a:tr h="571500">
                <a:tc>
                  <a:txBody>
                    <a:bodyPr lIns="85725" tIns="85725" rIns="85725" bIns="85725"/>
                    <a:lstStyle/>
                    <a:p>
                      <a:r>
                        <a:rPr sz="1650" b="0">
                          <a:solidFill>
                            <a:srgbClr val="17364A"/>
                          </a:solidFill>
                          <a:latin typeface="Arial"/>
                          <a:ea typeface="Arial"/>
                          <a:cs typeface="Arial"/>
                        </a:rPr>
                        <a:t>Availability</a:t>
                      </a:r>
                    </a:p>
                  </a:txBody>
                  <a:tcPr marL="91440" marR="91440" marT="45720" marB="45720" anchor="ctr">
                    <a:lnL w="5715">
                      <a:solidFill>
                        <a:srgbClr val="D1DEE5"/>
                      </a:solidFill>
                      <a:prstDash val="solid"/>
                    </a:lnL>
                    <a:lnR w="5715">
                      <a:solidFill>
                        <a:srgbClr val="D1DEE5"/>
                      </a:solidFill>
                      <a:prstDash val="solid"/>
                    </a:lnR>
                    <a:lnB w="5715">
                      <a:solidFill>
                        <a:srgbClr val="D1DEE5"/>
                      </a:solidFill>
                      <a:prstDash val="solid"/>
                    </a:lnB>
                    <a:solidFill>
                      <a:srgbClr val="F4F8FA"/>
                    </a:solidFill>
                  </a:tcPr>
                </a:tc>
                <a:tc>
                  <a:txBody>
                    <a:bodyPr lIns="85725" tIns="85725" rIns="85725" bIns="85725"/>
                    <a:lstStyle/>
                    <a:p>
                      <a:r>
                        <a:rPr sz="1650" b="0">
                          <a:solidFill>
                            <a:srgbClr val="17364A"/>
                          </a:solidFill>
                          <a:latin typeface="Arial"/>
                          <a:ea typeface="Arial"/>
                          <a:cs typeface="Arial"/>
                        </a:rPr>
                        <a:t>99,5% giờ hành chính</a:t>
                      </a:r>
                    </a:p>
                  </a:txBody>
                  <a:tcPr marL="91440" marR="91440" marT="45720" marB="45720" anchor="ctr">
                    <a:lnR w="5715">
                      <a:solidFill>
                        <a:srgbClr val="D1DEE5"/>
                      </a:solidFill>
                      <a:prstDash val="solid"/>
                    </a:lnR>
                    <a:lnB w="5715">
                      <a:solidFill>
                        <a:srgbClr val="D1DEE5"/>
                      </a:solidFill>
                      <a:prstDash val="solid"/>
                    </a:lnB>
                    <a:solidFill>
                      <a:srgbClr val="F4F8FA"/>
                    </a:solidFill>
                  </a:tcPr>
                </a:tc>
                <a:tc>
                  <a:txBody>
                    <a:bodyPr lIns="85725" tIns="85725" rIns="85725" bIns="85725"/>
                    <a:lstStyle/>
                    <a:p>
                      <a:r>
                        <a:rPr sz="1650" b="0">
                          <a:solidFill>
                            <a:srgbClr val="17364A"/>
                          </a:solidFill>
                          <a:latin typeface="Arial"/>
                          <a:ea typeface="Arial"/>
                          <a:cs typeface="Arial"/>
                        </a:rPr>
                        <a:t>Managed multi-AZ API / compute / state</a:t>
                      </a:r>
                    </a:p>
                  </a:txBody>
                  <a:tcPr marL="91440" marR="91440" marT="45720" marB="45720" anchor="ctr">
                    <a:lnR w="5715">
                      <a:solidFill>
                        <a:srgbClr val="D1DEE5"/>
                      </a:solidFill>
                      <a:prstDash val="solid"/>
                    </a:lnR>
                    <a:lnB w="5715">
                      <a:solidFill>
                        <a:srgbClr val="D1DEE5"/>
                      </a:solidFill>
                      <a:prstDash val="solid"/>
                    </a:lnB>
                    <a:solidFill>
                      <a:srgbClr val="F4F8FA"/>
                    </a:solidFill>
                  </a:tcPr>
                </a:tc>
              </a:tr>
              <a:tr h="571500">
                <a:tc>
                  <a:txBody>
                    <a:bodyPr lIns="85725" tIns="85725" rIns="85725" bIns="85725"/>
                    <a:lstStyle/>
                    <a:p>
                      <a:r>
                        <a:rPr sz="1650" b="0">
                          <a:solidFill>
                            <a:srgbClr val="17364A"/>
                          </a:solidFill>
                          <a:latin typeface="Arial"/>
                          <a:ea typeface="Arial"/>
                          <a:cs typeface="Arial"/>
                        </a:rPr>
                        <a:t>RTO</a:t>
                      </a:r>
                    </a:p>
                  </a:txBody>
                  <a:tcPr marL="91440" marR="91440" marT="45720" marB="45720" anchor="ctr">
                    <a:lnL w="5715">
                      <a:solidFill>
                        <a:srgbClr val="D1DEE5"/>
                      </a:solidFill>
                      <a:prstDash val="solid"/>
                    </a:lnL>
                    <a:lnR w="5715">
                      <a:solidFill>
                        <a:srgbClr val="D1DEE5"/>
                      </a:solidFill>
                      <a:prstDash val="solid"/>
                    </a:lnR>
                    <a:lnB w="5715">
                      <a:solidFill>
                        <a:srgbClr val="D1DEE5"/>
                      </a:solidFill>
                      <a:prstDash val="solid"/>
                    </a:lnB>
                    <a:solidFill>
                      <a:srgbClr val="FFFFFF"/>
                    </a:solidFill>
                  </a:tcPr>
                </a:tc>
                <a:tc>
                  <a:txBody>
                    <a:bodyPr lIns="85725" tIns="85725" rIns="85725" bIns="85725"/>
                    <a:lstStyle/>
                    <a:p>
                      <a:r>
                        <a:rPr sz="1650" b="0">
                          <a:solidFill>
                            <a:srgbClr val="17364A"/>
                          </a:solidFill>
                          <a:latin typeface="Arial"/>
                          <a:ea typeface="Arial"/>
                          <a:cs typeface="Arial"/>
                        </a:rPr>
                        <a:t>≤ 4 giờ</a:t>
                      </a:r>
                    </a:p>
                  </a:txBody>
                  <a:tcPr marL="91440" marR="91440" marT="45720" marB="45720" anchor="ctr">
                    <a:lnR w="5715">
                      <a:solidFill>
                        <a:srgbClr val="D1DEE5"/>
                      </a:solidFill>
                      <a:prstDash val="solid"/>
                    </a:lnR>
                    <a:lnB w="5715">
                      <a:solidFill>
                        <a:srgbClr val="D1DEE5"/>
                      </a:solidFill>
                      <a:prstDash val="solid"/>
                    </a:lnB>
                    <a:solidFill>
                      <a:srgbClr val="FFFFFF"/>
                    </a:solidFill>
                  </a:tcPr>
                </a:tc>
                <a:tc>
                  <a:txBody>
                    <a:bodyPr lIns="85725" tIns="85725" rIns="85725" bIns="85725"/>
                    <a:lstStyle/>
                    <a:p>
                      <a:r>
                        <a:rPr sz="1650" b="0">
                          <a:solidFill>
                            <a:srgbClr val="17364A"/>
                          </a:solidFill>
                          <a:latin typeface="Arial"/>
                          <a:ea typeface="Arial"/>
                          <a:cs typeface="Arial"/>
                        </a:rPr>
                        <a:t>Restore table/bucket mới, kiểm tra ACL</a:t>
                      </a:r>
                    </a:p>
                  </a:txBody>
                  <a:tcPr marL="91440" marR="91440" marT="45720" marB="45720" anchor="ctr">
                    <a:lnR w="5715">
                      <a:solidFill>
                        <a:srgbClr val="D1DEE5"/>
                      </a:solidFill>
                      <a:prstDash val="solid"/>
                    </a:lnR>
                    <a:lnB w="5715">
                      <a:solidFill>
                        <a:srgbClr val="D1DEE5"/>
                      </a:solidFill>
                      <a:prstDash val="solid"/>
                    </a:lnB>
                    <a:solidFill>
                      <a:srgbClr val="FFFFFF"/>
                    </a:solidFill>
                  </a:tcPr>
                </a:tc>
              </a:tr>
              <a:tr h="571500">
                <a:tc>
                  <a:txBody>
                    <a:bodyPr lIns="85725" tIns="85725" rIns="85725" bIns="85725"/>
                    <a:lstStyle/>
                    <a:p>
                      <a:r>
                        <a:rPr sz="1650" b="0">
                          <a:solidFill>
                            <a:srgbClr val="17364A"/>
                          </a:solidFill>
                          <a:latin typeface="Arial"/>
                          <a:ea typeface="Arial"/>
                          <a:cs typeface="Arial"/>
                        </a:rPr>
                        <a:t>RPO</a:t>
                      </a:r>
                    </a:p>
                  </a:txBody>
                  <a:tcPr marL="91440" marR="91440" marT="45720" marB="45720" anchor="ctr">
                    <a:lnL w="5715">
                      <a:solidFill>
                        <a:srgbClr val="D1DEE5"/>
                      </a:solidFill>
                      <a:prstDash val="solid"/>
                    </a:lnL>
                    <a:lnR w="5715">
                      <a:solidFill>
                        <a:srgbClr val="D1DEE5"/>
                      </a:solidFill>
                      <a:prstDash val="solid"/>
                    </a:lnR>
                    <a:lnB w="5715">
                      <a:solidFill>
                        <a:srgbClr val="D1DEE5"/>
                      </a:solidFill>
                      <a:prstDash val="solid"/>
                    </a:lnB>
                    <a:solidFill>
                      <a:srgbClr val="F4F8FA"/>
                    </a:solidFill>
                  </a:tcPr>
                </a:tc>
                <a:tc>
                  <a:txBody>
                    <a:bodyPr lIns="85725" tIns="85725" rIns="85725" bIns="85725"/>
                    <a:lstStyle/>
                    <a:p>
                      <a:r>
                        <a:rPr sz="1650" b="0">
                          <a:solidFill>
                            <a:srgbClr val="17364A"/>
                          </a:solidFill>
                          <a:latin typeface="Arial"/>
                          <a:ea typeface="Arial"/>
                          <a:cs typeface="Arial"/>
                        </a:rPr>
                        <a:t>≤ 1 giờ</a:t>
                      </a:r>
                    </a:p>
                  </a:txBody>
                  <a:tcPr marL="91440" marR="91440" marT="45720" marB="45720" anchor="ctr">
                    <a:lnR w="5715">
                      <a:solidFill>
                        <a:srgbClr val="D1DEE5"/>
                      </a:solidFill>
                      <a:prstDash val="solid"/>
                    </a:lnR>
                    <a:lnB w="5715">
                      <a:solidFill>
                        <a:srgbClr val="D1DEE5"/>
                      </a:solidFill>
                      <a:prstDash val="solid"/>
                    </a:lnB>
                    <a:solidFill>
                      <a:srgbClr val="F4F8FA"/>
                    </a:solidFill>
                  </a:tcPr>
                </a:tc>
                <a:tc>
                  <a:txBody>
                    <a:bodyPr lIns="85725" tIns="85725" rIns="85725" bIns="85725"/>
                    <a:lstStyle/>
                    <a:p>
                      <a:r>
                        <a:rPr sz="1650" b="0">
                          <a:solidFill>
                            <a:srgbClr val="17364A"/>
                          </a:solidFill>
                          <a:latin typeface="Arial"/>
                          <a:ea typeface="Arial"/>
                          <a:cs typeface="Arial"/>
                        </a:rPr>
                        <a:t>DynamoDB PITR, S3 versions</a:t>
                      </a:r>
                    </a:p>
                  </a:txBody>
                  <a:tcPr marL="91440" marR="91440" marT="45720" marB="45720" anchor="ctr">
                    <a:lnR w="5715">
                      <a:solidFill>
                        <a:srgbClr val="D1DEE5"/>
                      </a:solidFill>
                      <a:prstDash val="solid"/>
                    </a:lnR>
                    <a:lnB w="5715">
                      <a:solidFill>
                        <a:srgbClr val="D1DEE5"/>
                      </a:solidFill>
                      <a:prstDash val="solid"/>
                    </a:lnB>
                    <a:solidFill>
                      <a:srgbClr val="F4F8FA"/>
                    </a:solidFill>
                  </a:tcPr>
                </a:tc>
              </a:tr>
              <a:tr h="571500">
                <a:tc>
                  <a:txBody>
                    <a:bodyPr lIns="85725" tIns="85725" rIns="85725" bIns="85725"/>
                    <a:lstStyle/>
                    <a:p>
                      <a:r>
                        <a:rPr sz="1650" b="0">
                          <a:solidFill>
                            <a:srgbClr val="17364A"/>
                          </a:solidFill>
                          <a:latin typeface="Arial"/>
                          <a:ea typeface="Arial"/>
                          <a:cs typeface="Arial"/>
                        </a:rPr>
                        <a:t>Backup test</a:t>
                      </a:r>
                    </a:p>
                  </a:txBody>
                  <a:tcPr marL="91440" marR="91440" marT="45720" marB="45720" anchor="ctr">
                    <a:lnL w="5715">
                      <a:solidFill>
                        <a:srgbClr val="D1DEE5"/>
                      </a:solidFill>
                      <a:prstDash val="solid"/>
                    </a:lnL>
                    <a:lnR w="5715">
                      <a:solidFill>
                        <a:srgbClr val="D1DEE5"/>
                      </a:solidFill>
                      <a:prstDash val="solid"/>
                    </a:lnR>
                    <a:lnB w="5715">
                      <a:solidFill>
                        <a:srgbClr val="D1DEE5"/>
                      </a:solidFill>
                      <a:prstDash val="solid"/>
                    </a:lnB>
                    <a:solidFill>
                      <a:srgbClr val="FFFFFF"/>
                    </a:solidFill>
                  </a:tcPr>
                </a:tc>
                <a:tc>
                  <a:txBody>
                    <a:bodyPr lIns="85725" tIns="85725" rIns="85725" bIns="85725"/>
                    <a:lstStyle/>
                    <a:p>
                      <a:r>
                        <a:rPr sz="1650" b="0">
                          <a:solidFill>
                            <a:srgbClr val="17364A"/>
                          </a:solidFill>
                          <a:latin typeface="Arial"/>
                          <a:ea typeface="Arial"/>
                          <a:cs typeface="Arial"/>
                        </a:rPr>
                        <a:t>Diễn tập mỗi tháng</a:t>
                      </a:r>
                    </a:p>
                  </a:txBody>
                  <a:tcPr marL="91440" marR="91440" marT="45720" marB="45720" anchor="ctr">
                    <a:lnR w="5715">
                      <a:solidFill>
                        <a:srgbClr val="D1DEE5"/>
                      </a:solidFill>
                      <a:prstDash val="solid"/>
                    </a:lnR>
                    <a:lnB w="5715">
                      <a:solidFill>
                        <a:srgbClr val="D1DEE5"/>
                      </a:solidFill>
                      <a:prstDash val="solid"/>
                    </a:lnB>
                    <a:solidFill>
                      <a:srgbClr val="FFFFFF"/>
                    </a:solidFill>
                  </a:tcPr>
                </a:tc>
                <a:tc>
                  <a:txBody>
                    <a:bodyPr lIns="85725" tIns="85725" rIns="85725" bIns="85725"/>
                    <a:lstStyle/>
                    <a:p>
                      <a:r>
                        <a:rPr sz="1650" b="0">
                          <a:solidFill>
                            <a:srgbClr val="17364A"/>
                          </a:solidFill>
                          <a:latin typeface="Arial"/>
                          <a:ea typeface="Arial"/>
                          <a:cs typeface="Arial"/>
                        </a:rPr>
                        <a:t>Checksum, dữ liệu cuối, thời gian restore</a:t>
                      </a:r>
                    </a:p>
                  </a:txBody>
                  <a:tcPr marL="91440" marR="91440" marT="45720" marB="45720" anchor="ctr">
                    <a:lnR w="5715">
                      <a:solidFill>
                        <a:srgbClr val="D1DEE5"/>
                      </a:solidFill>
                      <a:prstDash val="solid"/>
                    </a:lnR>
                    <a:lnB w="5715">
                      <a:solidFill>
                        <a:srgbClr val="D1DEE5"/>
                      </a:solidFill>
                      <a:prstDash val="solid"/>
                    </a:lnB>
                    <a:solidFill>
                      <a:srgbClr val="FFFFFF"/>
                    </a:solidFill>
                  </a:tcPr>
                </a:tc>
              </a:tr>
            </a:tbl>
          </a:graphicData>
        </a:graphic>
      </p:graphicFrame>
      <p:sp>
        <p:nvSpPr>
          <p:cNvPr id="7" name="text-180">
            <a:extLst xmlns:a="http://schemas.openxmlformats.org/drawingml/2006/main">
              <a:ext uri="{FF2B5EF4-FFF2-40B4-BE49-F238E27FC236}">
                <a16:creationId xmlns:a16="http://schemas.microsoft.com/office/drawing/2014/main" id="{45ECE56E-EA3A-4C5E-89C1-E5880823191B}"/>
              </a:ext>
            </a:extLst>
          </p:cNvPr>
          <p:cNvSpPr>
            <a:spLocks xmlns:a="http://schemas.openxmlformats.org/drawingml/2006/main" noGrp="1"/>
          </p:cNvSpPr>
          <p:nvPr/>
        </p:nvSpPr>
        <p:spPr>
          <a:xfrm xmlns:a="http://schemas.openxmlformats.org/drawingml/2006/main">
            <a:off x="533400" y="4895850"/>
            <a:ext cx="11125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087F83"/>
                </a:solidFill>
                <a:latin typeface="Arial"/>
                <a:ea typeface="Arial"/>
                <a:cs typeface="Arial"/>
              </a:defRPr>
            </a:defPPr>
          </a:lstStyle>
          <a:p xmlns:a="http://schemas.openxmlformats.org/drawingml/2006/main">
            <a:pPr algn="l">
              <a:defRPr sz="2100" b="1">
                <a:solidFill>
                  <a:srgbClr val="087F83"/>
                </a:solidFill>
                <a:latin typeface="Arial"/>
                <a:ea typeface="Arial"/>
                <a:cs typeface="Arial"/>
              </a:defRPr>
            </a:pPr>
            <a:r>
              <a:rPr sz="2100" b="1">
                <a:solidFill>
                  <a:srgbClr val="087F83"/>
                </a:solidFill>
                <a:latin typeface="Arial"/>
                <a:ea typeface="Arial"/>
                <a:cs typeface="Arial"/>
              </a:rPr>
              <a:t>Phạm vi DR hiện tại</a:t>
            </a:r>
          </a:p>
        </p:txBody>
      </p:sp>
      <p:sp>
        <p:nvSpPr>
          <p:cNvPr id="8" name="text-181">
            <a:extLst xmlns:a="http://schemas.openxmlformats.org/drawingml/2006/main">
              <a:ext uri="{FF2B5EF4-FFF2-40B4-BE49-F238E27FC236}">
                <a16:creationId xmlns:a16="http://schemas.microsoft.com/office/drawing/2014/main" id="{AE9F4C68-FF0C-4557-9F68-0379D9152C09}"/>
              </a:ext>
            </a:extLst>
          </p:cNvPr>
          <p:cNvSpPr>
            <a:spLocks xmlns:a="http://schemas.openxmlformats.org/drawingml/2006/main" noGrp="1"/>
          </p:cNvSpPr>
          <p:nvPr/>
        </p:nvSpPr>
        <p:spPr>
          <a:xfrm xmlns:a="http://schemas.openxmlformats.org/drawingml/2006/main">
            <a:off x="533400" y="5372100"/>
            <a:ext cx="111252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A76014"/>
                </a:solidFill>
                <a:latin typeface="Arial"/>
                <a:ea typeface="Arial"/>
                <a:cs typeface="Arial"/>
              </a:defRPr>
            </a:defPPr>
          </a:lstStyle>
          <a:p xmlns:a="http://schemas.openxmlformats.org/drawingml/2006/main">
            <a:pPr algn="l">
              <a:defRPr sz="1950" b="0">
                <a:solidFill>
                  <a:srgbClr val="A76014"/>
                </a:solidFill>
                <a:latin typeface="Arial"/>
                <a:ea typeface="Arial"/>
                <a:cs typeface="Arial"/>
              </a:defRPr>
            </a:pPr>
            <a:r>
              <a:rPr sz="1950" b="0">
                <a:solidFill>
                  <a:srgbClr val="A76014"/>
                </a:solidFill>
                <a:latin typeface="Arial"/>
                <a:ea typeface="Arial"/>
                <a:cs typeface="Arial"/>
              </a:rPr>
              <a:t>Khôi phục trong cùng region. Chưa có bằng chứng đạt RTO/RPO và chưa có regional failover.</a:t>
            </a:r>
          </a:p>
        </p:txBody>
      </p:sp>
    </p:spTree>
    <p:extLst>
      <p:ext uri="{BB962C8B-B14F-4D97-AF65-F5344CB8AC3E}">
        <p14:creationId xmlns:p14="http://schemas.microsoft.com/office/powerpoint/2010/main" val="153555676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hape-182">
            <a:extLst xmlns:a="http://schemas.openxmlformats.org/drawingml/2006/main">
              <a:ext uri="{FF2B5EF4-FFF2-40B4-BE49-F238E27FC236}">
                <a16:creationId xmlns:a16="http://schemas.microsoft.com/office/drawing/2014/main" id="{3A0B114D-2761-402A-96C7-DF37A1F379A3}"/>
              </a:ext>
            </a:extLst>
          </p:cNvPr>
          <p:cNvSpPr>
            <a:spLocks xmlns:a="http://schemas.openxmlformats.org/drawingml/2006/main" noGrp="1"/>
          </p:cNvSpPr>
          <p:nvPr/>
        </p:nvSpPr>
        <p:spPr>
          <a:xfrm xmlns:a="http://schemas.openxmlformats.org/drawingml/2006/main">
            <a:off x="533400" y="428625"/>
            <a:ext cx="419100" cy="47625"/>
          </a:xfrm>
          <a:prstGeom xmlns:a="http://schemas.openxmlformats.org/drawingml/2006/main" prst="rect">
            <a:avLst/>
          </a:prstGeom>
          <a:solidFill xmlns:a="http://schemas.openxmlformats.org/drawingml/2006/main">
            <a:srgbClr val="087F83"/>
          </a:solidFill>
          <a:ln xmlns:a="http://schemas.openxmlformats.org/drawingml/2006/main" w="0">
            <a:noFill/>
            <a:prstDash val="solid"/>
          </a:ln>
        </p:spPr>
      </p:sp>
      <p:sp>
        <p:nvSpPr>
          <p:cNvPr id="2" name="text-183">
            <a:extLst xmlns:a="http://schemas.openxmlformats.org/drawingml/2006/main">
              <a:ext uri="{FF2B5EF4-FFF2-40B4-BE49-F238E27FC236}">
                <a16:creationId xmlns:a16="http://schemas.microsoft.com/office/drawing/2014/main" id="{6B7B3A0D-7877-4FA3-87A1-44AB31DACF8B}"/>
              </a:ext>
            </a:extLst>
          </p:cNvPr>
          <p:cNvSpPr>
            <a:spLocks xmlns:a="http://schemas.openxmlformats.org/drawingml/2006/main" noGrp="1"/>
          </p:cNvSpPr>
          <p:nvPr/>
        </p:nvSpPr>
        <p:spPr>
          <a:xfrm xmlns:a="http://schemas.openxmlformats.org/drawingml/2006/main">
            <a:off x="533400" y="657225"/>
            <a:ext cx="111252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7364A"/>
                </a:solidFill>
                <a:latin typeface="Arial"/>
                <a:ea typeface="Arial"/>
                <a:cs typeface="Arial"/>
              </a:defRPr>
            </a:defPPr>
          </a:lstStyle>
          <a:p xmlns:a="http://schemas.openxmlformats.org/drawingml/2006/main">
            <a:pPr algn="l">
              <a:defRPr sz="2700" b="1">
                <a:solidFill>
                  <a:srgbClr val="17364A"/>
                </a:solidFill>
                <a:latin typeface="Arial"/>
                <a:ea typeface="Arial"/>
                <a:cs typeface="Arial"/>
              </a:defRPr>
            </a:pPr>
            <a:r>
              <a:rPr sz="2700" b="1">
                <a:solidFill>
                  <a:srgbClr val="17364A"/>
                </a:solidFill>
                <a:latin typeface="Arial"/>
                <a:ea typeface="Arial"/>
                <a:cs typeface="Arial"/>
              </a:rPr>
              <a:t>Độ trễ và cost được đo trên cùng một request</a:t>
            </a:r>
          </a:p>
        </p:txBody>
      </p:sp>
      <p:sp>
        <p:nvSpPr>
          <p:cNvPr id="3" name="shape-184">
            <a:extLst xmlns:a="http://schemas.openxmlformats.org/drawingml/2006/main">
              <a:ext uri="{FF2B5EF4-FFF2-40B4-BE49-F238E27FC236}">
                <a16:creationId xmlns:a16="http://schemas.microsoft.com/office/drawing/2014/main" id="{761DEDD2-C989-4A03-B2B2-B22F78B557F1}"/>
              </a:ext>
            </a:extLst>
          </p:cNvPr>
          <p:cNvSpPr>
            <a:spLocks xmlns:a="http://schemas.openxmlformats.org/drawingml/2006/main" noGrp="1"/>
          </p:cNvSpPr>
          <p:nvPr/>
        </p:nvSpPr>
        <p:spPr>
          <a:xfrm xmlns:a="http://schemas.openxmlformats.org/drawingml/2006/main">
            <a:off x="533400" y="6381750"/>
            <a:ext cx="11125200" cy="9525"/>
          </a:xfrm>
          <a:prstGeom xmlns:a="http://schemas.openxmlformats.org/drawingml/2006/main" prst="rect">
            <a:avLst/>
          </a:prstGeom>
          <a:solidFill xmlns:a="http://schemas.openxmlformats.org/drawingml/2006/main">
            <a:srgbClr val="D1DEE5"/>
          </a:solidFill>
          <a:ln xmlns:a="http://schemas.openxmlformats.org/drawingml/2006/main" w="0">
            <a:noFill/>
            <a:prstDash val="solid"/>
          </a:ln>
        </p:spPr>
      </p:sp>
      <p:sp>
        <p:nvSpPr>
          <p:cNvPr id="4" name="text-185">
            <a:extLst xmlns:a="http://schemas.openxmlformats.org/drawingml/2006/main">
              <a:ext uri="{FF2B5EF4-FFF2-40B4-BE49-F238E27FC236}">
                <a16:creationId xmlns:a16="http://schemas.microsoft.com/office/drawing/2014/main" id="{7F10BDA2-D18E-4617-8B9B-2BEBEEDC7408}"/>
              </a:ext>
            </a:extLst>
          </p:cNvPr>
          <p:cNvSpPr>
            <a:spLocks xmlns:a="http://schemas.openxmlformats.org/drawingml/2006/main" noGrp="1"/>
          </p:cNvSpPr>
          <p:nvPr/>
        </p:nvSpPr>
        <p:spPr>
          <a:xfrm xmlns:a="http://schemas.openxmlformats.org/drawingml/2006/main">
            <a:off x="533400" y="651510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87080"/>
                </a:solidFill>
                <a:latin typeface="Arial"/>
                <a:ea typeface="Arial"/>
                <a:cs typeface="Arial"/>
              </a:defRPr>
            </a:defPPr>
          </a:lstStyle>
          <a:p xmlns:a="http://schemas.openxmlformats.org/drawingml/2006/main">
            <a:pPr algn="l">
              <a:defRPr sz="975" b="0">
                <a:solidFill>
                  <a:srgbClr val="587080"/>
                </a:solidFill>
                <a:latin typeface="Arial"/>
                <a:ea typeface="Arial"/>
                <a:cs typeface="Arial"/>
              </a:defRPr>
            </a:pPr>
            <a:r>
              <a:rPr sz="975" b="0">
                <a:solidFill>
                  <a:srgbClr val="587080"/>
                </a:solidFill>
                <a:latin typeface="Arial"/>
                <a:ea typeface="Arial"/>
                <a:cs typeface="Arial"/>
              </a:rPr>
              <a:t>G03  /  Eviaura</a:t>
            </a:r>
          </a:p>
        </p:txBody>
      </p:sp>
      <p:sp>
        <p:nvSpPr>
          <p:cNvPr id="5" name="text-186">
            <a:extLst xmlns:a="http://schemas.openxmlformats.org/drawingml/2006/main">
              <a:ext uri="{FF2B5EF4-FFF2-40B4-BE49-F238E27FC236}">
                <a16:creationId xmlns:a16="http://schemas.microsoft.com/office/drawing/2014/main" id="{9B39D2AB-83FD-40CA-A869-ADAFD4A5B4A1}"/>
              </a:ext>
            </a:extLst>
          </p:cNvPr>
          <p:cNvSpPr>
            <a:spLocks xmlns:a="http://schemas.openxmlformats.org/drawingml/2006/main" noGrp="1"/>
          </p:cNvSpPr>
          <p:nvPr/>
        </p:nvSpPr>
        <p:spPr>
          <a:xfrm xmlns:a="http://schemas.openxmlformats.org/drawingml/2006/main">
            <a:off x="11049000" y="6496050"/>
            <a:ext cx="609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050" b="0">
                <a:solidFill>
                  <a:srgbClr val="587080"/>
                </a:solidFill>
                <a:latin typeface="Arial"/>
                <a:ea typeface="Arial"/>
                <a:cs typeface="Arial"/>
              </a:defRPr>
            </a:defPPr>
          </a:lstStyle>
          <a:p xmlns:a="http://schemas.openxmlformats.org/drawingml/2006/main">
            <a:pPr algn="r">
              <a:defRPr sz="1050" b="0">
                <a:solidFill>
                  <a:srgbClr val="587080"/>
                </a:solidFill>
                <a:latin typeface="Arial"/>
                <a:ea typeface="Arial"/>
                <a:cs typeface="Arial"/>
              </a:defRPr>
            </a:pPr>
            <a:r>
              <a:rPr sz="1050" b="0">
                <a:solidFill>
                  <a:srgbClr val="587080"/>
                </a:solidFill>
                <a:latin typeface="Arial"/>
                <a:ea typeface="Arial"/>
                <a:cs typeface="Arial"/>
              </a:rPr>
              <a:t>11</a:t>
            </a:r>
          </a:p>
        </p:txBody>
      </p:sp>
      <p:sp>
        <p:nvSpPr>
          <p:cNvPr id="6" name="text-187">
            <a:extLst xmlns:a="http://schemas.openxmlformats.org/drawingml/2006/main">
              <a:ext uri="{FF2B5EF4-FFF2-40B4-BE49-F238E27FC236}">
                <a16:creationId xmlns:a16="http://schemas.microsoft.com/office/drawing/2014/main" id="{692E23A6-0600-44C9-AA3F-6A8C0947D5B5}"/>
              </a:ext>
            </a:extLst>
          </p:cNvPr>
          <p:cNvSpPr>
            <a:spLocks xmlns:a="http://schemas.openxmlformats.org/drawingml/2006/main" noGrp="1"/>
          </p:cNvSpPr>
          <p:nvPr/>
        </p:nvSpPr>
        <p:spPr>
          <a:xfrm xmlns:a="http://schemas.openxmlformats.org/drawingml/2006/main">
            <a:off x="533400" y="1666875"/>
            <a:ext cx="4667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500" b="1">
                <a:solidFill>
                  <a:srgbClr val="087F83"/>
                </a:solidFill>
                <a:latin typeface="Arial"/>
                <a:ea typeface="Arial"/>
                <a:cs typeface="Arial"/>
              </a:defRPr>
            </a:defPPr>
          </a:lstStyle>
          <a:p xmlns:a="http://schemas.openxmlformats.org/drawingml/2006/main">
            <a:pPr algn="l">
              <a:defRPr sz="4500" b="1">
                <a:solidFill>
                  <a:srgbClr val="087F83"/>
                </a:solidFill>
                <a:latin typeface="Arial"/>
                <a:ea typeface="Arial"/>
                <a:cs typeface="Arial"/>
              </a:defRPr>
            </a:pPr>
            <a:r>
              <a:rPr sz="4500" b="1">
                <a:solidFill>
                  <a:srgbClr val="087F83"/>
                </a:solidFill>
                <a:latin typeface="Arial"/>
                <a:ea typeface="Arial"/>
                <a:cs typeface="Arial"/>
              </a:rPr>
              <a:t>≤ 3 giây</a:t>
            </a:r>
          </a:p>
        </p:txBody>
      </p:sp>
      <p:sp>
        <p:nvSpPr>
          <p:cNvPr id="7" name="text-188">
            <a:extLst xmlns:a="http://schemas.openxmlformats.org/drawingml/2006/main">
              <a:ext uri="{FF2B5EF4-FFF2-40B4-BE49-F238E27FC236}">
                <a16:creationId xmlns:a16="http://schemas.microsoft.com/office/drawing/2014/main" id="{FBF123DD-FE42-4A9D-9FF5-6EEA50611D82}"/>
              </a:ext>
            </a:extLst>
          </p:cNvPr>
          <p:cNvSpPr>
            <a:spLocks xmlns:a="http://schemas.openxmlformats.org/drawingml/2006/main" noGrp="1"/>
          </p:cNvSpPr>
          <p:nvPr/>
        </p:nvSpPr>
        <p:spPr>
          <a:xfrm xmlns:a="http://schemas.openxmlformats.org/drawingml/2006/main">
            <a:off x="533400" y="2533650"/>
            <a:ext cx="5048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7364A"/>
                </a:solidFill>
                <a:latin typeface="Arial"/>
                <a:ea typeface="Arial"/>
                <a:cs typeface="Arial"/>
              </a:defRPr>
            </a:defPPr>
          </a:lstStyle>
          <a:p xmlns:a="http://schemas.openxmlformats.org/drawingml/2006/main">
            <a:pPr algn="l">
              <a:defRPr sz="2025" b="1">
                <a:solidFill>
                  <a:srgbClr val="17364A"/>
                </a:solidFill>
                <a:latin typeface="Arial"/>
                <a:ea typeface="Arial"/>
                <a:cs typeface="Arial"/>
              </a:defRPr>
            </a:pPr>
            <a:r>
              <a:rPr sz="2025" b="1">
                <a:solidFill>
                  <a:srgbClr val="17364A"/>
                </a:solidFill>
                <a:latin typeface="Arial"/>
                <a:ea typeface="Arial"/>
                <a:cs typeface="Arial"/>
              </a:rPr>
              <a:t>p95 time-to-first-model-token</a:t>
            </a:r>
          </a:p>
        </p:txBody>
      </p:sp>
      <p:sp>
        <p:nvSpPr>
          <p:cNvPr id="8" name="text-189">
            <a:extLst xmlns:a="http://schemas.openxmlformats.org/drawingml/2006/main">
              <a:ext uri="{FF2B5EF4-FFF2-40B4-BE49-F238E27FC236}">
                <a16:creationId xmlns:a16="http://schemas.microsoft.com/office/drawing/2014/main" id="{102061A1-A9C1-44FD-BC10-DDC99B07158A}"/>
              </a:ext>
            </a:extLst>
          </p:cNvPr>
          <p:cNvSpPr>
            <a:spLocks xmlns:a="http://schemas.openxmlformats.org/drawingml/2006/main" noGrp="1"/>
          </p:cNvSpPr>
          <p:nvPr/>
        </p:nvSpPr>
        <p:spPr>
          <a:xfrm xmlns:a="http://schemas.openxmlformats.org/drawingml/2006/main">
            <a:off x="533400" y="3143250"/>
            <a:ext cx="5095875" cy="923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87080"/>
                </a:solidFill>
                <a:latin typeface="Arial"/>
                <a:ea typeface="Arial"/>
                <a:cs typeface="Arial"/>
              </a:defRPr>
            </a:defPPr>
          </a:lstStyle>
          <a:p xmlns:a="http://schemas.openxmlformats.org/drawingml/2006/main">
            <a:pPr algn="l">
              <a:defRPr sz="1875" b="0">
                <a:solidFill>
                  <a:srgbClr val="587080"/>
                </a:solidFill>
                <a:latin typeface="Arial"/>
                <a:ea typeface="Arial"/>
                <a:cs typeface="Arial"/>
              </a:defRPr>
            </a:pPr>
            <a:r>
              <a:rPr sz="1875" b="0">
                <a:solidFill>
                  <a:srgbClr val="587080"/>
                </a:solidFill>
                <a:latin typeface="Arial"/>
                <a:ea typeface="Arial"/>
                <a:cs typeface="Arial"/>
              </a:rPr>
              <a:t>Mục tiêu giờ cao điểm, đo từ Việt Nam.</a:t>
            </a:r>
          </a:p>
          <a:p xmlns:a="http://schemas.openxmlformats.org/drawingml/2006/main">
            <a:pPr algn="l">
              <a:defRPr sz="1875" b="0">
                <a:solidFill>
                  <a:srgbClr val="587080"/>
                </a:solidFill>
                <a:latin typeface="Arial"/>
                <a:ea typeface="Arial"/>
                <a:cs typeface="Arial"/>
              </a:defRPr>
            </a:pPr>
            <a:r>
              <a:rPr sz="1875" b="0">
                <a:solidFill>
                  <a:srgbClr val="587080"/>
                </a:solidFill>
                <a:latin typeface="Arial"/>
                <a:ea typeface="Arial"/>
                <a:cs typeface="Arial"/>
              </a:rPr>
              <a:t>Chưa có benchmark xác nhận.</a:t>
            </a:r>
          </a:p>
        </p:txBody>
      </p:sp>
      <p:sp>
        <p:nvSpPr>
          <p:cNvPr id="9" name="text-190">
            <a:extLst xmlns:a="http://schemas.openxmlformats.org/drawingml/2006/main">
              <a:ext uri="{FF2B5EF4-FFF2-40B4-BE49-F238E27FC236}">
                <a16:creationId xmlns:a16="http://schemas.microsoft.com/office/drawing/2014/main" id="{B0D75392-5941-4A22-AF2D-5DF0A500F513}"/>
              </a:ext>
            </a:extLst>
          </p:cNvPr>
          <p:cNvSpPr>
            <a:spLocks xmlns:a="http://schemas.openxmlformats.org/drawingml/2006/main" noGrp="1"/>
          </p:cNvSpPr>
          <p:nvPr/>
        </p:nvSpPr>
        <p:spPr>
          <a:xfrm xmlns:a="http://schemas.openxmlformats.org/drawingml/2006/main">
            <a:off x="6572250" y="1685925"/>
            <a:ext cx="50863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087F83"/>
                </a:solidFill>
                <a:latin typeface="Arial"/>
                <a:ea typeface="Arial"/>
                <a:cs typeface="Arial"/>
              </a:defRPr>
            </a:defPPr>
          </a:lstStyle>
          <a:p xmlns:a="http://schemas.openxmlformats.org/drawingml/2006/main">
            <a:pPr algn="l">
              <a:defRPr sz="2100" b="1">
                <a:solidFill>
                  <a:srgbClr val="087F83"/>
                </a:solidFill>
                <a:latin typeface="Arial"/>
                <a:ea typeface="Arial"/>
                <a:cs typeface="Arial"/>
              </a:defRPr>
            </a:pPr>
            <a:r>
              <a:rPr sz="2100" b="1">
                <a:solidFill>
                  <a:srgbClr val="087F83"/>
                </a:solidFill>
                <a:latin typeface="Arial"/>
                <a:ea typeface="Arial"/>
                <a:cs typeface="Arial"/>
              </a:rPr>
              <a:t>Các tín hiệu cần theo dõi</a:t>
            </a:r>
          </a:p>
        </p:txBody>
      </p:sp>
      <p:sp>
        <p:nvSpPr>
          <p:cNvPr id="10" name="text-191">
            <a:extLst xmlns:a="http://schemas.openxmlformats.org/drawingml/2006/main">
              <a:ext uri="{FF2B5EF4-FFF2-40B4-BE49-F238E27FC236}">
                <a16:creationId xmlns:a16="http://schemas.microsoft.com/office/drawing/2014/main" id="{58F1D68E-B4D6-42FC-A064-D29BCDE34D26}"/>
              </a:ext>
            </a:extLst>
          </p:cNvPr>
          <p:cNvSpPr>
            <a:spLocks xmlns:a="http://schemas.openxmlformats.org/drawingml/2006/main" noGrp="1"/>
          </p:cNvSpPr>
          <p:nvPr/>
        </p:nvSpPr>
        <p:spPr>
          <a:xfrm xmlns:a="http://schemas.openxmlformats.org/drawingml/2006/main">
            <a:off x="6572250" y="2333625"/>
            <a:ext cx="5086350" cy="2619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7364A"/>
                </a:solidFill>
                <a:latin typeface="Arial"/>
                <a:ea typeface="Arial"/>
                <a:cs typeface="Arial"/>
              </a:defRPr>
            </a:defPPr>
          </a:lstStyle>
          <a:p xmlns:a="http://schemas.openxmlformats.org/drawingml/2006/main">
            <a:pPr algn="l">
              <a:defRPr sz="1800" b="0">
                <a:solidFill>
                  <a:srgbClr val="17364A"/>
                </a:solidFill>
                <a:latin typeface="Arial"/>
                <a:ea typeface="Arial"/>
                <a:cs typeface="Arial"/>
              </a:defRPr>
            </a:pPr>
            <a:r>
              <a:rPr sz="1800" b="0">
                <a:solidFill>
                  <a:srgbClr val="17364A"/>
                </a:solidFill>
                <a:latin typeface="Arial"/>
                <a:ea typeface="Arial"/>
                <a:cs typeface="Arial"/>
              </a:rPr>
              <a:t>SSO, retrieval, model TTFT, end-to-end</a:t>
            </a:r>
          </a:p>
          <a:p xmlns:a="http://schemas.openxmlformats.org/drawingml/2006/main">
            <a:r>
              <a:t/>
            </a:r>
          </a:p>
          <a:p xmlns:a="http://schemas.openxmlformats.org/drawingml/2006/main">
            <a:pPr algn="l">
              <a:defRPr sz="1800" b="0">
                <a:solidFill>
                  <a:srgbClr val="17364A"/>
                </a:solidFill>
                <a:latin typeface="Arial"/>
                <a:ea typeface="Arial"/>
                <a:cs typeface="Arial"/>
              </a:defRPr>
            </a:pPr>
            <a:r>
              <a:rPr sz="1800" b="0">
                <a:solidFill>
                  <a:srgbClr val="17364A"/>
                </a:solidFill>
                <a:latin typeface="Arial"/>
                <a:ea typeface="Arial"/>
                <a:cs typeface="Arial"/>
              </a:rPr>
              <a:t>Tokens và USD theo user / đơn vị</a:t>
            </a:r>
          </a:p>
          <a:p xmlns:a="http://schemas.openxmlformats.org/drawingml/2006/main">
            <a:r>
              <a:t/>
            </a:r>
          </a:p>
          <a:p xmlns:a="http://schemas.openxmlformats.org/drawingml/2006/main">
            <a:pPr algn="l">
              <a:defRPr sz="1800" b="0">
                <a:solidFill>
                  <a:srgbClr val="17364A"/>
                </a:solidFill>
                <a:latin typeface="Arial"/>
                <a:ea typeface="Arial"/>
                <a:cs typeface="Arial"/>
              </a:defRPr>
            </a:pPr>
            <a:r>
              <a:rPr sz="1800" b="0">
                <a:solidFill>
                  <a:srgbClr val="17364A"/>
                </a:solidFill>
                <a:latin typeface="Arial"/>
                <a:ea typeface="Arial"/>
                <a:cs typeface="Arial"/>
              </a:rPr>
              <a:t>429, lỗi tool, queue age, DLQ</a:t>
            </a:r>
          </a:p>
          <a:p xmlns:a="http://schemas.openxmlformats.org/drawingml/2006/main">
            <a:r>
              <a:t/>
            </a:r>
          </a:p>
          <a:p xmlns:a="http://schemas.openxmlformats.org/drawingml/2006/main">
            <a:pPr algn="l">
              <a:defRPr sz="1800" b="0">
                <a:solidFill>
                  <a:srgbClr val="17364A"/>
                </a:solidFill>
                <a:latin typeface="Arial"/>
                <a:ea typeface="Arial"/>
                <a:cs typeface="Arial"/>
              </a:defRPr>
            </a:pPr>
            <a:r>
              <a:rPr sz="1800" b="0">
                <a:solidFill>
                  <a:srgbClr val="17364A"/>
                </a:solidFill>
                <a:latin typeface="Arial"/>
                <a:ea typeface="Arial"/>
                <a:cs typeface="Arial"/>
              </a:rPr>
              <a:t>Session sandbox mồ côi, ACL deny</a:t>
            </a:r>
          </a:p>
        </p:txBody>
      </p:sp>
      <p:sp>
        <p:nvSpPr>
          <p:cNvPr id="11" name="shape-192">
            <a:extLst xmlns:a="http://schemas.openxmlformats.org/drawingml/2006/main">
              <a:ext uri="{FF2B5EF4-FFF2-40B4-BE49-F238E27FC236}">
                <a16:creationId xmlns:a16="http://schemas.microsoft.com/office/drawing/2014/main" id="{BB99C871-25A4-4ECB-BCF7-4ABF3A401FA1}"/>
              </a:ext>
            </a:extLst>
          </p:cNvPr>
          <p:cNvSpPr>
            <a:spLocks xmlns:a="http://schemas.openxmlformats.org/drawingml/2006/main" noGrp="1"/>
          </p:cNvSpPr>
          <p:nvPr/>
        </p:nvSpPr>
        <p:spPr>
          <a:xfrm xmlns:a="http://schemas.openxmlformats.org/drawingml/2006/main">
            <a:off x="533400" y="5810250"/>
            <a:ext cx="11125200" cy="400050"/>
          </a:xfrm>
          <a:prstGeom xmlns:a="http://schemas.openxmlformats.org/drawingml/2006/main" prst="rect">
            <a:avLst/>
          </a:prstGeom>
          <a:solidFill xmlns:a="http://schemas.openxmlformats.org/drawingml/2006/main">
            <a:srgbClr val="E8F4F3"/>
          </a:solidFill>
          <a:ln xmlns:a="http://schemas.openxmlformats.org/drawingml/2006/main" w="0">
            <a:noFill/>
            <a:prstDash val="solid"/>
          </a:ln>
        </p:spPr>
      </p:sp>
      <p:sp>
        <p:nvSpPr>
          <p:cNvPr id="12" name="text-193">
            <a:extLst xmlns:a="http://schemas.openxmlformats.org/drawingml/2006/main">
              <a:ext uri="{FF2B5EF4-FFF2-40B4-BE49-F238E27FC236}">
                <a16:creationId xmlns:a16="http://schemas.microsoft.com/office/drawing/2014/main" id="{A55AE66D-7558-4945-B7F3-8EEBC264432B}"/>
              </a:ext>
            </a:extLst>
          </p:cNvPr>
          <p:cNvSpPr>
            <a:spLocks xmlns:a="http://schemas.openxmlformats.org/drawingml/2006/main" noGrp="1"/>
          </p:cNvSpPr>
          <p:nvPr/>
        </p:nvSpPr>
        <p:spPr>
          <a:xfrm xmlns:a="http://schemas.openxmlformats.org/drawingml/2006/main">
            <a:off x="666750" y="5905500"/>
            <a:ext cx="10858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17364A"/>
                </a:solidFill>
                <a:latin typeface="Arial"/>
                <a:ea typeface="Arial"/>
                <a:cs typeface="Arial"/>
              </a:defRPr>
            </a:defPPr>
          </a:lstStyle>
          <a:p xmlns:a="http://schemas.openxmlformats.org/drawingml/2006/main">
            <a:pPr algn="l">
              <a:defRPr sz="1350" b="0">
                <a:solidFill>
                  <a:srgbClr val="17364A"/>
                </a:solidFill>
                <a:latin typeface="Arial"/>
                <a:ea typeface="Arial"/>
                <a:cs typeface="Arial"/>
              </a:defRPr>
            </a:pPr>
            <a:r>
              <a:rPr sz="1350" b="0">
                <a:solidFill>
                  <a:srgbClr val="17364A"/>
                </a:solidFill>
                <a:latin typeface="Arial"/>
                <a:ea typeface="Arial"/>
                <a:cs typeface="Arial"/>
              </a:rPr>
              <a:t>Nền ≤ 10 phút, trả job ID và trạng thái. Bedrock quota phải có headroom trước mở production.</a:t>
            </a:r>
          </a:p>
        </p:txBody>
      </p:sp>
    </p:spTree>
    <p:extLst>
      <p:ext uri="{BB962C8B-B14F-4D97-AF65-F5344CB8AC3E}">
        <p14:creationId xmlns:p14="http://schemas.microsoft.com/office/powerpoint/2010/main" val="100747480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hape-194">
            <a:extLst xmlns:a="http://schemas.openxmlformats.org/drawingml/2006/main">
              <a:ext uri="{FF2B5EF4-FFF2-40B4-BE49-F238E27FC236}">
                <a16:creationId xmlns:a16="http://schemas.microsoft.com/office/drawing/2014/main" id="{CF91A243-AA07-4000-B113-97B8A2F3F63F}"/>
              </a:ext>
            </a:extLst>
          </p:cNvPr>
          <p:cNvSpPr>
            <a:spLocks xmlns:a="http://schemas.openxmlformats.org/drawingml/2006/main" noGrp="1"/>
          </p:cNvSpPr>
          <p:nvPr/>
        </p:nvSpPr>
        <p:spPr>
          <a:xfrm xmlns:a="http://schemas.openxmlformats.org/drawingml/2006/main">
            <a:off x="533400" y="428625"/>
            <a:ext cx="419100" cy="47625"/>
          </a:xfrm>
          <a:prstGeom xmlns:a="http://schemas.openxmlformats.org/drawingml/2006/main" prst="rect">
            <a:avLst/>
          </a:prstGeom>
          <a:solidFill xmlns:a="http://schemas.openxmlformats.org/drawingml/2006/main">
            <a:srgbClr val="087F83"/>
          </a:solidFill>
          <a:ln xmlns:a="http://schemas.openxmlformats.org/drawingml/2006/main" w="0">
            <a:noFill/>
            <a:prstDash val="solid"/>
          </a:ln>
        </p:spPr>
      </p:sp>
      <p:sp>
        <p:nvSpPr>
          <p:cNvPr id="2" name="text-195">
            <a:extLst xmlns:a="http://schemas.openxmlformats.org/drawingml/2006/main">
              <a:ext uri="{FF2B5EF4-FFF2-40B4-BE49-F238E27FC236}">
                <a16:creationId xmlns:a16="http://schemas.microsoft.com/office/drawing/2014/main" id="{9BCC654A-2D58-4191-9439-639BAD9104A0}"/>
              </a:ext>
            </a:extLst>
          </p:cNvPr>
          <p:cNvSpPr>
            <a:spLocks xmlns:a="http://schemas.openxmlformats.org/drawingml/2006/main" noGrp="1"/>
          </p:cNvSpPr>
          <p:nvPr/>
        </p:nvSpPr>
        <p:spPr>
          <a:xfrm xmlns:a="http://schemas.openxmlformats.org/drawingml/2006/main">
            <a:off x="533400" y="657225"/>
            <a:ext cx="111252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7364A"/>
                </a:solidFill>
                <a:latin typeface="Arial"/>
                <a:ea typeface="Arial"/>
                <a:cs typeface="Arial"/>
              </a:defRPr>
            </a:defPPr>
          </a:lstStyle>
          <a:p xmlns:a="http://schemas.openxmlformats.org/drawingml/2006/main">
            <a:pPr algn="l">
              <a:defRPr sz="2700" b="1">
                <a:solidFill>
                  <a:srgbClr val="17364A"/>
                </a:solidFill>
                <a:latin typeface="Arial"/>
                <a:ea typeface="Arial"/>
                <a:cs typeface="Arial"/>
              </a:defRPr>
            </a:pPr>
            <a:r>
              <a:rPr sz="2700" b="1">
                <a:solidFill>
                  <a:srgbClr val="17364A"/>
                </a:solidFill>
                <a:latin typeface="Arial"/>
                <a:ea typeface="Arial"/>
                <a:cs typeface="Arial"/>
              </a:rPr>
              <a:t>Tổng dự toán là 6.022,78 USD mỗi tháng</a:t>
            </a:r>
          </a:p>
        </p:txBody>
      </p:sp>
      <p:sp>
        <p:nvSpPr>
          <p:cNvPr id="3" name="shape-196">
            <a:extLst xmlns:a="http://schemas.openxmlformats.org/drawingml/2006/main">
              <a:ext uri="{FF2B5EF4-FFF2-40B4-BE49-F238E27FC236}">
                <a16:creationId xmlns:a16="http://schemas.microsoft.com/office/drawing/2014/main" id="{7C815EB7-8527-48C1-AF14-98ADABB74E4A}"/>
              </a:ext>
            </a:extLst>
          </p:cNvPr>
          <p:cNvSpPr>
            <a:spLocks xmlns:a="http://schemas.openxmlformats.org/drawingml/2006/main" noGrp="1"/>
          </p:cNvSpPr>
          <p:nvPr/>
        </p:nvSpPr>
        <p:spPr>
          <a:xfrm xmlns:a="http://schemas.openxmlformats.org/drawingml/2006/main">
            <a:off x="533400" y="6381750"/>
            <a:ext cx="11125200" cy="9525"/>
          </a:xfrm>
          <a:prstGeom xmlns:a="http://schemas.openxmlformats.org/drawingml/2006/main" prst="rect">
            <a:avLst/>
          </a:prstGeom>
          <a:solidFill xmlns:a="http://schemas.openxmlformats.org/drawingml/2006/main">
            <a:srgbClr val="D1DEE5"/>
          </a:solidFill>
          <a:ln xmlns:a="http://schemas.openxmlformats.org/drawingml/2006/main" w="0">
            <a:noFill/>
            <a:prstDash val="solid"/>
          </a:ln>
        </p:spPr>
      </p:sp>
      <p:sp>
        <p:nvSpPr>
          <p:cNvPr id="4" name="text-197">
            <a:extLst xmlns:a="http://schemas.openxmlformats.org/drawingml/2006/main">
              <a:ext uri="{FF2B5EF4-FFF2-40B4-BE49-F238E27FC236}">
                <a16:creationId xmlns:a16="http://schemas.microsoft.com/office/drawing/2014/main" id="{8E300AFB-AE3B-4395-B096-14CF07B66471}"/>
              </a:ext>
            </a:extLst>
          </p:cNvPr>
          <p:cNvSpPr>
            <a:spLocks xmlns:a="http://schemas.openxmlformats.org/drawingml/2006/main" noGrp="1"/>
          </p:cNvSpPr>
          <p:nvPr/>
        </p:nvSpPr>
        <p:spPr>
          <a:xfrm xmlns:a="http://schemas.openxmlformats.org/drawingml/2006/main">
            <a:off x="533400" y="651510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87080"/>
                </a:solidFill>
                <a:latin typeface="Arial"/>
                <a:ea typeface="Arial"/>
                <a:cs typeface="Arial"/>
              </a:defRPr>
            </a:defPPr>
          </a:lstStyle>
          <a:p xmlns:a="http://schemas.openxmlformats.org/drawingml/2006/main">
            <a:pPr algn="l">
              <a:defRPr sz="975" b="0">
                <a:solidFill>
                  <a:srgbClr val="587080"/>
                </a:solidFill>
                <a:latin typeface="Arial"/>
                <a:ea typeface="Arial"/>
                <a:cs typeface="Arial"/>
              </a:defRPr>
            </a:pPr>
            <a:r>
              <a:rPr sz="975" b="0">
                <a:solidFill>
                  <a:srgbClr val="587080"/>
                </a:solidFill>
                <a:latin typeface="Arial"/>
                <a:ea typeface="Arial"/>
                <a:cs typeface="Arial"/>
              </a:rPr>
              <a:t>G03  /  Eviaura</a:t>
            </a:r>
          </a:p>
        </p:txBody>
      </p:sp>
      <p:sp>
        <p:nvSpPr>
          <p:cNvPr id="5" name="text-198">
            <a:extLst xmlns:a="http://schemas.openxmlformats.org/drawingml/2006/main">
              <a:ext uri="{FF2B5EF4-FFF2-40B4-BE49-F238E27FC236}">
                <a16:creationId xmlns:a16="http://schemas.microsoft.com/office/drawing/2014/main" id="{F4FC1E05-8930-4F16-9FC8-5E2DDA669220}"/>
              </a:ext>
            </a:extLst>
          </p:cNvPr>
          <p:cNvSpPr>
            <a:spLocks xmlns:a="http://schemas.openxmlformats.org/drawingml/2006/main" noGrp="1"/>
          </p:cNvSpPr>
          <p:nvPr/>
        </p:nvSpPr>
        <p:spPr>
          <a:xfrm xmlns:a="http://schemas.openxmlformats.org/drawingml/2006/main">
            <a:off x="11049000" y="6496050"/>
            <a:ext cx="609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050" b="0">
                <a:solidFill>
                  <a:srgbClr val="587080"/>
                </a:solidFill>
                <a:latin typeface="Arial"/>
                <a:ea typeface="Arial"/>
                <a:cs typeface="Arial"/>
              </a:defRPr>
            </a:defPPr>
          </a:lstStyle>
          <a:p xmlns:a="http://schemas.openxmlformats.org/drawingml/2006/main">
            <a:pPr algn="r">
              <a:defRPr sz="1050" b="0">
                <a:solidFill>
                  <a:srgbClr val="587080"/>
                </a:solidFill>
                <a:latin typeface="Arial"/>
                <a:ea typeface="Arial"/>
                <a:cs typeface="Arial"/>
              </a:defRPr>
            </a:pPr>
            <a:r>
              <a:rPr sz="1050" b="0">
                <a:solidFill>
                  <a:srgbClr val="587080"/>
                </a:solidFill>
                <a:latin typeface="Arial"/>
                <a:ea typeface="Arial"/>
                <a:cs typeface="Arial"/>
              </a:rPr>
              <a:t>12</a:t>
            </a:r>
          </a:p>
        </p:txBody>
      </p:sp>
      <p:sp>
        <p:nvSpPr>
          <p:cNvPr id="6" name="text-199">
            <a:extLst xmlns:a="http://schemas.openxmlformats.org/drawingml/2006/main">
              <a:ext uri="{FF2B5EF4-FFF2-40B4-BE49-F238E27FC236}">
                <a16:creationId xmlns:a16="http://schemas.microsoft.com/office/drawing/2014/main" id="{C1BEE477-F4C3-4DF0-9008-4F80657B8CBB}"/>
              </a:ext>
            </a:extLst>
          </p:cNvPr>
          <p:cNvSpPr>
            <a:spLocks xmlns:a="http://schemas.openxmlformats.org/drawingml/2006/main" noGrp="1"/>
          </p:cNvSpPr>
          <p:nvPr/>
        </p:nvSpPr>
        <p:spPr>
          <a:xfrm xmlns:a="http://schemas.openxmlformats.org/drawingml/2006/main">
            <a:off x="533400" y="1571625"/>
            <a:ext cx="111252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500" b="1">
                <a:solidFill>
                  <a:srgbClr val="087F83"/>
                </a:solidFill>
                <a:latin typeface="Arial"/>
                <a:ea typeface="Arial"/>
                <a:cs typeface="Arial"/>
              </a:defRPr>
            </a:defPPr>
          </a:lstStyle>
          <a:p xmlns:a="http://schemas.openxmlformats.org/drawingml/2006/main">
            <a:pPr algn="l">
              <a:defRPr sz="4500" b="1">
                <a:solidFill>
                  <a:srgbClr val="087F83"/>
                </a:solidFill>
                <a:latin typeface="Arial"/>
                <a:ea typeface="Arial"/>
                <a:cs typeface="Arial"/>
              </a:defRPr>
            </a:pPr>
            <a:r>
              <a:rPr sz="4500" b="1">
                <a:solidFill>
                  <a:srgbClr val="087F83"/>
                </a:solidFill>
                <a:latin typeface="Arial"/>
                <a:ea typeface="Arial"/>
                <a:cs typeface="Arial"/>
              </a:rPr>
              <a:t>6.022,78 USD</a:t>
            </a:r>
          </a:p>
        </p:txBody>
      </p:sp>
      <p:sp>
        <p:nvSpPr>
          <p:cNvPr id="7" name="text-200">
            <a:extLst xmlns:a="http://schemas.openxmlformats.org/drawingml/2006/main">
              <a:ext uri="{FF2B5EF4-FFF2-40B4-BE49-F238E27FC236}">
                <a16:creationId xmlns:a16="http://schemas.microsoft.com/office/drawing/2014/main" id="{31C248CF-C8E2-4B71-B4D3-F0D04E9F3128}"/>
              </a:ext>
            </a:extLst>
          </p:cNvPr>
          <p:cNvSpPr>
            <a:spLocks xmlns:a="http://schemas.openxmlformats.org/drawingml/2006/main" noGrp="1"/>
          </p:cNvSpPr>
          <p:nvPr/>
        </p:nvSpPr>
        <p:spPr>
          <a:xfrm xmlns:a="http://schemas.openxmlformats.org/drawingml/2006/main">
            <a:off x="552450" y="2409825"/>
            <a:ext cx="111061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587080"/>
                </a:solidFill>
                <a:latin typeface="Arial"/>
                <a:ea typeface="Arial"/>
                <a:cs typeface="Arial"/>
              </a:defRPr>
            </a:defPPr>
          </a:lstStyle>
          <a:p xmlns:a="http://schemas.openxmlformats.org/drawingml/2006/main">
            <a:pPr algn="l">
              <a:defRPr sz="2100" b="0">
                <a:solidFill>
                  <a:srgbClr val="587080"/>
                </a:solidFill>
                <a:latin typeface="Arial"/>
                <a:ea typeface="Arial"/>
                <a:cs typeface="Arial"/>
              </a:defRPr>
            </a:pPr>
            <a:r>
              <a:rPr sz="2100" b="0">
                <a:solidFill>
                  <a:srgbClr val="587080"/>
                </a:solidFill>
                <a:latin typeface="Arial"/>
                <a:ea typeface="Arial"/>
                <a:cs typeface="Arial"/>
              </a:rPr>
              <a:t>3,01 USD/DAU/tháng</a:t>
            </a:r>
          </a:p>
        </p:txBody>
      </p:sp>
      <p:graphicFrame>
        <p:nvGraphicFramePr>
          <p:cNvPr id="8" name="">
            <a:extLst xmlns:a="http://schemas.openxmlformats.org/drawingml/2006/main">
              <a:ext uri="{FF2B5EF4-FFF2-40B4-BE49-F238E27FC236}">
                <a16:creationId xmlns:a16="http://schemas.microsoft.com/office/drawing/2014/main" id="{AA297989-7FD6-4B0A-8583-71B18E743096}"/>
              </a:ext>
            </a:extLst>
          </p:cNvPr>
          <p:cNvGraphicFramePr/>
          <p:nvPr/>
        </p:nvGraphicFramePr>
        <p:xfrm>
          <a:off xmlns:a="http://schemas.openxmlformats.org/drawingml/2006/main" x="533400" y="3048000"/>
          <a:ext xmlns:a="http://schemas.openxmlformats.org/drawingml/2006/main" cx="5143500" cy="2714625"/>
        </p:xfrm>
        <a:graphic xmlns:a="http://schemas.openxmlformats.org/drawingml/2006/main">
          <a:graphicData uri="http://schemas.openxmlformats.org/drawingml/2006/table">
            <a:tbl>
              <a:tblPr firstRow="0" bandRow="0"/>
              <a:tblGrid>
                <a:gridCol w="3333750"/>
                <a:gridCol w="1809750"/>
              </a:tblGrid>
              <a:tr h="542925">
                <a:tc>
                  <a:txBody>
                    <a:bodyPr lIns="85725" tIns="85725" rIns="85725" bIns="85725"/>
                    <a:lstStyle/>
                    <a:p>
                      <a:r>
                        <a:rPr sz="1800" b="1">
                          <a:solidFill>
                            <a:srgbClr val="FFFFFF"/>
                          </a:solidFill>
                          <a:latin typeface="Arial"/>
                          <a:ea typeface="Arial"/>
                          <a:cs typeface="Arial"/>
                        </a:rPr>
                        <a:t>Khoản</a:t>
                      </a:r>
                    </a:p>
                  </a:txBody>
                  <a:tcPr marL="91440" marR="91440" marT="45720" marB="45720" anchor="ctr">
                    <a:lnL w="5715">
                      <a:solidFill>
                        <a:srgbClr val="D1DEE5"/>
                      </a:solidFill>
                      <a:prstDash val="solid"/>
                    </a:lnL>
                    <a:lnR w="5715">
                      <a:solidFill>
                        <a:srgbClr val="D1DEE5"/>
                      </a:solidFill>
                      <a:prstDash val="solid"/>
                    </a:lnR>
                    <a:lnT w="5715">
                      <a:solidFill>
                        <a:srgbClr val="D1DEE5"/>
                      </a:solidFill>
                      <a:prstDash val="solid"/>
                    </a:lnT>
                    <a:lnB w="5715">
                      <a:solidFill>
                        <a:srgbClr val="D1DEE5"/>
                      </a:solidFill>
                      <a:prstDash val="solid"/>
                    </a:lnB>
                    <a:solidFill>
                      <a:srgbClr val="103548"/>
                    </a:solidFill>
                  </a:tcPr>
                </a:tc>
                <a:tc>
                  <a:txBody>
                    <a:bodyPr lIns="85725" tIns="85725" rIns="85725" bIns="85725"/>
                    <a:lstStyle/>
                    <a:p>
                      <a:r>
                        <a:rPr sz="1800" b="1">
                          <a:solidFill>
                            <a:srgbClr val="FFFFFF"/>
                          </a:solidFill>
                          <a:latin typeface="Arial"/>
                          <a:ea typeface="Arial"/>
                          <a:cs typeface="Arial"/>
                        </a:rPr>
                        <a:t>USD/tháng</a:t>
                      </a:r>
                    </a:p>
                  </a:txBody>
                  <a:tcPr marL="91440" marR="91440" marT="45720" marB="45720" anchor="ctr">
                    <a:lnR w="5715">
                      <a:solidFill>
                        <a:srgbClr val="D1DEE5"/>
                      </a:solidFill>
                      <a:prstDash val="solid"/>
                    </a:lnR>
                    <a:lnT w="5715">
                      <a:solidFill>
                        <a:srgbClr val="D1DEE5"/>
                      </a:solidFill>
                      <a:prstDash val="solid"/>
                    </a:lnT>
                    <a:lnB w="5715">
                      <a:solidFill>
                        <a:srgbClr val="D1DEE5"/>
                      </a:solidFill>
                      <a:prstDash val="solid"/>
                    </a:lnB>
                    <a:solidFill>
                      <a:srgbClr val="103548"/>
                    </a:solidFill>
                  </a:tcPr>
                </a:tc>
              </a:tr>
              <a:tr h="542925">
                <a:tc>
                  <a:txBody>
                    <a:bodyPr lIns="85725" tIns="85725" rIns="85725" bIns="85725"/>
                    <a:lstStyle/>
                    <a:p>
                      <a:r>
                        <a:rPr sz="1800" b="0">
                          <a:solidFill>
                            <a:srgbClr val="17364A"/>
                          </a:solidFill>
                          <a:latin typeface="Arial"/>
                          <a:ea typeface="Arial"/>
                          <a:cs typeface="Arial"/>
                        </a:rPr>
                        <a:t>AWS định kỳ</a:t>
                      </a:r>
                    </a:p>
                  </a:txBody>
                  <a:tcPr marL="91440" marR="91440" marT="45720" marB="45720" anchor="ctr">
                    <a:lnL w="5715">
                      <a:solidFill>
                        <a:srgbClr val="D1DEE5"/>
                      </a:solidFill>
                      <a:prstDash val="solid"/>
                    </a:lnL>
                    <a:lnR w="5715">
                      <a:solidFill>
                        <a:srgbClr val="D1DEE5"/>
                      </a:solidFill>
                      <a:prstDash val="solid"/>
                    </a:lnR>
                    <a:lnB w="5715">
                      <a:solidFill>
                        <a:srgbClr val="D1DEE5"/>
                      </a:solidFill>
                      <a:prstDash val="solid"/>
                    </a:lnB>
                    <a:solidFill>
                      <a:srgbClr val="F4F8FA"/>
                    </a:solidFill>
                  </a:tcPr>
                </a:tc>
                <a:tc>
                  <a:txBody>
                    <a:bodyPr lIns="85725" tIns="85725" rIns="85725" bIns="85725"/>
                    <a:lstStyle/>
                    <a:p>
                      <a:r>
                        <a:rPr sz="1800" b="0">
                          <a:solidFill>
                            <a:srgbClr val="17364A"/>
                          </a:solidFill>
                          <a:latin typeface="Arial"/>
                          <a:ea typeface="Arial"/>
                          <a:cs typeface="Arial"/>
                        </a:rPr>
                        <a:t>5.293,44</a:t>
                      </a:r>
                    </a:p>
                  </a:txBody>
                  <a:tcPr marL="91440" marR="91440" marT="45720" marB="45720" anchor="ctr">
                    <a:lnR w="5715">
                      <a:solidFill>
                        <a:srgbClr val="D1DEE5"/>
                      </a:solidFill>
                      <a:prstDash val="solid"/>
                    </a:lnR>
                    <a:lnB w="5715">
                      <a:solidFill>
                        <a:srgbClr val="D1DEE5"/>
                      </a:solidFill>
                      <a:prstDash val="solid"/>
                    </a:lnB>
                    <a:solidFill>
                      <a:srgbClr val="F4F8FA"/>
                    </a:solidFill>
                  </a:tcPr>
                </a:tc>
              </a:tr>
              <a:tr h="542925">
                <a:tc>
                  <a:txBody>
                    <a:bodyPr lIns="85725" tIns="85725" rIns="85725" bIns="85725"/>
                    <a:lstStyle/>
                    <a:p>
                      <a:r>
                        <a:rPr sz="1800" b="0">
                          <a:solidFill>
                            <a:srgbClr val="17364A"/>
                          </a:solidFill>
                          <a:latin typeface="Arial"/>
                          <a:ea typeface="Arial"/>
                          <a:cs typeface="Arial"/>
                        </a:rPr>
                        <a:t>Nhân sự vận hành</a:t>
                      </a:r>
                    </a:p>
                  </a:txBody>
                  <a:tcPr marL="91440" marR="91440" marT="45720" marB="45720" anchor="ctr">
                    <a:lnL w="5715">
                      <a:solidFill>
                        <a:srgbClr val="D1DEE5"/>
                      </a:solidFill>
                      <a:prstDash val="solid"/>
                    </a:lnL>
                    <a:lnR w="5715">
                      <a:solidFill>
                        <a:srgbClr val="D1DEE5"/>
                      </a:solidFill>
                      <a:prstDash val="solid"/>
                    </a:lnR>
                    <a:lnB w="5715">
                      <a:solidFill>
                        <a:srgbClr val="D1DEE5"/>
                      </a:solidFill>
                      <a:prstDash val="solid"/>
                    </a:lnB>
                    <a:solidFill>
                      <a:srgbClr val="FFFFFF"/>
                    </a:solidFill>
                  </a:tcPr>
                </a:tc>
                <a:tc>
                  <a:txBody>
                    <a:bodyPr lIns="85725" tIns="85725" rIns="85725" bIns="85725"/>
                    <a:lstStyle/>
                    <a:p>
                      <a:r>
                        <a:rPr sz="1800" b="0">
                          <a:solidFill>
                            <a:srgbClr val="17364A"/>
                          </a:solidFill>
                          <a:latin typeface="Arial"/>
                          <a:ea typeface="Arial"/>
                          <a:cs typeface="Arial"/>
                        </a:rPr>
                        <a:t>200,00</a:t>
                      </a:r>
                    </a:p>
                  </a:txBody>
                  <a:tcPr marL="91440" marR="91440" marT="45720" marB="45720" anchor="ctr">
                    <a:lnR w="5715">
                      <a:solidFill>
                        <a:srgbClr val="D1DEE5"/>
                      </a:solidFill>
                      <a:prstDash val="solid"/>
                    </a:lnR>
                    <a:lnB w="5715">
                      <a:solidFill>
                        <a:srgbClr val="D1DEE5"/>
                      </a:solidFill>
                      <a:prstDash val="solid"/>
                    </a:lnB>
                    <a:solidFill>
                      <a:srgbClr val="FFFFFF"/>
                    </a:solidFill>
                  </a:tcPr>
                </a:tc>
              </a:tr>
              <a:tr h="542925">
                <a:tc>
                  <a:txBody>
                    <a:bodyPr lIns="85725" tIns="85725" rIns="85725" bIns="85725"/>
                    <a:lstStyle/>
                    <a:p>
                      <a:r>
                        <a:rPr sz="1800" b="0">
                          <a:solidFill>
                            <a:srgbClr val="17364A"/>
                          </a:solidFill>
                          <a:latin typeface="Arial"/>
                          <a:ea typeface="Arial"/>
                          <a:cs typeface="Arial"/>
                        </a:rPr>
                        <a:t>Dự phòng</a:t>
                      </a:r>
                    </a:p>
                  </a:txBody>
                  <a:tcPr marL="91440" marR="91440" marT="45720" marB="45720" anchor="ctr">
                    <a:lnL w="5715">
                      <a:solidFill>
                        <a:srgbClr val="D1DEE5"/>
                      </a:solidFill>
                      <a:prstDash val="solid"/>
                    </a:lnL>
                    <a:lnR w="5715">
                      <a:solidFill>
                        <a:srgbClr val="D1DEE5"/>
                      </a:solidFill>
                      <a:prstDash val="solid"/>
                    </a:lnR>
                    <a:lnB w="5715">
                      <a:solidFill>
                        <a:srgbClr val="D1DEE5"/>
                      </a:solidFill>
                      <a:prstDash val="solid"/>
                    </a:lnB>
                    <a:solidFill>
                      <a:srgbClr val="F4F8FA"/>
                    </a:solidFill>
                  </a:tcPr>
                </a:tc>
                <a:tc>
                  <a:txBody>
                    <a:bodyPr lIns="85725" tIns="85725" rIns="85725" bIns="85725"/>
                    <a:lstStyle/>
                    <a:p>
                      <a:r>
                        <a:rPr sz="1800" b="0">
                          <a:solidFill>
                            <a:srgbClr val="17364A"/>
                          </a:solidFill>
                          <a:latin typeface="Arial"/>
                          <a:ea typeface="Arial"/>
                          <a:cs typeface="Arial"/>
                        </a:rPr>
                        <a:t>529,34</a:t>
                      </a:r>
                    </a:p>
                  </a:txBody>
                  <a:tcPr marL="91440" marR="91440" marT="45720" marB="45720" anchor="ctr">
                    <a:lnR w="5715">
                      <a:solidFill>
                        <a:srgbClr val="D1DEE5"/>
                      </a:solidFill>
                      <a:prstDash val="solid"/>
                    </a:lnR>
                    <a:lnB w="5715">
                      <a:solidFill>
                        <a:srgbClr val="D1DEE5"/>
                      </a:solidFill>
                      <a:prstDash val="solid"/>
                    </a:lnB>
                    <a:solidFill>
                      <a:srgbClr val="F4F8FA"/>
                    </a:solidFill>
                  </a:tcPr>
                </a:tc>
              </a:tr>
              <a:tr h="542925">
                <a:tc>
                  <a:txBody>
                    <a:bodyPr lIns="85725" tIns="85725" rIns="85725" bIns="85725"/>
                    <a:lstStyle/>
                    <a:p>
                      <a:r>
                        <a:rPr sz="1800" b="0">
                          <a:solidFill>
                            <a:srgbClr val="17364A"/>
                          </a:solidFill>
                          <a:latin typeface="Arial"/>
                          <a:ea typeface="Arial"/>
                          <a:cs typeface="Arial"/>
                        </a:rPr>
                        <a:t>TOTAL</a:t>
                      </a:r>
                    </a:p>
                  </a:txBody>
                  <a:tcPr marL="91440" marR="91440" marT="45720" marB="45720" anchor="ctr">
                    <a:lnL w="5715">
                      <a:solidFill>
                        <a:srgbClr val="D1DEE5"/>
                      </a:solidFill>
                      <a:prstDash val="solid"/>
                    </a:lnL>
                    <a:lnR w="5715">
                      <a:solidFill>
                        <a:srgbClr val="D1DEE5"/>
                      </a:solidFill>
                      <a:prstDash val="solid"/>
                    </a:lnR>
                    <a:lnB w="5715">
                      <a:solidFill>
                        <a:srgbClr val="D1DEE5"/>
                      </a:solidFill>
                      <a:prstDash val="solid"/>
                    </a:lnB>
                    <a:solidFill>
                      <a:srgbClr val="FFFFFF"/>
                    </a:solidFill>
                  </a:tcPr>
                </a:tc>
                <a:tc>
                  <a:txBody>
                    <a:bodyPr lIns="85725" tIns="85725" rIns="85725" bIns="85725"/>
                    <a:lstStyle/>
                    <a:p>
                      <a:r>
                        <a:rPr sz="1800" b="0">
                          <a:solidFill>
                            <a:srgbClr val="17364A"/>
                          </a:solidFill>
                          <a:latin typeface="Arial"/>
                          <a:ea typeface="Arial"/>
                          <a:cs typeface="Arial"/>
                        </a:rPr>
                        <a:t>6.022,78</a:t>
                      </a:r>
                    </a:p>
                  </a:txBody>
                  <a:tcPr marL="91440" marR="91440" marT="45720" marB="45720" anchor="ctr">
                    <a:lnR w="5715">
                      <a:solidFill>
                        <a:srgbClr val="D1DEE5"/>
                      </a:solidFill>
                      <a:prstDash val="solid"/>
                    </a:lnR>
                    <a:lnB w="5715">
                      <a:solidFill>
                        <a:srgbClr val="D1DEE5"/>
                      </a:solidFill>
                      <a:prstDash val="solid"/>
                    </a:lnB>
                    <a:solidFill>
                      <a:srgbClr val="FFFFFF"/>
                    </a:solidFill>
                  </a:tcPr>
                </a:tc>
              </a:tr>
            </a:tbl>
          </a:graphicData>
        </a:graphic>
      </p:graphicFrame>
      <p:sp>
        <p:nvSpPr>
          <p:cNvPr id="9" name="text-201">
            <a:extLst xmlns:a="http://schemas.openxmlformats.org/drawingml/2006/main">
              <a:ext uri="{FF2B5EF4-FFF2-40B4-BE49-F238E27FC236}">
                <a16:creationId xmlns:a16="http://schemas.microsoft.com/office/drawing/2014/main" id="{3D682291-6C92-4D30-88A9-2F81CE230AA1}"/>
              </a:ext>
            </a:extLst>
          </p:cNvPr>
          <p:cNvSpPr>
            <a:spLocks xmlns:a="http://schemas.openxmlformats.org/drawingml/2006/main" noGrp="1"/>
          </p:cNvSpPr>
          <p:nvPr/>
        </p:nvSpPr>
        <p:spPr>
          <a:xfrm xmlns:a="http://schemas.openxmlformats.org/drawingml/2006/main">
            <a:off x="6477000" y="3105150"/>
            <a:ext cx="5143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7364A"/>
                </a:solidFill>
                <a:latin typeface="Arial"/>
                <a:ea typeface="Arial"/>
                <a:cs typeface="Arial"/>
              </a:defRPr>
            </a:defPPr>
          </a:lstStyle>
          <a:p xmlns:a="http://schemas.openxmlformats.org/drawingml/2006/main">
            <a:pPr algn="l">
              <a:defRPr sz="2100" b="1">
                <a:solidFill>
                  <a:srgbClr val="17364A"/>
                </a:solidFill>
                <a:latin typeface="Arial"/>
                <a:ea typeface="Arial"/>
                <a:cs typeface="Arial"/>
              </a:defRPr>
            </a:pPr>
            <a:r>
              <a:rPr sz="2100" b="1">
                <a:solidFill>
                  <a:srgbClr val="17364A"/>
                </a:solidFill>
                <a:latin typeface="Arial"/>
                <a:ea typeface="Arial"/>
                <a:cs typeface="Arial"/>
              </a:rPr>
              <a:t>Các khoản lớn nhất</a:t>
            </a:r>
          </a:p>
        </p:txBody>
      </p:sp>
      <p:sp>
        <p:nvSpPr>
          <p:cNvPr id="10" name="text-202">
            <a:extLst xmlns:a="http://schemas.openxmlformats.org/drawingml/2006/main">
              <a:ext uri="{FF2B5EF4-FFF2-40B4-BE49-F238E27FC236}">
                <a16:creationId xmlns:a16="http://schemas.microsoft.com/office/drawing/2014/main" id="{9C2A2FAE-5B3B-4387-9803-E2505DA09813}"/>
              </a:ext>
            </a:extLst>
          </p:cNvPr>
          <p:cNvSpPr>
            <a:spLocks xmlns:a="http://schemas.openxmlformats.org/drawingml/2006/main" noGrp="1"/>
          </p:cNvSpPr>
          <p:nvPr/>
        </p:nvSpPr>
        <p:spPr>
          <a:xfrm xmlns:a="http://schemas.openxmlformats.org/drawingml/2006/main">
            <a:off x="6477000" y="3657600"/>
            <a:ext cx="51816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87080"/>
                </a:solidFill>
                <a:latin typeface="Arial"/>
                <a:ea typeface="Arial"/>
                <a:cs typeface="Arial"/>
              </a:defRPr>
            </a:defPPr>
          </a:lstStyle>
          <a:p xmlns:a="http://schemas.openxmlformats.org/drawingml/2006/main">
            <a:pPr algn="l">
              <a:defRPr sz="1875" b="0">
                <a:solidFill>
                  <a:srgbClr val="587080"/>
                </a:solidFill>
                <a:latin typeface="Arial"/>
                <a:ea typeface="Arial"/>
                <a:cs typeface="Arial"/>
              </a:defRPr>
            </a:pPr>
            <a:r>
              <a:rPr sz="1875" b="0">
                <a:solidFill>
                  <a:srgbClr val="587080"/>
                </a:solidFill>
                <a:latin typeface="Arial"/>
                <a:ea typeface="Arial"/>
                <a:cs typeface="Arial"/>
              </a:rPr>
              <a:t>4.106,33    LLM</a:t>
            </a:r>
          </a:p>
          <a:p xmlns:a="http://schemas.openxmlformats.org/drawingml/2006/main">
            <a:r>
              <a:t/>
            </a:r>
          </a:p>
          <a:p xmlns:a="http://schemas.openxmlformats.org/drawingml/2006/main">
            <a:pPr algn="l">
              <a:defRPr sz="1875" b="0">
                <a:solidFill>
                  <a:srgbClr val="587080"/>
                </a:solidFill>
                <a:latin typeface="Arial"/>
                <a:ea typeface="Arial"/>
                <a:cs typeface="Arial"/>
              </a:defRPr>
            </a:pPr>
            <a:r>
              <a:rPr sz="1875" b="0">
                <a:solidFill>
                  <a:srgbClr val="587080"/>
                </a:solidFill>
                <a:latin typeface="Arial"/>
                <a:ea typeface="Arial"/>
                <a:cs typeface="Arial"/>
              </a:rPr>
              <a:t>521,50       Object storage</a:t>
            </a:r>
          </a:p>
          <a:p xmlns:a="http://schemas.openxmlformats.org/drawingml/2006/main">
            <a:r>
              <a:t/>
            </a:r>
          </a:p>
          <a:p xmlns:a="http://schemas.openxmlformats.org/drawingml/2006/main">
            <a:pPr algn="l">
              <a:defRPr sz="1875" b="0">
                <a:solidFill>
                  <a:srgbClr val="587080"/>
                </a:solidFill>
                <a:latin typeface="Arial"/>
                <a:ea typeface="Arial"/>
                <a:cs typeface="Arial"/>
              </a:defRPr>
            </a:pPr>
            <a:r>
              <a:rPr sz="1875" b="0">
                <a:solidFill>
                  <a:srgbClr val="587080"/>
                </a:solidFill>
                <a:latin typeface="Arial"/>
                <a:ea typeface="Arial"/>
                <a:cs typeface="Arial"/>
              </a:rPr>
              <a:t>178,19       Compute</a:t>
            </a:r>
          </a:p>
          <a:p xmlns:a="http://schemas.openxmlformats.org/drawingml/2006/main">
            <a:r>
              <a:t/>
            </a:r>
          </a:p>
          <a:p xmlns:a="http://schemas.openxmlformats.org/drawingml/2006/main">
            <a:pPr algn="l">
              <a:defRPr sz="1875" b="0">
                <a:solidFill>
                  <a:srgbClr val="587080"/>
                </a:solidFill>
                <a:latin typeface="Arial"/>
                <a:ea typeface="Arial"/>
                <a:cs typeface="Arial"/>
              </a:defRPr>
            </a:pPr>
            <a:r>
              <a:rPr sz="1875" b="0">
                <a:solidFill>
                  <a:srgbClr val="587080"/>
                </a:solidFill>
                <a:latin typeface="Arial"/>
                <a:ea typeface="Arial"/>
                <a:cs typeface="Arial"/>
              </a:rPr>
              <a:t>156,83       Sandbox</a:t>
            </a:r>
          </a:p>
        </p:txBody>
      </p:sp>
      <p:sp>
        <p:nvSpPr>
          <p:cNvPr id="11" name="text-203">
            <a:extLst xmlns:a="http://schemas.openxmlformats.org/drawingml/2006/main">
              <a:ext uri="{FF2B5EF4-FFF2-40B4-BE49-F238E27FC236}">
                <a16:creationId xmlns:a16="http://schemas.microsoft.com/office/drawing/2014/main" id="{0862BBBA-BD9E-4A61-B38F-6F29336F646B}"/>
              </a:ext>
            </a:extLst>
          </p:cNvPr>
          <p:cNvSpPr>
            <a:spLocks xmlns:a="http://schemas.openxmlformats.org/drawingml/2006/main" noGrp="1"/>
          </p:cNvSpPr>
          <p:nvPr/>
        </p:nvSpPr>
        <p:spPr>
          <a:xfrm xmlns:a="http://schemas.openxmlformats.org/drawingml/2006/main">
            <a:off x="533400" y="6029325"/>
            <a:ext cx="11125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87080"/>
                </a:solidFill>
                <a:latin typeface="Arial"/>
                <a:ea typeface="Arial"/>
                <a:cs typeface="Arial"/>
              </a:defRPr>
            </a:defPPr>
          </a:lstStyle>
          <a:p xmlns:a="http://schemas.openxmlformats.org/drawingml/2006/main">
            <a:pPr algn="l">
              <a:defRPr sz="1350" b="0">
                <a:solidFill>
                  <a:srgbClr val="587080"/>
                </a:solidFill>
                <a:latin typeface="Arial"/>
                <a:ea typeface="Arial"/>
                <a:cs typeface="Arial"/>
              </a:defRPr>
            </a:pPr>
            <a:r>
              <a:rPr sz="1350" b="0">
                <a:solidFill>
                  <a:srgbClr val="587080"/>
                </a:solidFill>
                <a:latin typeface="Arial"/>
                <a:ea typeface="Arial"/>
                <a:cs typeface="Arial"/>
              </a:rPr>
              <a:t>USD, chưa VAT. Có staging và full workspace quota. Không khấu trừ ưu đãi.</a:t>
            </a:r>
          </a:p>
        </p:txBody>
      </p:sp>
    </p:spTree>
    <p:extLst>
      <p:ext uri="{BB962C8B-B14F-4D97-AF65-F5344CB8AC3E}">
        <p14:creationId xmlns:p14="http://schemas.microsoft.com/office/powerpoint/2010/main" val="210287006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hape-204">
            <a:extLst xmlns:a="http://schemas.openxmlformats.org/drawingml/2006/main">
              <a:ext uri="{FF2B5EF4-FFF2-40B4-BE49-F238E27FC236}">
                <a16:creationId xmlns:a16="http://schemas.microsoft.com/office/drawing/2014/main" id="{8EF5598B-9DE6-47E5-A6DF-08BE8B813726}"/>
              </a:ext>
            </a:extLst>
          </p:cNvPr>
          <p:cNvSpPr>
            <a:spLocks xmlns:a="http://schemas.openxmlformats.org/drawingml/2006/main" noGrp="1"/>
          </p:cNvSpPr>
          <p:nvPr/>
        </p:nvSpPr>
        <p:spPr>
          <a:xfrm xmlns:a="http://schemas.openxmlformats.org/drawingml/2006/main">
            <a:off x="533400" y="428625"/>
            <a:ext cx="419100" cy="47625"/>
          </a:xfrm>
          <a:prstGeom xmlns:a="http://schemas.openxmlformats.org/drawingml/2006/main" prst="rect">
            <a:avLst/>
          </a:prstGeom>
          <a:solidFill xmlns:a="http://schemas.openxmlformats.org/drawingml/2006/main">
            <a:srgbClr val="087F83"/>
          </a:solidFill>
          <a:ln xmlns:a="http://schemas.openxmlformats.org/drawingml/2006/main" w="0">
            <a:noFill/>
            <a:prstDash val="solid"/>
          </a:ln>
        </p:spPr>
      </p:sp>
      <p:sp>
        <p:nvSpPr>
          <p:cNvPr id="2" name="text-205">
            <a:extLst xmlns:a="http://schemas.openxmlformats.org/drawingml/2006/main">
              <a:ext uri="{FF2B5EF4-FFF2-40B4-BE49-F238E27FC236}">
                <a16:creationId xmlns:a16="http://schemas.microsoft.com/office/drawing/2014/main" id="{2477C9FB-2A99-437A-81F6-99442C61B52E}"/>
              </a:ext>
            </a:extLst>
          </p:cNvPr>
          <p:cNvSpPr>
            <a:spLocks xmlns:a="http://schemas.openxmlformats.org/drawingml/2006/main" noGrp="1"/>
          </p:cNvSpPr>
          <p:nvPr/>
        </p:nvSpPr>
        <p:spPr>
          <a:xfrm xmlns:a="http://schemas.openxmlformats.org/drawingml/2006/main">
            <a:off x="533400" y="657225"/>
            <a:ext cx="111252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7364A"/>
                </a:solidFill>
                <a:latin typeface="Arial"/>
                <a:ea typeface="Arial"/>
                <a:cs typeface="Arial"/>
              </a:defRPr>
            </a:defPPr>
          </a:lstStyle>
          <a:p xmlns:a="http://schemas.openxmlformats.org/drawingml/2006/main">
            <a:pPr algn="l">
              <a:defRPr sz="2700" b="1">
                <a:solidFill>
                  <a:srgbClr val="17364A"/>
                </a:solidFill>
                <a:latin typeface="Arial"/>
                <a:ea typeface="Arial"/>
                <a:cs typeface="Arial"/>
              </a:defRPr>
            </a:pPr>
            <a:r>
              <a:rPr sz="2700" b="1">
                <a:solidFill>
                  <a:srgbClr val="17364A"/>
                </a:solidFill>
                <a:latin typeface="Arial"/>
                <a:ea typeface="Arial"/>
                <a:cs typeface="Arial"/>
              </a:rPr>
              <a:t>Routing là đòn bẩy tiết kiệm lớn nhất</a:t>
            </a:r>
          </a:p>
        </p:txBody>
      </p:sp>
      <p:sp>
        <p:nvSpPr>
          <p:cNvPr id="3" name="shape-206">
            <a:extLst xmlns:a="http://schemas.openxmlformats.org/drawingml/2006/main">
              <a:ext uri="{FF2B5EF4-FFF2-40B4-BE49-F238E27FC236}">
                <a16:creationId xmlns:a16="http://schemas.microsoft.com/office/drawing/2014/main" id="{488EF13E-486A-4179-940C-2A56E96BEE3C}"/>
              </a:ext>
            </a:extLst>
          </p:cNvPr>
          <p:cNvSpPr>
            <a:spLocks xmlns:a="http://schemas.openxmlformats.org/drawingml/2006/main" noGrp="1"/>
          </p:cNvSpPr>
          <p:nvPr/>
        </p:nvSpPr>
        <p:spPr>
          <a:xfrm xmlns:a="http://schemas.openxmlformats.org/drawingml/2006/main">
            <a:off x="533400" y="6381750"/>
            <a:ext cx="11125200" cy="9525"/>
          </a:xfrm>
          <a:prstGeom xmlns:a="http://schemas.openxmlformats.org/drawingml/2006/main" prst="rect">
            <a:avLst/>
          </a:prstGeom>
          <a:solidFill xmlns:a="http://schemas.openxmlformats.org/drawingml/2006/main">
            <a:srgbClr val="D1DEE5"/>
          </a:solidFill>
          <a:ln xmlns:a="http://schemas.openxmlformats.org/drawingml/2006/main" w="0">
            <a:noFill/>
            <a:prstDash val="solid"/>
          </a:ln>
        </p:spPr>
      </p:sp>
      <p:sp>
        <p:nvSpPr>
          <p:cNvPr id="4" name="text-207">
            <a:extLst xmlns:a="http://schemas.openxmlformats.org/drawingml/2006/main">
              <a:ext uri="{FF2B5EF4-FFF2-40B4-BE49-F238E27FC236}">
                <a16:creationId xmlns:a16="http://schemas.microsoft.com/office/drawing/2014/main" id="{75430E0C-521B-4057-8082-D1ADD83AD760}"/>
              </a:ext>
            </a:extLst>
          </p:cNvPr>
          <p:cNvSpPr>
            <a:spLocks xmlns:a="http://schemas.openxmlformats.org/drawingml/2006/main" noGrp="1"/>
          </p:cNvSpPr>
          <p:nvPr/>
        </p:nvSpPr>
        <p:spPr>
          <a:xfrm xmlns:a="http://schemas.openxmlformats.org/drawingml/2006/main">
            <a:off x="533400" y="651510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87080"/>
                </a:solidFill>
                <a:latin typeface="Arial"/>
                <a:ea typeface="Arial"/>
                <a:cs typeface="Arial"/>
              </a:defRPr>
            </a:defPPr>
          </a:lstStyle>
          <a:p xmlns:a="http://schemas.openxmlformats.org/drawingml/2006/main">
            <a:pPr algn="l">
              <a:defRPr sz="975" b="0">
                <a:solidFill>
                  <a:srgbClr val="587080"/>
                </a:solidFill>
                <a:latin typeface="Arial"/>
                <a:ea typeface="Arial"/>
                <a:cs typeface="Arial"/>
              </a:defRPr>
            </a:pPr>
            <a:r>
              <a:rPr sz="975" b="0">
                <a:solidFill>
                  <a:srgbClr val="587080"/>
                </a:solidFill>
                <a:latin typeface="Arial"/>
                <a:ea typeface="Arial"/>
                <a:cs typeface="Arial"/>
              </a:rPr>
              <a:t>G03  /  Eviaura</a:t>
            </a:r>
          </a:p>
        </p:txBody>
      </p:sp>
      <p:sp>
        <p:nvSpPr>
          <p:cNvPr id="5" name="text-208">
            <a:extLst xmlns:a="http://schemas.openxmlformats.org/drawingml/2006/main">
              <a:ext uri="{FF2B5EF4-FFF2-40B4-BE49-F238E27FC236}">
                <a16:creationId xmlns:a16="http://schemas.microsoft.com/office/drawing/2014/main" id="{E0C6B1ED-7BDD-4FB6-BDC1-864F4742A1CA}"/>
              </a:ext>
            </a:extLst>
          </p:cNvPr>
          <p:cNvSpPr>
            <a:spLocks xmlns:a="http://schemas.openxmlformats.org/drawingml/2006/main" noGrp="1"/>
          </p:cNvSpPr>
          <p:nvPr/>
        </p:nvSpPr>
        <p:spPr>
          <a:xfrm xmlns:a="http://schemas.openxmlformats.org/drawingml/2006/main">
            <a:off x="11049000" y="6496050"/>
            <a:ext cx="609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050" b="0">
                <a:solidFill>
                  <a:srgbClr val="587080"/>
                </a:solidFill>
                <a:latin typeface="Arial"/>
                <a:ea typeface="Arial"/>
                <a:cs typeface="Arial"/>
              </a:defRPr>
            </a:defPPr>
          </a:lstStyle>
          <a:p xmlns:a="http://schemas.openxmlformats.org/drawingml/2006/main">
            <a:pPr algn="r">
              <a:defRPr sz="1050" b="0">
                <a:solidFill>
                  <a:srgbClr val="587080"/>
                </a:solidFill>
                <a:latin typeface="Arial"/>
                <a:ea typeface="Arial"/>
                <a:cs typeface="Arial"/>
              </a:defRPr>
            </a:pPr>
            <a:r>
              <a:rPr sz="1050" b="0">
                <a:solidFill>
                  <a:srgbClr val="587080"/>
                </a:solidFill>
                <a:latin typeface="Arial"/>
                <a:ea typeface="Arial"/>
                <a:cs typeface="Arial"/>
              </a:rPr>
              <a:t>13</a:t>
            </a:r>
          </a:p>
        </p:txBody>
      </p:sp>
      <p:graphicFrame>
        <p:nvGraphicFramePr>
          <p:cNvPr id="6" name="">
            <a:extLst xmlns:a="http://schemas.openxmlformats.org/drawingml/2006/main">
              <a:ext uri="{FF2B5EF4-FFF2-40B4-BE49-F238E27FC236}">
                <a16:creationId xmlns:a16="http://schemas.microsoft.com/office/drawing/2014/main" id="{93B68A70-08EE-4A38-9618-54970B9132B3}"/>
              </a:ext>
            </a:extLst>
          </p:cNvPr>
          <p:cNvGraphicFramePr/>
          <p:nvPr/>
        </p:nvGraphicFramePr>
        <p:xfrm>
          <a:off xmlns:a="http://schemas.openxmlformats.org/drawingml/2006/main" x="533400" y="1600200"/>
          <a:ext xmlns:a="http://schemas.openxmlformats.org/drawingml/2006/main" cx="11125200" cy="2857500"/>
        </p:xfrm>
        <a:graphic xmlns:a="http://schemas.openxmlformats.org/drawingml/2006/main">
          <a:graphicData uri="http://schemas.openxmlformats.org/drawingml/2006/table">
            <a:tbl>
              <a:tblPr firstRow="0" bandRow="0"/>
              <a:tblGrid>
                <a:gridCol w="4191000"/>
                <a:gridCol w="2095500"/>
                <a:gridCol w="4838700"/>
              </a:tblGrid>
              <a:tr h="571500">
                <a:tc>
                  <a:txBody>
                    <a:bodyPr lIns="85725" tIns="85725" rIns="85725" bIns="85725"/>
                    <a:lstStyle/>
                    <a:p>
                      <a:r>
                        <a:rPr sz="1650" b="1">
                          <a:solidFill>
                            <a:srgbClr val="FFFFFF"/>
                          </a:solidFill>
                          <a:latin typeface="Arial"/>
                          <a:ea typeface="Arial"/>
                          <a:cs typeface="Arial"/>
                        </a:rPr>
                        <a:t>Kịch bản</a:t>
                      </a:r>
                    </a:p>
                  </a:txBody>
                  <a:tcPr marL="91440" marR="91440" marT="45720" marB="45720" anchor="ctr">
                    <a:lnL w="5715">
                      <a:solidFill>
                        <a:srgbClr val="D1DEE5"/>
                      </a:solidFill>
                      <a:prstDash val="solid"/>
                    </a:lnL>
                    <a:lnR w="5715">
                      <a:solidFill>
                        <a:srgbClr val="D1DEE5"/>
                      </a:solidFill>
                      <a:prstDash val="solid"/>
                    </a:lnR>
                    <a:lnT w="5715">
                      <a:solidFill>
                        <a:srgbClr val="D1DEE5"/>
                      </a:solidFill>
                      <a:prstDash val="solid"/>
                    </a:lnT>
                    <a:lnB w="5715">
                      <a:solidFill>
                        <a:srgbClr val="D1DEE5"/>
                      </a:solidFill>
                      <a:prstDash val="solid"/>
                    </a:lnB>
                    <a:solidFill>
                      <a:srgbClr val="103548"/>
                    </a:solidFill>
                  </a:tcPr>
                </a:tc>
                <a:tc>
                  <a:txBody>
                    <a:bodyPr lIns="85725" tIns="85725" rIns="85725" bIns="85725"/>
                    <a:lstStyle/>
                    <a:p>
                      <a:r>
                        <a:rPr sz="1650" b="1">
                          <a:solidFill>
                            <a:srgbClr val="FFFFFF"/>
                          </a:solidFill>
                          <a:latin typeface="Arial"/>
                          <a:ea typeface="Arial"/>
                          <a:cs typeface="Arial"/>
                        </a:rPr>
                        <a:t>USD/tháng</a:t>
                      </a:r>
                    </a:p>
                  </a:txBody>
                  <a:tcPr marL="91440" marR="91440" marT="45720" marB="45720" anchor="ctr">
                    <a:lnR w="5715">
                      <a:solidFill>
                        <a:srgbClr val="D1DEE5"/>
                      </a:solidFill>
                      <a:prstDash val="solid"/>
                    </a:lnR>
                    <a:lnT w="5715">
                      <a:solidFill>
                        <a:srgbClr val="D1DEE5"/>
                      </a:solidFill>
                      <a:prstDash val="solid"/>
                    </a:lnT>
                    <a:lnB w="5715">
                      <a:solidFill>
                        <a:srgbClr val="D1DEE5"/>
                      </a:solidFill>
                      <a:prstDash val="solid"/>
                    </a:lnB>
                    <a:solidFill>
                      <a:srgbClr val="103548"/>
                    </a:solidFill>
                  </a:tcPr>
                </a:tc>
                <a:tc>
                  <a:txBody>
                    <a:bodyPr lIns="85725" tIns="85725" rIns="85725" bIns="85725"/>
                    <a:lstStyle/>
                    <a:p>
                      <a:r>
                        <a:rPr sz="1650" b="1">
                          <a:solidFill>
                            <a:srgbClr val="FFFFFF"/>
                          </a:solidFill>
                          <a:latin typeface="Arial"/>
                          <a:ea typeface="Arial"/>
                          <a:cs typeface="Arial"/>
                        </a:rPr>
                        <a:t>Điều kiện</a:t>
                      </a:r>
                    </a:p>
                  </a:txBody>
                  <a:tcPr marL="91440" marR="91440" marT="45720" marB="45720" anchor="ctr">
                    <a:lnR w="5715">
                      <a:solidFill>
                        <a:srgbClr val="D1DEE5"/>
                      </a:solidFill>
                      <a:prstDash val="solid"/>
                    </a:lnR>
                    <a:lnT w="5715">
                      <a:solidFill>
                        <a:srgbClr val="D1DEE5"/>
                      </a:solidFill>
                      <a:prstDash val="solid"/>
                    </a:lnT>
                    <a:lnB w="5715">
                      <a:solidFill>
                        <a:srgbClr val="D1DEE5"/>
                      </a:solidFill>
                      <a:prstDash val="solid"/>
                    </a:lnB>
                    <a:solidFill>
                      <a:srgbClr val="103548"/>
                    </a:solidFill>
                  </a:tcPr>
                </a:tc>
              </a:tr>
              <a:tr h="571500">
                <a:tc>
                  <a:txBody>
                    <a:bodyPr lIns="85725" tIns="85725" rIns="85725" bIns="85725"/>
                    <a:lstStyle/>
                    <a:p>
                      <a:r>
                        <a:rPr sz="1650" b="0">
                          <a:solidFill>
                            <a:srgbClr val="17364A"/>
                          </a:solidFill>
                          <a:latin typeface="Arial"/>
                          <a:ea typeface="Arial"/>
                          <a:cs typeface="Arial"/>
                        </a:rPr>
                        <a:t>Toàn bộ text dùng Sonnet</a:t>
                      </a:r>
                    </a:p>
                  </a:txBody>
                  <a:tcPr marL="91440" marR="91440" marT="45720" marB="45720" anchor="ctr">
                    <a:lnL w="5715">
                      <a:solidFill>
                        <a:srgbClr val="D1DEE5"/>
                      </a:solidFill>
                      <a:prstDash val="solid"/>
                    </a:lnL>
                    <a:lnR w="5715">
                      <a:solidFill>
                        <a:srgbClr val="D1DEE5"/>
                      </a:solidFill>
                      <a:prstDash val="solid"/>
                    </a:lnR>
                    <a:lnB w="5715">
                      <a:solidFill>
                        <a:srgbClr val="D1DEE5"/>
                      </a:solidFill>
                      <a:prstDash val="solid"/>
                    </a:lnB>
                    <a:solidFill>
                      <a:srgbClr val="F4F8FA"/>
                    </a:solidFill>
                  </a:tcPr>
                </a:tc>
                <a:tc>
                  <a:txBody>
                    <a:bodyPr lIns="85725" tIns="85725" rIns="85725" bIns="85725"/>
                    <a:lstStyle/>
                    <a:p>
                      <a:r>
                        <a:rPr sz="1650" b="0">
                          <a:solidFill>
                            <a:srgbClr val="17364A"/>
                          </a:solidFill>
                          <a:latin typeface="Arial"/>
                          <a:ea typeface="Arial"/>
                          <a:cs typeface="Arial"/>
                        </a:rPr>
                        <a:t>10.660,42</a:t>
                      </a:r>
                    </a:p>
                  </a:txBody>
                  <a:tcPr marL="91440" marR="91440" marT="45720" marB="45720" anchor="ctr">
                    <a:lnR w="5715">
                      <a:solidFill>
                        <a:srgbClr val="D1DEE5"/>
                      </a:solidFill>
                      <a:prstDash val="solid"/>
                    </a:lnR>
                    <a:lnB w="5715">
                      <a:solidFill>
                        <a:srgbClr val="D1DEE5"/>
                      </a:solidFill>
                      <a:prstDash val="solid"/>
                    </a:lnB>
                    <a:solidFill>
                      <a:srgbClr val="F4F8FA"/>
                    </a:solidFill>
                  </a:tcPr>
                </a:tc>
                <a:tc>
                  <a:txBody>
                    <a:bodyPr lIns="85725" tIns="85725" rIns="85725" bIns="85725"/>
                    <a:lstStyle/>
                    <a:p>
                      <a:r>
                        <a:rPr sz="1650" b="0">
                          <a:solidFill>
                            <a:srgbClr val="17364A"/>
                          </a:solidFill>
                          <a:latin typeface="Arial"/>
                          <a:ea typeface="Arial"/>
                          <a:cs typeface="Arial"/>
                        </a:rPr>
                        <a:t>Cùng workload và baseline</a:t>
                      </a:r>
                    </a:p>
                  </a:txBody>
                  <a:tcPr marL="91440" marR="91440" marT="45720" marB="45720" anchor="ctr">
                    <a:lnR w="5715">
                      <a:solidFill>
                        <a:srgbClr val="D1DEE5"/>
                      </a:solidFill>
                      <a:prstDash val="solid"/>
                    </a:lnR>
                    <a:lnB w="5715">
                      <a:solidFill>
                        <a:srgbClr val="D1DEE5"/>
                      </a:solidFill>
                      <a:prstDash val="solid"/>
                    </a:lnB>
                    <a:solidFill>
                      <a:srgbClr val="F4F8FA"/>
                    </a:solidFill>
                  </a:tcPr>
                </a:tc>
              </a:tr>
              <a:tr h="571500">
                <a:tc>
                  <a:txBody>
                    <a:bodyPr lIns="85725" tIns="85725" rIns="85725" bIns="85725"/>
                    <a:lstStyle/>
                    <a:p>
                      <a:r>
                        <a:rPr sz="1650" b="0">
                          <a:solidFill>
                            <a:srgbClr val="17364A"/>
                          </a:solidFill>
                          <a:latin typeface="Arial"/>
                          <a:ea typeface="Arial"/>
                          <a:cs typeface="Arial"/>
                        </a:rPr>
                        <a:t>Routing Lite / Sonnet</a:t>
                      </a:r>
                    </a:p>
                  </a:txBody>
                  <a:tcPr marL="91440" marR="91440" marT="45720" marB="45720" anchor="ctr">
                    <a:lnL w="5715">
                      <a:solidFill>
                        <a:srgbClr val="D1DEE5"/>
                      </a:solidFill>
                      <a:prstDash val="solid"/>
                    </a:lnL>
                    <a:lnR w="5715">
                      <a:solidFill>
                        <a:srgbClr val="D1DEE5"/>
                      </a:solidFill>
                      <a:prstDash val="solid"/>
                    </a:lnR>
                    <a:lnB w="5715">
                      <a:solidFill>
                        <a:srgbClr val="D1DEE5"/>
                      </a:solidFill>
                      <a:prstDash val="solid"/>
                    </a:lnB>
                    <a:solidFill>
                      <a:srgbClr val="FFFFFF"/>
                    </a:solidFill>
                  </a:tcPr>
                </a:tc>
                <a:tc>
                  <a:txBody>
                    <a:bodyPr lIns="85725" tIns="85725" rIns="85725" bIns="85725"/>
                    <a:lstStyle/>
                    <a:p>
                      <a:r>
                        <a:rPr sz="1650" b="0">
                          <a:solidFill>
                            <a:srgbClr val="17364A"/>
                          </a:solidFill>
                          <a:latin typeface="Arial"/>
                          <a:ea typeface="Arial"/>
                          <a:cs typeface="Arial"/>
                        </a:rPr>
                        <a:t>6.022,78</a:t>
                      </a:r>
                    </a:p>
                  </a:txBody>
                  <a:tcPr marL="91440" marR="91440" marT="45720" marB="45720" anchor="ctr">
                    <a:lnR w="5715">
                      <a:solidFill>
                        <a:srgbClr val="D1DEE5"/>
                      </a:solidFill>
                      <a:prstDash val="solid"/>
                    </a:lnR>
                    <a:lnB w="5715">
                      <a:solidFill>
                        <a:srgbClr val="D1DEE5"/>
                      </a:solidFill>
                      <a:prstDash val="solid"/>
                    </a:lnB>
                    <a:solidFill>
                      <a:srgbClr val="FFFFFF"/>
                    </a:solidFill>
                  </a:tcPr>
                </a:tc>
                <a:tc>
                  <a:txBody>
                    <a:bodyPr lIns="85725" tIns="85725" rIns="85725" bIns="85725"/>
                    <a:lstStyle/>
                    <a:p>
                      <a:r>
                        <a:rPr sz="1650" b="0">
                          <a:solidFill>
                            <a:srgbClr val="17364A"/>
                          </a:solidFill>
                          <a:latin typeface="Arial"/>
                          <a:ea typeface="Arial"/>
                          <a:cs typeface="Arial"/>
                        </a:rPr>
                        <a:t>Mỗi cấp đạt ≥95% baseline</a:t>
                      </a:r>
                    </a:p>
                  </a:txBody>
                  <a:tcPr marL="91440" marR="91440" marT="45720" marB="45720" anchor="ctr">
                    <a:lnR w="5715">
                      <a:solidFill>
                        <a:srgbClr val="D1DEE5"/>
                      </a:solidFill>
                      <a:prstDash val="solid"/>
                    </a:lnR>
                    <a:lnB w="5715">
                      <a:solidFill>
                        <a:srgbClr val="D1DEE5"/>
                      </a:solidFill>
                      <a:prstDash val="solid"/>
                    </a:lnB>
                    <a:solidFill>
                      <a:srgbClr val="FFFFFF"/>
                    </a:solidFill>
                  </a:tcPr>
                </a:tc>
              </a:tr>
              <a:tr h="571500">
                <a:tc>
                  <a:txBody>
                    <a:bodyPr lIns="85725" tIns="85725" rIns="85725" bIns="85725"/>
                    <a:lstStyle/>
                    <a:p>
                      <a:r>
                        <a:rPr sz="1650" b="0">
                          <a:solidFill>
                            <a:srgbClr val="17364A"/>
                          </a:solidFill>
                          <a:latin typeface="Arial"/>
                          <a:ea typeface="Arial"/>
                          <a:cs typeface="Arial"/>
                        </a:rPr>
                        <a:t>Workspace 1 GB/người</a:t>
                      </a:r>
                    </a:p>
                  </a:txBody>
                  <a:tcPr marL="91440" marR="91440" marT="45720" marB="45720" anchor="ctr">
                    <a:lnL w="5715">
                      <a:solidFill>
                        <a:srgbClr val="D1DEE5"/>
                      </a:solidFill>
                      <a:prstDash val="solid"/>
                    </a:lnL>
                    <a:lnR w="5715">
                      <a:solidFill>
                        <a:srgbClr val="D1DEE5"/>
                      </a:solidFill>
                      <a:prstDash val="solid"/>
                    </a:lnR>
                    <a:lnB w="5715">
                      <a:solidFill>
                        <a:srgbClr val="D1DEE5"/>
                      </a:solidFill>
                      <a:prstDash val="solid"/>
                    </a:lnB>
                    <a:solidFill>
                      <a:srgbClr val="F4F8FA"/>
                    </a:solidFill>
                  </a:tcPr>
                </a:tc>
                <a:tc>
                  <a:txBody>
                    <a:bodyPr lIns="85725" tIns="85725" rIns="85725" bIns="85725"/>
                    <a:lstStyle/>
                    <a:p>
                      <a:r>
                        <a:rPr sz="1650" b="0">
                          <a:solidFill>
                            <a:srgbClr val="17364A"/>
                          </a:solidFill>
                          <a:latin typeface="Arial"/>
                          <a:ea typeface="Arial"/>
                          <a:cs typeface="Arial"/>
                        </a:rPr>
                        <a:t>5.527,78</a:t>
                      </a:r>
                    </a:p>
                  </a:txBody>
                  <a:tcPr marL="91440" marR="91440" marT="45720" marB="45720" anchor="ctr">
                    <a:lnR w="5715">
                      <a:solidFill>
                        <a:srgbClr val="D1DEE5"/>
                      </a:solidFill>
                      <a:prstDash val="solid"/>
                    </a:lnR>
                    <a:lnB w="5715">
                      <a:solidFill>
                        <a:srgbClr val="D1DEE5"/>
                      </a:solidFill>
                      <a:prstDash val="solid"/>
                    </a:lnB>
                    <a:solidFill>
                      <a:srgbClr val="F4F8FA"/>
                    </a:solidFill>
                  </a:tcPr>
                </a:tc>
                <a:tc>
                  <a:txBody>
                    <a:bodyPr lIns="85725" tIns="85725" rIns="85725" bIns="85725"/>
                    <a:lstStyle/>
                    <a:p>
                      <a:r>
                        <a:rPr sz="1650" b="0">
                          <a:solidFill>
                            <a:srgbClr val="17364A"/>
                          </a:solidFill>
                          <a:latin typeface="Arial"/>
                          <a:ea typeface="Arial"/>
                          <a:cs typeface="Arial"/>
                        </a:rPr>
                        <a:t>Sensitivity, backup allowance giữ nguyên</a:t>
                      </a:r>
                    </a:p>
                  </a:txBody>
                  <a:tcPr marL="91440" marR="91440" marT="45720" marB="45720" anchor="ctr">
                    <a:lnR w="5715">
                      <a:solidFill>
                        <a:srgbClr val="D1DEE5"/>
                      </a:solidFill>
                      <a:prstDash val="solid"/>
                    </a:lnR>
                    <a:lnB w="5715">
                      <a:solidFill>
                        <a:srgbClr val="D1DEE5"/>
                      </a:solidFill>
                      <a:prstDash val="solid"/>
                    </a:lnB>
                    <a:solidFill>
                      <a:srgbClr val="F4F8FA"/>
                    </a:solidFill>
                  </a:tcPr>
                </a:tc>
              </a:tr>
              <a:tr h="571500">
                <a:tc>
                  <a:txBody>
                    <a:bodyPr lIns="85725" tIns="85725" rIns="85725" bIns="85725"/>
                    <a:lstStyle/>
                    <a:p>
                      <a:r>
                        <a:rPr sz="1650" b="0">
                          <a:solidFill>
                            <a:srgbClr val="17364A"/>
                          </a:solidFill>
                          <a:latin typeface="Arial"/>
                          <a:ea typeface="Arial"/>
                          <a:cs typeface="Arial"/>
                        </a:rPr>
                        <a:t>4.000 DAU</a:t>
                      </a:r>
                    </a:p>
                  </a:txBody>
                  <a:tcPr marL="91440" marR="91440" marT="45720" marB="45720" anchor="ctr">
                    <a:lnL w="5715">
                      <a:solidFill>
                        <a:srgbClr val="D1DEE5"/>
                      </a:solidFill>
                      <a:prstDash val="solid"/>
                    </a:lnL>
                    <a:lnR w="5715">
                      <a:solidFill>
                        <a:srgbClr val="D1DEE5"/>
                      </a:solidFill>
                      <a:prstDash val="solid"/>
                    </a:lnR>
                    <a:lnB w="5715">
                      <a:solidFill>
                        <a:srgbClr val="D1DEE5"/>
                      </a:solidFill>
                      <a:prstDash val="solid"/>
                    </a:lnB>
                    <a:solidFill>
                      <a:srgbClr val="FFFFFF"/>
                    </a:solidFill>
                  </a:tcPr>
                </a:tc>
                <a:tc>
                  <a:txBody>
                    <a:bodyPr lIns="85725" tIns="85725" rIns="85725" bIns="85725"/>
                    <a:lstStyle/>
                    <a:p>
                      <a:r>
                        <a:rPr sz="1650" b="0">
                          <a:solidFill>
                            <a:srgbClr val="17364A"/>
                          </a:solidFill>
                          <a:latin typeface="Arial"/>
                          <a:ea typeface="Arial"/>
                          <a:cs typeface="Arial"/>
                        </a:rPr>
                        <a:t>11.945,57</a:t>
                      </a:r>
                    </a:p>
                  </a:txBody>
                  <a:tcPr marL="91440" marR="91440" marT="45720" marB="45720" anchor="ctr">
                    <a:lnR w="5715">
                      <a:solidFill>
                        <a:srgbClr val="D1DEE5"/>
                      </a:solidFill>
                      <a:prstDash val="solid"/>
                    </a:lnR>
                    <a:lnB w="5715">
                      <a:solidFill>
                        <a:srgbClr val="D1DEE5"/>
                      </a:solidFill>
                      <a:prstDash val="solid"/>
                    </a:lnB>
                    <a:solidFill>
                      <a:srgbClr val="FFFFFF"/>
                    </a:solidFill>
                  </a:tcPr>
                </a:tc>
                <a:tc>
                  <a:txBody>
                    <a:bodyPr lIns="85725" tIns="85725" rIns="85725" bIns="85725"/>
                    <a:lstStyle/>
                    <a:p>
                      <a:r>
                        <a:rPr sz="1650" b="0">
                          <a:solidFill>
                            <a:srgbClr val="17364A"/>
                          </a:solidFill>
                          <a:latin typeface="Arial"/>
                          <a:ea typeface="Arial"/>
                          <a:cs typeface="Arial"/>
                        </a:rPr>
                        <a:t>Envelope tuyến tính, sizing lại</a:t>
                      </a:r>
                    </a:p>
                  </a:txBody>
                  <a:tcPr marL="91440" marR="91440" marT="45720" marB="45720" anchor="ctr">
                    <a:lnR w="5715">
                      <a:solidFill>
                        <a:srgbClr val="D1DEE5"/>
                      </a:solidFill>
                      <a:prstDash val="solid"/>
                    </a:lnR>
                    <a:lnB w="5715">
                      <a:solidFill>
                        <a:srgbClr val="D1DEE5"/>
                      </a:solidFill>
                      <a:prstDash val="solid"/>
                    </a:lnB>
                    <a:solidFill>
                      <a:srgbClr val="FFFFFF"/>
                    </a:solidFill>
                  </a:tcPr>
                </a:tc>
              </a:tr>
            </a:tbl>
          </a:graphicData>
        </a:graphic>
      </p:graphicFrame>
      <p:sp>
        <p:nvSpPr>
          <p:cNvPr id="7" name="text-209">
            <a:extLst xmlns:a="http://schemas.openxmlformats.org/drawingml/2006/main">
              <a:ext uri="{FF2B5EF4-FFF2-40B4-BE49-F238E27FC236}">
                <a16:creationId xmlns:a16="http://schemas.microsoft.com/office/drawing/2014/main" id="{FCB32F32-B0DA-4194-AE9E-03FCEA89E044}"/>
              </a:ext>
            </a:extLst>
          </p:cNvPr>
          <p:cNvSpPr>
            <a:spLocks xmlns:a="http://schemas.openxmlformats.org/drawingml/2006/main" noGrp="1"/>
          </p:cNvSpPr>
          <p:nvPr/>
        </p:nvSpPr>
        <p:spPr>
          <a:xfrm xmlns:a="http://schemas.openxmlformats.org/drawingml/2006/main">
            <a:off x="533400" y="4914900"/>
            <a:ext cx="2667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050" b="1">
                <a:solidFill>
                  <a:srgbClr val="087F83"/>
                </a:solidFill>
                <a:latin typeface="Arial"/>
                <a:ea typeface="Arial"/>
                <a:cs typeface="Arial"/>
              </a:defRPr>
            </a:defPPr>
          </a:lstStyle>
          <a:p xmlns:a="http://schemas.openxmlformats.org/drawingml/2006/main">
            <a:pPr algn="l">
              <a:defRPr sz="4050" b="1">
                <a:solidFill>
                  <a:srgbClr val="087F83"/>
                </a:solidFill>
                <a:latin typeface="Arial"/>
                <a:ea typeface="Arial"/>
                <a:cs typeface="Arial"/>
              </a:defRPr>
            </a:pPr>
            <a:r>
              <a:rPr sz="4050" b="1">
                <a:solidFill>
                  <a:srgbClr val="087F83"/>
                </a:solidFill>
                <a:latin typeface="Arial"/>
                <a:ea typeface="Arial"/>
                <a:cs typeface="Arial"/>
              </a:rPr>
              <a:t>43,50%</a:t>
            </a:r>
          </a:p>
        </p:txBody>
      </p:sp>
      <p:sp>
        <p:nvSpPr>
          <p:cNvPr id="8" name="text-210">
            <a:extLst xmlns:a="http://schemas.openxmlformats.org/drawingml/2006/main">
              <a:ext uri="{FF2B5EF4-FFF2-40B4-BE49-F238E27FC236}">
                <a16:creationId xmlns:a16="http://schemas.microsoft.com/office/drawing/2014/main" id="{D90132A1-3407-422F-BC98-086816070287}"/>
              </a:ext>
            </a:extLst>
          </p:cNvPr>
          <p:cNvSpPr>
            <a:spLocks xmlns:a="http://schemas.openxmlformats.org/drawingml/2006/main" noGrp="1"/>
          </p:cNvSpPr>
          <p:nvPr/>
        </p:nvSpPr>
        <p:spPr>
          <a:xfrm xmlns:a="http://schemas.openxmlformats.org/drawingml/2006/main">
            <a:off x="3333750" y="5000625"/>
            <a:ext cx="81915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17364A"/>
                </a:solidFill>
                <a:latin typeface="Arial"/>
                <a:ea typeface="Arial"/>
                <a:cs typeface="Arial"/>
              </a:defRPr>
            </a:defPPr>
          </a:lstStyle>
          <a:p xmlns:a="http://schemas.openxmlformats.org/drawingml/2006/main">
            <a:pPr algn="l">
              <a:defRPr sz="2175" b="1">
                <a:solidFill>
                  <a:srgbClr val="17364A"/>
                </a:solidFill>
                <a:latin typeface="Arial"/>
                <a:ea typeface="Arial"/>
                <a:cs typeface="Arial"/>
              </a:defRPr>
            </a:pPr>
            <a:r>
              <a:rPr sz="2175" b="1">
                <a:solidFill>
                  <a:srgbClr val="17364A"/>
                </a:solidFill>
                <a:latin typeface="Arial"/>
                <a:ea typeface="Arial"/>
                <a:cs typeface="Arial"/>
              </a:rPr>
              <a:t>Chênh lệch dự toán routing so với toàn Sonnet</a:t>
            </a:r>
          </a:p>
        </p:txBody>
      </p:sp>
      <p:sp>
        <p:nvSpPr>
          <p:cNvPr id="9" name="text-211">
            <a:extLst xmlns:a="http://schemas.openxmlformats.org/drawingml/2006/main">
              <a:ext uri="{FF2B5EF4-FFF2-40B4-BE49-F238E27FC236}">
                <a16:creationId xmlns:a16="http://schemas.microsoft.com/office/drawing/2014/main" id="{EA0A1863-7C4D-445C-8231-56967FBF2FE6}"/>
              </a:ext>
            </a:extLst>
          </p:cNvPr>
          <p:cNvSpPr>
            <a:spLocks xmlns:a="http://schemas.openxmlformats.org/drawingml/2006/main" noGrp="1"/>
          </p:cNvSpPr>
          <p:nvPr/>
        </p:nvSpPr>
        <p:spPr>
          <a:xfrm xmlns:a="http://schemas.openxmlformats.org/drawingml/2006/main">
            <a:off x="533400" y="5905500"/>
            <a:ext cx="11125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587080"/>
                </a:solidFill>
                <a:latin typeface="Arial"/>
                <a:ea typeface="Arial"/>
                <a:cs typeface="Arial"/>
              </a:defRPr>
            </a:defPPr>
          </a:lstStyle>
          <a:p xmlns:a="http://schemas.openxmlformats.org/drawingml/2006/main">
            <a:pPr algn="l">
              <a:defRPr sz="1500" b="0">
                <a:solidFill>
                  <a:srgbClr val="587080"/>
                </a:solidFill>
                <a:latin typeface="Arial"/>
                <a:ea typeface="Arial"/>
                <a:cs typeface="Arial"/>
              </a:defRPr>
            </a:pPr>
            <a:r>
              <a:rPr sz="1500" b="0">
                <a:solidFill>
                  <a:srgbClr val="587080"/>
                </a:solidFill>
                <a:latin typeface="Arial"/>
                <a:ea typeface="Arial"/>
                <a:cs typeface="Arial"/>
              </a:rPr>
              <a:t>Ưu tiên giảm context, eval model nhỏ, index theo nhu cầu. Chưa tính tiết kiệm cache khi chưa đo hit rate.</a:t>
            </a:r>
          </a:p>
        </p:txBody>
      </p:sp>
    </p:spTree>
    <p:extLst>
      <p:ext uri="{BB962C8B-B14F-4D97-AF65-F5344CB8AC3E}">
        <p14:creationId xmlns:p14="http://schemas.microsoft.com/office/powerpoint/2010/main" val="186865826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hape-212">
            <a:extLst xmlns:a="http://schemas.openxmlformats.org/drawingml/2006/main">
              <a:ext uri="{FF2B5EF4-FFF2-40B4-BE49-F238E27FC236}">
                <a16:creationId xmlns:a16="http://schemas.microsoft.com/office/drawing/2014/main" id="{94028FA7-F5A0-4903-B7C0-9671B651478A}"/>
              </a:ext>
            </a:extLst>
          </p:cNvPr>
          <p:cNvSpPr>
            <a:spLocks xmlns:a="http://schemas.openxmlformats.org/drawingml/2006/main" noGrp="1"/>
          </p:cNvSpPr>
          <p:nvPr/>
        </p:nvSpPr>
        <p:spPr>
          <a:xfrm xmlns:a="http://schemas.openxmlformats.org/drawingml/2006/main">
            <a:off x="533400" y="428625"/>
            <a:ext cx="419100" cy="47625"/>
          </a:xfrm>
          <a:prstGeom xmlns:a="http://schemas.openxmlformats.org/drawingml/2006/main" prst="rect">
            <a:avLst/>
          </a:prstGeom>
          <a:solidFill xmlns:a="http://schemas.openxmlformats.org/drawingml/2006/main">
            <a:srgbClr val="087F83"/>
          </a:solidFill>
          <a:ln xmlns:a="http://schemas.openxmlformats.org/drawingml/2006/main" w="0">
            <a:noFill/>
            <a:prstDash val="solid"/>
          </a:ln>
        </p:spPr>
      </p:sp>
      <p:sp>
        <p:nvSpPr>
          <p:cNvPr id="2" name="text-213">
            <a:extLst xmlns:a="http://schemas.openxmlformats.org/drawingml/2006/main">
              <a:ext uri="{FF2B5EF4-FFF2-40B4-BE49-F238E27FC236}">
                <a16:creationId xmlns:a16="http://schemas.microsoft.com/office/drawing/2014/main" id="{127A9935-D843-407C-9580-4F30CCC69F52}"/>
              </a:ext>
            </a:extLst>
          </p:cNvPr>
          <p:cNvSpPr>
            <a:spLocks xmlns:a="http://schemas.openxmlformats.org/drawingml/2006/main" noGrp="1"/>
          </p:cNvSpPr>
          <p:nvPr/>
        </p:nvSpPr>
        <p:spPr>
          <a:xfrm xmlns:a="http://schemas.openxmlformats.org/drawingml/2006/main">
            <a:off x="533400" y="657225"/>
            <a:ext cx="111252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7364A"/>
                </a:solidFill>
                <a:latin typeface="Arial"/>
                <a:ea typeface="Arial"/>
                <a:cs typeface="Arial"/>
              </a:defRPr>
            </a:defPPr>
          </a:lstStyle>
          <a:p xmlns:a="http://schemas.openxmlformats.org/drawingml/2006/main">
            <a:pPr algn="l">
              <a:defRPr sz="2700" b="1">
                <a:solidFill>
                  <a:srgbClr val="17364A"/>
                </a:solidFill>
                <a:latin typeface="Arial"/>
                <a:ea typeface="Arial"/>
                <a:cs typeface="Arial"/>
              </a:defRPr>
            </a:pPr>
            <a:r>
              <a:rPr sz="2700" b="1">
                <a:solidFill>
                  <a:srgbClr val="17364A"/>
                </a:solidFill>
                <a:latin typeface="Arial"/>
                <a:ea typeface="Arial"/>
                <a:cs typeface="Arial"/>
              </a:rPr>
              <a:t>Quota cắt ở admission, release qua staging và eval</a:t>
            </a:r>
          </a:p>
        </p:txBody>
      </p:sp>
      <p:sp>
        <p:nvSpPr>
          <p:cNvPr id="3" name="shape-214">
            <a:extLst xmlns:a="http://schemas.openxmlformats.org/drawingml/2006/main">
              <a:ext uri="{FF2B5EF4-FFF2-40B4-BE49-F238E27FC236}">
                <a16:creationId xmlns:a16="http://schemas.microsoft.com/office/drawing/2014/main" id="{6708F9B6-2BD9-4310-B1B6-2448692406E8}"/>
              </a:ext>
            </a:extLst>
          </p:cNvPr>
          <p:cNvSpPr>
            <a:spLocks xmlns:a="http://schemas.openxmlformats.org/drawingml/2006/main" noGrp="1"/>
          </p:cNvSpPr>
          <p:nvPr/>
        </p:nvSpPr>
        <p:spPr>
          <a:xfrm xmlns:a="http://schemas.openxmlformats.org/drawingml/2006/main">
            <a:off x="533400" y="6381750"/>
            <a:ext cx="11125200" cy="9525"/>
          </a:xfrm>
          <a:prstGeom xmlns:a="http://schemas.openxmlformats.org/drawingml/2006/main" prst="rect">
            <a:avLst/>
          </a:prstGeom>
          <a:solidFill xmlns:a="http://schemas.openxmlformats.org/drawingml/2006/main">
            <a:srgbClr val="D1DEE5"/>
          </a:solidFill>
          <a:ln xmlns:a="http://schemas.openxmlformats.org/drawingml/2006/main" w="0">
            <a:noFill/>
            <a:prstDash val="solid"/>
          </a:ln>
        </p:spPr>
      </p:sp>
      <p:sp>
        <p:nvSpPr>
          <p:cNvPr id="4" name="text-215">
            <a:extLst xmlns:a="http://schemas.openxmlformats.org/drawingml/2006/main">
              <a:ext uri="{FF2B5EF4-FFF2-40B4-BE49-F238E27FC236}">
                <a16:creationId xmlns:a16="http://schemas.microsoft.com/office/drawing/2014/main" id="{A5D44F6A-63B4-49AA-8768-0761BDE1606C}"/>
              </a:ext>
            </a:extLst>
          </p:cNvPr>
          <p:cNvSpPr>
            <a:spLocks xmlns:a="http://schemas.openxmlformats.org/drawingml/2006/main" noGrp="1"/>
          </p:cNvSpPr>
          <p:nvPr/>
        </p:nvSpPr>
        <p:spPr>
          <a:xfrm xmlns:a="http://schemas.openxmlformats.org/drawingml/2006/main">
            <a:off x="533400" y="651510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87080"/>
                </a:solidFill>
                <a:latin typeface="Arial"/>
                <a:ea typeface="Arial"/>
                <a:cs typeface="Arial"/>
              </a:defRPr>
            </a:defPPr>
          </a:lstStyle>
          <a:p xmlns:a="http://schemas.openxmlformats.org/drawingml/2006/main">
            <a:pPr algn="l">
              <a:defRPr sz="975" b="0">
                <a:solidFill>
                  <a:srgbClr val="587080"/>
                </a:solidFill>
                <a:latin typeface="Arial"/>
                <a:ea typeface="Arial"/>
                <a:cs typeface="Arial"/>
              </a:defRPr>
            </a:pPr>
            <a:r>
              <a:rPr sz="975" b="0">
                <a:solidFill>
                  <a:srgbClr val="587080"/>
                </a:solidFill>
                <a:latin typeface="Arial"/>
                <a:ea typeface="Arial"/>
                <a:cs typeface="Arial"/>
              </a:rPr>
              <a:t>G03  /  Eviaura</a:t>
            </a:r>
          </a:p>
        </p:txBody>
      </p:sp>
      <p:sp>
        <p:nvSpPr>
          <p:cNvPr id="5" name="text-216">
            <a:extLst xmlns:a="http://schemas.openxmlformats.org/drawingml/2006/main">
              <a:ext uri="{FF2B5EF4-FFF2-40B4-BE49-F238E27FC236}">
                <a16:creationId xmlns:a16="http://schemas.microsoft.com/office/drawing/2014/main" id="{70A54C8A-533F-4A4E-AA50-27139EDF93E3}"/>
              </a:ext>
            </a:extLst>
          </p:cNvPr>
          <p:cNvSpPr>
            <a:spLocks xmlns:a="http://schemas.openxmlformats.org/drawingml/2006/main" noGrp="1"/>
          </p:cNvSpPr>
          <p:nvPr/>
        </p:nvSpPr>
        <p:spPr>
          <a:xfrm xmlns:a="http://schemas.openxmlformats.org/drawingml/2006/main">
            <a:off x="11049000" y="6496050"/>
            <a:ext cx="609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050" b="0">
                <a:solidFill>
                  <a:srgbClr val="587080"/>
                </a:solidFill>
                <a:latin typeface="Arial"/>
                <a:ea typeface="Arial"/>
                <a:cs typeface="Arial"/>
              </a:defRPr>
            </a:defPPr>
          </a:lstStyle>
          <a:p xmlns:a="http://schemas.openxmlformats.org/drawingml/2006/main">
            <a:pPr algn="r">
              <a:defRPr sz="1050" b="0">
                <a:solidFill>
                  <a:srgbClr val="587080"/>
                </a:solidFill>
                <a:latin typeface="Arial"/>
                <a:ea typeface="Arial"/>
                <a:cs typeface="Arial"/>
              </a:defRPr>
            </a:pPr>
            <a:r>
              <a:rPr sz="1050" b="0">
                <a:solidFill>
                  <a:srgbClr val="587080"/>
                </a:solidFill>
                <a:latin typeface="Arial"/>
                <a:ea typeface="Arial"/>
                <a:cs typeface="Arial"/>
              </a:rPr>
              <a:t>14</a:t>
            </a:r>
          </a:p>
        </p:txBody>
      </p:sp>
      <p:sp>
        <p:nvSpPr>
          <p:cNvPr id="6" name="shape-217">
            <a:extLst xmlns:a="http://schemas.openxmlformats.org/drawingml/2006/main">
              <a:ext uri="{FF2B5EF4-FFF2-40B4-BE49-F238E27FC236}">
                <a16:creationId xmlns:a16="http://schemas.microsoft.com/office/drawing/2014/main" id="{BB23FDBF-2389-4B42-BE81-F7E8865A2F92}"/>
              </a:ext>
            </a:extLst>
          </p:cNvPr>
          <p:cNvSpPr>
            <a:spLocks xmlns:a="http://schemas.openxmlformats.org/drawingml/2006/main" noGrp="1"/>
          </p:cNvSpPr>
          <p:nvPr/>
        </p:nvSpPr>
        <p:spPr>
          <a:xfrm xmlns:a="http://schemas.openxmlformats.org/drawingml/2006/main">
            <a:off x="533400" y="1714500"/>
            <a:ext cx="38100" cy="1809750"/>
          </a:xfrm>
          <a:prstGeom xmlns:a="http://schemas.openxmlformats.org/drawingml/2006/main" prst="rect">
            <a:avLst/>
          </a:prstGeom>
          <a:solidFill xmlns:a="http://schemas.openxmlformats.org/drawingml/2006/main">
            <a:srgbClr val="087F83"/>
          </a:solidFill>
          <a:ln xmlns:a="http://schemas.openxmlformats.org/drawingml/2006/main" w="0">
            <a:noFill/>
            <a:prstDash val="solid"/>
          </a:ln>
        </p:spPr>
      </p:sp>
      <p:sp>
        <p:nvSpPr>
          <p:cNvPr id="7" name="text-218">
            <a:extLst xmlns:a="http://schemas.openxmlformats.org/drawingml/2006/main">
              <a:ext uri="{FF2B5EF4-FFF2-40B4-BE49-F238E27FC236}">
                <a16:creationId xmlns:a16="http://schemas.microsoft.com/office/drawing/2014/main" id="{CA784FD2-CEF0-4DE5-90A2-FC22C97E8CF3}"/>
              </a:ext>
            </a:extLst>
          </p:cNvPr>
          <p:cNvSpPr>
            <a:spLocks xmlns:a="http://schemas.openxmlformats.org/drawingml/2006/main" noGrp="1"/>
          </p:cNvSpPr>
          <p:nvPr/>
        </p:nvSpPr>
        <p:spPr>
          <a:xfrm xmlns:a="http://schemas.openxmlformats.org/drawingml/2006/main">
            <a:off x="723900" y="1714500"/>
            <a:ext cx="5086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7364A"/>
                </a:solidFill>
                <a:latin typeface="Arial"/>
                <a:ea typeface="Arial"/>
                <a:cs typeface="Arial"/>
              </a:defRPr>
            </a:defPPr>
          </a:lstStyle>
          <a:p xmlns:a="http://schemas.openxmlformats.org/drawingml/2006/main">
            <a:pPr algn="l">
              <a:defRPr sz="1800" b="1">
                <a:solidFill>
                  <a:srgbClr val="17364A"/>
                </a:solidFill>
                <a:latin typeface="Arial"/>
                <a:ea typeface="Arial"/>
                <a:cs typeface="Arial"/>
              </a:defRPr>
            </a:pPr>
            <a:r>
              <a:rPr sz="1800" b="1">
                <a:solidFill>
                  <a:srgbClr val="17364A"/>
                </a:solidFill>
                <a:latin typeface="Arial"/>
                <a:ea typeface="Arial"/>
                <a:cs typeface="Arial"/>
              </a:rPr>
              <a:t>FinOps theo từng call</a:t>
            </a:r>
          </a:p>
        </p:txBody>
      </p:sp>
      <p:sp>
        <p:nvSpPr>
          <p:cNvPr id="8" name="text-219">
            <a:extLst xmlns:a="http://schemas.openxmlformats.org/drawingml/2006/main">
              <a:ext uri="{FF2B5EF4-FFF2-40B4-BE49-F238E27FC236}">
                <a16:creationId xmlns:a16="http://schemas.microsoft.com/office/drawing/2014/main" id="{9DBDAC43-57BB-49ED-B91B-DC0B5AE32FBD}"/>
              </a:ext>
            </a:extLst>
          </p:cNvPr>
          <p:cNvSpPr>
            <a:spLocks xmlns:a="http://schemas.openxmlformats.org/drawingml/2006/main" noGrp="1"/>
          </p:cNvSpPr>
          <p:nvPr/>
        </p:nvSpPr>
        <p:spPr>
          <a:xfrm xmlns:a="http://schemas.openxmlformats.org/drawingml/2006/main">
            <a:off x="723900" y="2143125"/>
            <a:ext cx="5048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87080"/>
                </a:solidFill>
                <a:latin typeface="Arial"/>
                <a:ea typeface="Arial"/>
                <a:cs typeface="Arial"/>
              </a:defRPr>
            </a:defPPr>
          </a:lstStyle>
          <a:p xmlns:a="http://schemas.openxmlformats.org/drawingml/2006/main">
            <a:pPr algn="l">
              <a:defRPr sz="1650" b="0">
                <a:solidFill>
                  <a:srgbClr val="587080"/>
                </a:solidFill>
                <a:latin typeface="Arial"/>
                <a:ea typeface="Arial"/>
                <a:cs typeface="Arial"/>
              </a:defRPr>
            </a:pPr>
            <a:r>
              <a:rPr sz="1650" b="0">
                <a:solidFill>
                  <a:srgbClr val="587080"/>
                </a:solidFill>
                <a:latin typeface="Arial"/>
                <a:ea typeface="Arial"/>
                <a:cs typeface="Arial"/>
              </a:rPr>
              <a:t>Atomic reserve theo user, đơn vị và tổng.</a:t>
            </a:r>
          </a:p>
          <a:p xmlns:a="http://schemas.openxmlformats.org/drawingml/2006/main">
            <a:pPr algn="l">
              <a:defRPr sz="1650" b="0">
                <a:solidFill>
                  <a:srgbClr val="587080"/>
                </a:solidFill>
                <a:latin typeface="Arial"/>
                <a:ea typeface="Arial"/>
                <a:cs typeface="Arial"/>
              </a:defRPr>
            </a:pPr>
            <a:r>
              <a:rPr sz="1650" b="0">
                <a:solidFill>
                  <a:srgbClr val="587080"/>
                </a:solidFill>
                <a:latin typeface="Arial"/>
                <a:ea typeface="Arial"/>
                <a:cs typeface="Arial"/>
              </a:rPr>
              <a:t>Không đủ budget thì deny trước model/tool call.</a:t>
            </a:r>
          </a:p>
          <a:p xmlns:a="http://schemas.openxmlformats.org/drawingml/2006/main">
            <a:pPr algn="l">
              <a:defRPr sz="1650" b="0">
                <a:solidFill>
                  <a:srgbClr val="587080"/>
                </a:solidFill>
                <a:latin typeface="Arial"/>
                <a:ea typeface="Arial"/>
                <a:cs typeface="Arial"/>
              </a:defRPr>
            </a:pPr>
            <a:r>
              <a:rPr sz="1650" b="0">
                <a:solidFill>
                  <a:srgbClr val="587080"/>
                </a:solidFill>
                <a:latin typeface="Arial"/>
                <a:ea typeface="Arial"/>
                <a:cs typeface="Arial"/>
              </a:rPr>
              <a:t>Retry giữ idempotency, reconcile usage thực.</a:t>
            </a:r>
          </a:p>
        </p:txBody>
      </p:sp>
      <p:sp>
        <p:nvSpPr>
          <p:cNvPr id="9" name="shape-220">
            <a:extLst xmlns:a="http://schemas.openxmlformats.org/drawingml/2006/main">
              <a:ext uri="{FF2B5EF4-FFF2-40B4-BE49-F238E27FC236}">
                <a16:creationId xmlns:a16="http://schemas.microsoft.com/office/drawing/2014/main" id="{66187A17-601D-4095-9DCC-8A06937199D4}"/>
              </a:ext>
            </a:extLst>
          </p:cNvPr>
          <p:cNvSpPr>
            <a:spLocks xmlns:a="http://schemas.openxmlformats.org/drawingml/2006/main" noGrp="1"/>
          </p:cNvSpPr>
          <p:nvPr/>
        </p:nvSpPr>
        <p:spPr>
          <a:xfrm xmlns:a="http://schemas.openxmlformats.org/drawingml/2006/main">
            <a:off x="6381750" y="1714500"/>
            <a:ext cx="38100" cy="1809750"/>
          </a:xfrm>
          <a:prstGeom xmlns:a="http://schemas.openxmlformats.org/drawingml/2006/main" prst="rect">
            <a:avLst/>
          </a:prstGeom>
          <a:solidFill xmlns:a="http://schemas.openxmlformats.org/drawingml/2006/main">
            <a:srgbClr val="087F83"/>
          </a:solidFill>
          <a:ln xmlns:a="http://schemas.openxmlformats.org/drawingml/2006/main" w="0">
            <a:noFill/>
            <a:prstDash val="solid"/>
          </a:ln>
        </p:spPr>
      </p:sp>
      <p:sp>
        <p:nvSpPr>
          <p:cNvPr id="10" name="text-221">
            <a:extLst xmlns:a="http://schemas.openxmlformats.org/drawingml/2006/main">
              <a:ext uri="{FF2B5EF4-FFF2-40B4-BE49-F238E27FC236}">
                <a16:creationId xmlns:a16="http://schemas.microsoft.com/office/drawing/2014/main" id="{8E36FB35-D4DD-4A6A-8C05-3EF94E9BD410}"/>
              </a:ext>
            </a:extLst>
          </p:cNvPr>
          <p:cNvSpPr>
            <a:spLocks xmlns:a="http://schemas.openxmlformats.org/drawingml/2006/main" noGrp="1"/>
          </p:cNvSpPr>
          <p:nvPr/>
        </p:nvSpPr>
        <p:spPr>
          <a:xfrm xmlns:a="http://schemas.openxmlformats.org/drawingml/2006/main">
            <a:off x="6572250" y="1714500"/>
            <a:ext cx="5086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7364A"/>
                </a:solidFill>
                <a:latin typeface="Arial"/>
                <a:ea typeface="Arial"/>
                <a:cs typeface="Arial"/>
              </a:defRPr>
            </a:defPPr>
          </a:lstStyle>
          <a:p xmlns:a="http://schemas.openxmlformats.org/drawingml/2006/main">
            <a:pPr algn="l">
              <a:defRPr sz="1800" b="1">
                <a:solidFill>
                  <a:srgbClr val="17364A"/>
                </a:solidFill>
                <a:latin typeface="Arial"/>
                <a:ea typeface="Arial"/>
                <a:cs typeface="Arial"/>
              </a:defRPr>
            </a:pPr>
            <a:r>
              <a:rPr sz="1800" b="1">
                <a:solidFill>
                  <a:srgbClr val="17364A"/>
                </a:solidFill>
                <a:latin typeface="Arial"/>
                <a:ea typeface="Arial"/>
                <a:cs typeface="Arial"/>
              </a:rPr>
              <a:t>CI/CD và staging</a:t>
            </a:r>
          </a:p>
        </p:txBody>
      </p:sp>
      <p:sp>
        <p:nvSpPr>
          <p:cNvPr id="11" name="text-222">
            <a:extLst xmlns:a="http://schemas.openxmlformats.org/drawingml/2006/main">
              <a:ext uri="{FF2B5EF4-FFF2-40B4-BE49-F238E27FC236}">
                <a16:creationId xmlns:a16="http://schemas.microsoft.com/office/drawing/2014/main" id="{12555D09-3495-473F-B81B-752ED0E553B4}"/>
              </a:ext>
            </a:extLst>
          </p:cNvPr>
          <p:cNvSpPr>
            <a:spLocks xmlns:a="http://schemas.openxmlformats.org/drawingml/2006/main" noGrp="1"/>
          </p:cNvSpPr>
          <p:nvPr/>
        </p:nvSpPr>
        <p:spPr>
          <a:xfrm xmlns:a="http://schemas.openxmlformats.org/drawingml/2006/main">
            <a:off x="6572250" y="2143125"/>
            <a:ext cx="5048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87080"/>
                </a:solidFill>
                <a:latin typeface="Arial"/>
                <a:ea typeface="Arial"/>
                <a:cs typeface="Arial"/>
              </a:defRPr>
            </a:defPPr>
          </a:lstStyle>
          <a:p xmlns:a="http://schemas.openxmlformats.org/drawingml/2006/main">
            <a:pPr algn="l">
              <a:defRPr sz="1650" b="0">
                <a:solidFill>
                  <a:srgbClr val="587080"/>
                </a:solidFill>
                <a:latin typeface="Arial"/>
                <a:ea typeface="Arial"/>
                <a:cs typeface="Arial"/>
              </a:defRPr>
            </a:pPr>
            <a:r>
              <a:rPr sz="1650" b="0">
                <a:solidFill>
                  <a:srgbClr val="587080"/>
                </a:solidFill>
                <a:latin typeface="Arial"/>
                <a:ea typeface="Arial"/>
                <a:cs typeface="Arial"/>
              </a:rPr>
              <a:t>Build artifact có digest, version và rollback.</a:t>
            </a:r>
          </a:p>
          <a:p xmlns:a="http://schemas.openxmlformats.org/drawingml/2006/main">
            <a:pPr algn="l">
              <a:defRPr sz="1650" b="0">
                <a:solidFill>
                  <a:srgbClr val="587080"/>
                </a:solidFill>
                <a:latin typeface="Arial"/>
                <a:ea typeface="Arial"/>
                <a:cs typeface="Arial"/>
              </a:defRPr>
            </a:pPr>
            <a:r>
              <a:rPr sz="1650" b="0">
                <a:solidFill>
                  <a:srgbClr val="587080"/>
                </a:solidFill>
                <a:latin typeface="Arial"/>
                <a:ea typeface="Arial"/>
                <a:cs typeface="Arial"/>
              </a:rPr>
              <a:t>IaC check, security check, per-level eval gate.</a:t>
            </a:r>
          </a:p>
          <a:p xmlns:a="http://schemas.openxmlformats.org/drawingml/2006/main">
            <a:pPr algn="l">
              <a:defRPr sz="1650" b="0">
                <a:solidFill>
                  <a:srgbClr val="587080"/>
                </a:solidFill>
                <a:latin typeface="Arial"/>
                <a:ea typeface="Arial"/>
                <a:cs typeface="Arial"/>
              </a:defRPr>
            </a:pPr>
            <a:r>
              <a:rPr sz="1650" b="0">
                <a:solidFill>
                  <a:srgbClr val="587080"/>
                </a:solidFill>
                <a:latin typeface="Arial"/>
                <a:ea typeface="Arial"/>
                <a:cs typeface="Arial"/>
              </a:rPr>
              <a:t>Stack staging và data tách riêng.</a:t>
            </a:r>
          </a:p>
        </p:txBody>
      </p:sp>
      <p:sp>
        <p:nvSpPr>
          <p:cNvPr id="12" name="text-223">
            <a:extLst xmlns:a="http://schemas.openxmlformats.org/drawingml/2006/main">
              <a:ext uri="{FF2B5EF4-FFF2-40B4-BE49-F238E27FC236}">
                <a16:creationId xmlns:a16="http://schemas.microsoft.com/office/drawing/2014/main" id="{E467199B-F8AC-466C-A681-022FF4ACC216}"/>
              </a:ext>
            </a:extLst>
          </p:cNvPr>
          <p:cNvSpPr>
            <a:spLocks xmlns:a="http://schemas.openxmlformats.org/drawingml/2006/main" noGrp="1"/>
          </p:cNvSpPr>
          <p:nvPr/>
        </p:nvSpPr>
        <p:spPr>
          <a:xfrm xmlns:a="http://schemas.openxmlformats.org/drawingml/2006/main">
            <a:off x="533400" y="4095750"/>
            <a:ext cx="11125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087F83"/>
                </a:solidFill>
                <a:latin typeface="Arial"/>
                <a:ea typeface="Arial"/>
                <a:cs typeface="Arial"/>
              </a:defRPr>
            </a:defPPr>
          </a:lstStyle>
          <a:p xmlns:a="http://schemas.openxmlformats.org/drawingml/2006/main">
            <a:pPr algn="l">
              <a:defRPr sz="2175" b="1">
                <a:solidFill>
                  <a:srgbClr val="087F83"/>
                </a:solidFill>
                <a:latin typeface="Arial"/>
                <a:ea typeface="Arial"/>
                <a:cs typeface="Arial"/>
              </a:defRPr>
            </a:pPr>
            <a:r>
              <a:rPr sz="2175" b="1">
                <a:solidFill>
                  <a:srgbClr val="087F83"/>
                </a:solidFill>
                <a:latin typeface="Arial"/>
                <a:ea typeface="Arial"/>
                <a:cs typeface="Arial"/>
              </a:rPr>
              <a:t>Đã kiểm tra cục bộ</a:t>
            </a:r>
          </a:p>
        </p:txBody>
      </p:sp>
      <p:sp>
        <p:nvSpPr>
          <p:cNvPr id="13" name="text-224">
            <a:extLst xmlns:a="http://schemas.openxmlformats.org/drawingml/2006/main">
              <a:ext uri="{FF2B5EF4-FFF2-40B4-BE49-F238E27FC236}">
                <a16:creationId xmlns:a16="http://schemas.microsoft.com/office/drawing/2014/main" id="{5E3B6B6A-A223-4070-811F-15DAC8CEB610}"/>
              </a:ext>
            </a:extLst>
          </p:cNvPr>
          <p:cNvSpPr>
            <a:spLocks xmlns:a="http://schemas.openxmlformats.org/drawingml/2006/main" noGrp="1"/>
          </p:cNvSpPr>
          <p:nvPr/>
        </p:nvSpPr>
        <p:spPr>
          <a:xfrm xmlns:a="http://schemas.openxmlformats.org/drawingml/2006/main">
            <a:off x="533400" y="4667250"/>
            <a:ext cx="1112520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64A"/>
                </a:solidFill>
                <a:latin typeface="Arial"/>
                <a:ea typeface="Arial"/>
                <a:cs typeface="Arial"/>
              </a:defRPr>
            </a:defPPr>
          </a:lstStyle>
          <a:p xmlns:a="http://schemas.openxmlformats.org/drawingml/2006/main">
            <a:pPr algn="l">
              <a:defRPr sz="2025" b="0">
                <a:solidFill>
                  <a:srgbClr val="17364A"/>
                </a:solidFill>
                <a:latin typeface="Arial"/>
                <a:ea typeface="Arial"/>
                <a:cs typeface="Arial"/>
              </a:defRPr>
            </a:pPr>
            <a:r>
              <a:rPr sz="2025" b="0">
                <a:solidFill>
                  <a:srgbClr val="17364A"/>
                </a:solidFill>
                <a:latin typeface="Arial"/>
                <a:ea typeface="Arial"/>
                <a:cs typeface="Arial"/>
              </a:rPr>
              <a:t>IaC tham chiếu US: 42 resources, 0 findings</a:t>
            </a:r>
          </a:p>
          <a:p xmlns:a="http://schemas.openxmlformats.org/drawingml/2006/main">
            <a:pPr algn="l">
              <a:defRPr sz="2025" b="0">
                <a:solidFill>
                  <a:srgbClr val="17364A"/>
                </a:solidFill>
                <a:latin typeface="Arial"/>
                <a:ea typeface="Arial"/>
                <a:cs typeface="Arial"/>
              </a:defRPr>
            </a:pPr>
            <a:r>
              <a:rPr sz="2025" b="0">
                <a:solidFill>
                  <a:srgbClr val="17364A"/>
                </a:solidFill>
                <a:latin typeface="Arial"/>
                <a:ea typeface="Arial"/>
                <a:cs typeface="Arial"/>
              </a:rPr>
              <a:t>6/6 security rules, 5 tests gate. Chưa validate deploy Singapore.</a:t>
            </a:r>
          </a:p>
        </p:txBody>
      </p:sp>
      <p:sp>
        <p:nvSpPr>
          <p:cNvPr id="14" name="shape-225">
            <a:extLst xmlns:a="http://schemas.openxmlformats.org/drawingml/2006/main">
              <a:ext uri="{FF2B5EF4-FFF2-40B4-BE49-F238E27FC236}">
                <a16:creationId xmlns:a16="http://schemas.microsoft.com/office/drawing/2014/main" id="{39987C15-462D-4F88-A9F4-1521D99D6A70}"/>
              </a:ext>
            </a:extLst>
          </p:cNvPr>
          <p:cNvSpPr>
            <a:spLocks xmlns:a="http://schemas.openxmlformats.org/drawingml/2006/main" noGrp="1"/>
          </p:cNvSpPr>
          <p:nvPr/>
        </p:nvSpPr>
        <p:spPr>
          <a:xfrm xmlns:a="http://schemas.openxmlformats.org/drawingml/2006/main">
            <a:off x="533400" y="5810250"/>
            <a:ext cx="11125200" cy="400050"/>
          </a:xfrm>
          <a:prstGeom xmlns:a="http://schemas.openxmlformats.org/drawingml/2006/main" prst="rect">
            <a:avLst/>
          </a:prstGeom>
          <a:solidFill xmlns:a="http://schemas.openxmlformats.org/drawingml/2006/main">
            <a:srgbClr val="E8F4F3"/>
          </a:solidFill>
          <a:ln xmlns:a="http://schemas.openxmlformats.org/drawingml/2006/main" w="0">
            <a:noFill/>
            <a:prstDash val="solid"/>
          </a:ln>
        </p:spPr>
      </p:sp>
      <p:sp>
        <p:nvSpPr>
          <p:cNvPr id="15" name="text-226">
            <a:extLst xmlns:a="http://schemas.openxmlformats.org/drawingml/2006/main">
              <a:ext uri="{FF2B5EF4-FFF2-40B4-BE49-F238E27FC236}">
                <a16:creationId xmlns:a16="http://schemas.microsoft.com/office/drawing/2014/main" id="{51DCEE5A-C2B2-45A8-A6D0-FE434BBEB494}"/>
              </a:ext>
            </a:extLst>
          </p:cNvPr>
          <p:cNvSpPr>
            <a:spLocks xmlns:a="http://schemas.openxmlformats.org/drawingml/2006/main" noGrp="1"/>
          </p:cNvSpPr>
          <p:nvPr/>
        </p:nvSpPr>
        <p:spPr>
          <a:xfrm xmlns:a="http://schemas.openxmlformats.org/drawingml/2006/main">
            <a:off x="666750" y="5905500"/>
            <a:ext cx="10858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17364A"/>
                </a:solidFill>
                <a:latin typeface="Arial"/>
                <a:ea typeface="Arial"/>
                <a:cs typeface="Arial"/>
              </a:defRPr>
            </a:defPPr>
          </a:lstStyle>
          <a:p xmlns:a="http://schemas.openxmlformats.org/drawingml/2006/main">
            <a:pPr algn="l">
              <a:defRPr sz="1350" b="0">
                <a:solidFill>
                  <a:srgbClr val="17364A"/>
                </a:solidFill>
                <a:latin typeface="Arial"/>
                <a:ea typeface="Arial"/>
                <a:cs typeface="Arial"/>
              </a:defRPr>
            </a:pPr>
            <a:r>
              <a:rPr sz="1350" b="0">
                <a:solidFill>
                  <a:srgbClr val="17364A"/>
                </a:solidFill>
                <a:latin typeface="Arial"/>
                <a:ea typeface="Arial"/>
                <a:cs typeface="Arial"/>
              </a:rPr>
              <a:t>Budget cảnh báo ở 80% và 100%. Chưa có application ZIP hoặc deployment AWS thực tế.</a:t>
            </a:r>
          </a:p>
        </p:txBody>
      </p:sp>
    </p:spTree>
    <p:extLst>
      <p:ext uri="{BB962C8B-B14F-4D97-AF65-F5344CB8AC3E}">
        <p14:creationId xmlns:p14="http://schemas.microsoft.com/office/powerpoint/2010/main" val="107327957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hape-227">
            <a:extLst xmlns:a="http://schemas.openxmlformats.org/drawingml/2006/main">
              <a:ext uri="{FF2B5EF4-FFF2-40B4-BE49-F238E27FC236}">
                <a16:creationId xmlns:a16="http://schemas.microsoft.com/office/drawing/2014/main" id="{6A5EC2D6-F590-418C-9CA8-1A3670C7D232}"/>
              </a:ext>
            </a:extLst>
          </p:cNvPr>
          <p:cNvSpPr>
            <a:spLocks xmlns:a="http://schemas.openxmlformats.org/drawingml/2006/main" noGrp="1"/>
          </p:cNvSpPr>
          <p:nvPr/>
        </p:nvSpPr>
        <p:spPr>
          <a:xfrm xmlns:a="http://schemas.openxmlformats.org/drawingml/2006/main">
            <a:off x="533400" y="428625"/>
            <a:ext cx="419100" cy="47625"/>
          </a:xfrm>
          <a:prstGeom xmlns:a="http://schemas.openxmlformats.org/drawingml/2006/main" prst="rect">
            <a:avLst/>
          </a:prstGeom>
          <a:solidFill xmlns:a="http://schemas.openxmlformats.org/drawingml/2006/main">
            <a:srgbClr val="087F83"/>
          </a:solidFill>
          <a:ln xmlns:a="http://schemas.openxmlformats.org/drawingml/2006/main" w="0">
            <a:noFill/>
            <a:prstDash val="solid"/>
          </a:ln>
        </p:spPr>
      </p:sp>
      <p:sp>
        <p:nvSpPr>
          <p:cNvPr id="2" name="text-228">
            <a:extLst xmlns:a="http://schemas.openxmlformats.org/drawingml/2006/main">
              <a:ext uri="{FF2B5EF4-FFF2-40B4-BE49-F238E27FC236}">
                <a16:creationId xmlns:a16="http://schemas.microsoft.com/office/drawing/2014/main" id="{BADA78ED-B397-42AF-BF87-21A1441E48A1}"/>
              </a:ext>
            </a:extLst>
          </p:cNvPr>
          <p:cNvSpPr>
            <a:spLocks xmlns:a="http://schemas.openxmlformats.org/drawingml/2006/main" noGrp="1"/>
          </p:cNvSpPr>
          <p:nvPr/>
        </p:nvSpPr>
        <p:spPr>
          <a:xfrm xmlns:a="http://schemas.openxmlformats.org/drawingml/2006/main">
            <a:off x="533400" y="657225"/>
            <a:ext cx="111252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7364A"/>
                </a:solidFill>
                <a:latin typeface="Arial"/>
                <a:ea typeface="Arial"/>
                <a:cs typeface="Arial"/>
              </a:defRPr>
            </a:defPPr>
          </a:lstStyle>
          <a:p xmlns:a="http://schemas.openxmlformats.org/drawingml/2006/main">
            <a:pPr algn="l">
              <a:defRPr sz="2700" b="1">
                <a:solidFill>
                  <a:srgbClr val="17364A"/>
                </a:solidFill>
                <a:latin typeface="Arial"/>
                <a:ea typeface="Arial"/>
                <a:cs typeface="Arial"/>
              </a:defRPr>
            </a:pPr>
            <a:r>
              <a:rPr sz="2700" b="1">
                <a:solidFill>
                  <a:srgbClr val="17364A"/>
                </a:solidFill>
                <a:latin typeface="Arial"/>
                <a:ea typeface="Arial"/>
                <a:cs typeface="Arial"/>
              </a:rPr>
              <a:t>H1–H8 là điều kiện nghiệm thu trước production</a:t>
            </a:r>
          </a:p>
        </p:txBody>
      </p:sp>
      <p:sp>
        <p:nvSpPr>
          <p:cNvPr id="3" name="shape-229">
            <a:extLst xmlns:a="http://schemas.openxmlformats.org/drawingml/2006/main">
              <a:ext uri="{FF2B5EF4-FFF2-40B4-BE49-F238E27FC236}">
                <a16:creationId xmlns:a16="http://schemas.microsoft.com/office/drawing/2014/main" id="{9C1D5322-9509-4BC6-81AC-D920F3D10826}"/>
              </a:ext>
            </a:extLst>
          </p:cNvPr>
          <p:cNvSpPr>
            <a:spLocks xmlns:a="http://schemas.openxmlformats.org/drawingml/2006/main" noGrp="1"/>
          </p:cNvSpPr>
          <p:nvPr/>
        </p:nvSpPr>
        <p:spPr>
          <a:xfrm xmlns:a="http://schemas.openxmlformats.org/drawingml/2006/main">
            <a:off x="533400" y="6381750"/>
            <a:ext cx="11125200" cy="9525"/>
          </a:xfrm>
          <a:prstGeom xmlns:a="http://schemas.openxmlformats.org/drawingml/2006/main" prst="rect">
            <a:avLst/>
          </a:prstGeom>
          <a:solidFill xmlns:a="http://schemas.openxmlformats.org/drawingml/2006/main">
            <a:srgbClr val="D1DEE5"/>
          </a:solidFill>
          <a:ln xmlns:a="http://schemas.openxmlformats.org/drawingml/2006/main" w="0">
            <a:noFill/>
            <a:prstDash val="solid"/>
          </a:ln>
        </p:spPr>
      </p:sp>
      <p:sp>
        <p:nvSpPr>
          <p:cNvPr id="4" name="text-230">
            <a:extLst xmlns:a="http://schemas.openxmlformats.org/drawingml/2006/main">
              <a:ext uri="{FF2B5EF4-FFF2-40B4-BE49-F238E27FC236}">
                <a16:creationId xmlns:a16="http://schemas.microsoft.com/office/drawing/2014/main" id="{838B86DB-24B2-4721-B699-94E857AFE80E}"/>
              </a:ext>
            </a:extLst>
          </p:cNvPr>
          <p:cNvSpPr>
            <a:spLocks xmlns:a="http://schemas.openxmlformats.org/drawingml/2006/main" noGrp="1"/>
          </p:cNvSpPr>
          <p:nvPr/>
        </p:nvSpPr>
        <p:spPr>
          <a:xfrm xmlns:a="http://schemas.openxmlformats.org/drawingml/2006/main">
            <a:off x="533400" y="651510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5" b="0">
                <a:solidFill>
                  <a:srgbClr val="587080"/>
                </a:solidFill>
                <a:latin typeface="Arial"/>
                <a:ea typeface="Arial"/>
                <a:cs typeface="Arial"/>
              </a:defRPr>
            </a:defPPr>
          </a:lstStyle>
          <a:p xmlns:a="http://schemas.openxmlformats.org/drawingml/2006/main">
            <a:pPr algn="l">
              <a:defRPr sz="975" b="0">
                <a:solidFill>
                  <a:srgbClr val="587080"/>
                </a:solidFill>
                <a:latin typeface="Arial"/>
                <a:ea typeface="Arial"/>
                <a:cs typeface="Arial"/>
              </a:defRPr>
            </a:pPr>
            <a:r>
              <a:rPr sz="975" b="0">
                <a:solidFill>
                  <a:srgbClr val="587080"/>
                </a:solidFill>
                <a:latin typeface="Arial"/>
                <a:ea typeface="Arial"/>
                <a:cs typeface="Arial"/>
              </a:rPr>
              <a:t>G03  /  Eviaura</a:t>
            </a:r>
          </a:p>
        </p:txBody>
      </p:sp>
      <p:sp>
        <p:nvSpPr>
          <p:cNvPr id="5" name="text-231">
            <a:extLst xmlns:a="http://schemas.openxmlformats.org/drawingml/2006/main">
              <a:ext uri="{FF2B5EF4-FFF2-40B4-BE49-F238E27FC236}">
                <a16:creationId xmlns:a16="http://schemas.microsoft.com/office/drawing/2014/main" id="{CCB256BB-DF21-450E-8A63-31EF11E786BC}"/>
              </a:ext>
            </a:extLst>
          </p:cNvPr>
          <p:cNvSpPr>
            <a:spLocks xmlns:a="http://schemas.openxmlformats.org/drawingml/2006/main" noGrp="1"/>
          </p:cNvSpPr>
          <p:nvPr/>
        </p:nvSpPr>
        <p:spPr>
          <a:xfrm xmlns:a="http://schemas.openxmlformats.org/drawingml/2006/main">
            <a:off x="11049000" y="6496050"/>
            <a:ext cx="609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050" b="0">
                <a:solidFill>
                  <a:srgbClr val="587080"/>
                </a:solidFill>
                <a:latin typeface="Arial"/>
                <a:ea typeface="Arial"/>
                <a:cs typeface="Arial"/>
              </a:defRPr>
            </a:defPPr>
          </a:lstStyle>
          <a:p xmlns:a="http://schemas.openxmlformats.org/drawingml/2006/main">
            <a:pPr algn="r">
              <a:defRPr sz="1050" b="0">
                <a:solidFill>
                  <a:srgbClr val="587080"/>
                </a:solidFill>
                <a:latin typeface="Arial"/>
                <a:ea typeface="Arial"/>
                <a:cs typeface="Arial"/>
              </a:defRPr>
            </a:pPr>
            <a:r>
              <a:rPr sz="1050" b="0">
                <a:solidFill>
                  <a:srgbClr val="587080"/>
                </a:solidFill>
                <a:latin typeface="Arial"/>
                <a:ea typeface="Arial"/>
                <a:cs typeface="Arial"/>
              </a:rPr>
              <a:t>15</a:t>
            </a:r>
          </a:p>
        </p:txBody>
      </p:sp>
      <p:sp>
        <p:nvSpPr>
          <p:cNvPr id="6" name="text-232">
            <a:extLst xmlns:a="http://schemas.openxmlformats.org/drawingml/2006/main">
              <a:ext uri="{FF2B5EF4-FFF2-40B4-BE49-F238E27FC236}">
                <a16:creationId xmlns:a16="http://schemas.microsoft.com/office/drawing/2014/main" id="{2F9F0F3E-8CB2-4D49-AB25-43F117976338}"/>
              </a:ext>
            </a:extLst>
          </p:cNvPr>
          <p:cNvSpPr>
            <a:spLocks xmlns:a="http://schemas.openxmlformats.org/drawingml/2006/main" noGrp="1"/>
          </p:cNvSpPr>
          <p:nvPr/>
        </p:nvSpPr>
        <p:spPr>
          <a:xfrm xmlns:a="http://schemas.openxmlformats.org/drawingml/2006/main">
            <a:off x="533400" y="1638300"/>
            <a:ext cx="5276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087F83"/>
                </a:solidFill>
                <a:latin typeface="Arial"/>
                <a:ea typeface="Arial"/>
                <a:cs typeface="Arial"/>
              </a:defRPr>
            </a:defPPr>
          </a:lstStyle>
          <a:p xmlns:a="http://schemas.openxmlformats.org/drawingml/2006/main">
            <a:pPr algn="l">
              <a:defRPr sz="1800" b="1">
                <a:solidFill>
                  <a:srgbClr val="087F83"/>
                </a:solidFill>
                <a:latin typeface="Arial"/>
                <a:ea typeface="Arial"/>
                <a:cs typeface="Arial"/>
              </a:defRPr>
            </a:pPr>
            <a:r>
              <a:rPr sz="1800" b="1">
                <a:solidFill>
                  <a:srgbClr val="087F83"/>
                </a:solidFill>
                <a:latin typeface="Arial"/>
                <a:ea typeface="Arial"/>
                <a:cs typeface="Arial"/>
              </a:rPr>
              <a:t>H1  Cloud</a:t>
            </a:r>
          </a:p>
        </p:txBody>
      </p:sp>
      <p:sp>
        <p:nvSpPr>
          <p:cNvPr id="7" name="text-233">
            <a:extLst xmlns:a="http://schemas.openxmlformats.org/drawingml/2006/main">
              <a:ext uri="{FF2B5EF4-FFF2-40B4-BE49-F238E27FC236}">
                <a16:creationId xmlns:a16="http://schemas.microsoft.com/office/drawing/2014/main" id="{969BBEE3-45B5-4C45-BB45-A305931D129B}"/>
              </a:ext>
            </a:extLst>
          </p:cNvPr>
          <p:cNvSpPr>
            <a:spLocks xmlns:a="http://schemas.openxmlformats.org/drawingml/2006/main" noGrp="1"/>
          </p:cNvSpPr>
          <p:nvPr/>
        </p:nvSpPr>
        <p:spPr>
          <a:xfrm xmlns:a="http://schemas.openxmlformats.org/drawingml/2006/main">
            <a:off x="533400" y="2028825"/>
            <a:ext cx="5276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7364A"/>
                </a:solidFill>
                <a:latin typeface="Arial"/>
                <a:ea typeface="Arial"/>
                <a:cs typeface="Arial"/>
              </a:defRPr>
            </a:defPPr>
          </a:lstStyle>
          <a:p xmlns:a="http://schemas.openxmlformats.org/drawingml/2006/main">
            <a:pPr algn="l">
              <a:defRPr sz="1650" b="0">
                <a:solidFill>
                  <a:srgbClr val="17364A"/>
                </a:solidFill>
                <a:latin typeface="Arial"/>
                <a:ea typeface="Arial"/>
                <a:cs typeface="Arial"/>
              </a:defRPr>
            </a:pPr>
            <a:r>
              <a:rPr sz="1650" b="0">
                <a:solidFill>
                  <a:srgbClr val="17364A"/>
                </a:solidFill>
                <a:latin typeface="Arial"/>
                <a:ea typeface="Arial"/>
                <a:cs typeface="Arial"/>
              </a:rPr>
              <a:t>Duyệt inference APAC / Global / Oregon</a:t>
            </a:r>
          </a:p>
        </p:txBody>
      </p:sp>
      <p:sp>
        <p:nvSpPr>
          <p:cNvPr id="8" name="text-234">
            <a:extLst xmlns:a="http://schemas.openxmlformats.org/drawingml/2006/main">
              <a:ext uri="{FF2B5EF4-FFF2-40B4-BE49-F238E27FC236}">
                <a16:creationId xmlns:a16="http://schemas.microsoft.com/office/drawing/2014/main" id="{D51C8106-4557-439C-A3D8-711230D311EC}"/>
              </a:ext>
            </a:extLst>
          </p:cNvPr>
          <p:cNvSpPr>
            <a:spLocks xmlns:a="http://schemas.openxmlformats.org/drawingml/2006/main" noGrp="1"/>
          </p:cNvSpPr>
          <p:nvPr/>
        </p:nvSpPr>
        <p:spPr>
          <a:xfrm xmlns:a="http://schemas.openxmlformats.org/drawingml/2006/main">
            <a:off x="533400" y="2590800"/>
            <a:ext cx="5276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087F83"/>
                </a:solidFill>
                <a:latin typeface="Arial"/>
                <a:ea typeface="Arial"/>
                <a:cs typeface="Arial"/>
              </a:defRPr>
            </a:defPPr>
          </a:lstStyle>
          <a:p xmlns:a="http://schemas.openxmlformats.org/drawingml/2006/main">
            <a:pPr algn="l">
              <a:defRPr sz="1800" b="1">
                <a:solidFill>
                  <a:srgbClr val="087F83"/>
                </a:solidFill>
                <a:latin typeface="Arial"/>
                <a:ea typeface="Arial"/>
                <a:cs typeface="Arial"/>
              </a:defRPr>
            </a:pPr>
            <a:r>
              <a:rPr sz="1800" b="1">
                <a:solidFill>
                  <a:srgbClr val="087F83"/>
                </a:solidFill>
                <a:latin typeface="Arial"/>
                <a:ea typeface="Arial"/>
                <a:cs typeface="Arial"/>
              </a:rPr>
              <a:t>H2  Identity / ACL</a:t>
            </a:r>
          </a:p>
        </p:txBody>
      </p:sp>
      <p:sp>
        <p:nvSpPr>
          <p:cNvPr id="9" name="text-235">
            <a:extLst xmlns:a="http://schemas.openxmlformats.org/drawingml/2006/main">
              <a:ext uri="{FF2B5EF4-FFF2-40B4-BE49-F238E27FC236}">
                <a16:creationId xmlns:a16="http://schemas.microsoft.com/office/drawing/2014/main" id="{F5F50065-5311-47E8-96A0-A38116B378B9}"/>
              </a:ext>
            </a:extLst>
          </p:cNvPr>
          <p:cNvSpPr>
            <a:spLocks xmlns:a="http://schemas.openxmlformats.org/drawingml/2006/main" noGrp="1"/>
          </p:cNvSpPr>
          <p:nvPr/>
        </p:nvSpPr>
        <p:spPr>
          <a:xfrm xmlns:a="http://schemas.openxmlformats.org/drawingml/2006/main">
            <a:off x="533400" y="2981325"/>
            <a:ext cx="5276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7364A"/>
                </a:solidFill>
                <a:latin typeface="Arial"/>
                <a:ea typeface="Arial"/>
                <a:cs typeface="Arial"/>
              </a:defRPr>
            </a:defPPr>
          </a:lstStyle>
          <a:p xmlns:a="http://schemas.openxmlformats.org/drawingml/2006/main">
            <a:pPr algn="l">
              <a:defRPr sz="1650" b="0">
                <a:solidFill>
                  <a:srgbClr val="17364A"/>
                </a:solidFill>
                <a:latin typeface="Arial"/>
                <a:ea typeface="Arial"/>
                <a:cs typeface="Arial"/>
              </a:defRPr>
            </a:pPr>
            <a:r>
              <a:rPr sz="1650" b="0">
                <a:solidFill>
                  <a:srgbClr val="17364A"/>
                </a:solidFill>
                <a:latin typeface="Arial"/>
                <a:ea typeface="Arial"/>
                <a:cs typeface="Arial"/>
              </a:rPr>
              <a:t>Test MFA, revoked ACL và OAuth scope</a:t>
            </a:r>
          </a:p>
        </p:txBody>
      </p:sp>
      <p:sp>
        <p:nvSpPr>
          <p:cNvPr id="10" name="text-236">
            <a:extLst xmlns:a="http://schemas.openxmlformats.org/drawingml/2006/main">
              <a:ext uri="{FF2B5EF4-FFF2-40B4-BE49-F238E27FC236}">
                <a16:creationId xmlns:a16="http://schemas.microsoft.com/office/drawing/2014/main" id="{FFB2A16E-D669-4CD8-AC37-4D405003353A}"/>
              </a:ext>
            </a:extLst>
          </p:cNvPr>
          <p:cNvSpPr>
            <a:spLocks xmlns:a="http://schemas.openxmlformats.org/drawingml/2006/main" noGrp="1"/>
          </p:cNvSpPr>
          <p:nvPr/>
        </p:nvSpPr>
        <p:spPr>
          <a:xfrm xmlns:a="http://schemas.openxmlformats.org/drawingml/2006/main">
            <a:off x="533400" y="3543300"/>
            <a:ext cx="5276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087F83"/>
                </a:solidFill>
                <a:latin typeface="Arial"/>
                <a:ea typeface="Arial"/>
                <a:cs typeface="Arial"/>
              </a:defRPr>
            </a:defPPr>
          </a:lstStyle>
          <a:p xmlns:a="http://schemas.openxmlformats.org/drawingml/2006/main">
            <a:pPr algn="l">
              <a:defRPr sz="1800" b="1">
                <a:solidFill>
                  <a:srgbClr val="087F83"/>
                </a:solidFill>
                <a:latin typeface="Arial"/>
                <a:ea typeface="Arial"/>
                <a:cs typeface="Arial"/>
              </a:defRPr>
            </a:pPr>
            <a:r>
              <a:rPr sz="1800" b="1">
                <a:solidFill>
                  <a:srgbClr val="087F83"/>
                </a:solidFill>
                <a:latin typeface="Arial"/>
                <a:ea typeface="Arial"/>
                <a:cs typeface="Arial"/>
              </a:rPr>
              <a:t>H3  Isolation</a:t>
            </a:r>
          </a:p>
        </p:txBody>
      </p:sp>
      <p:sp>
        <p:nvSpPr>
          <p:cNvPr id="11" name="text-237">
            <a:extLst xmlns:a="http://schemas.openxmlformats.org/drawingml/2006/main">
              <a:ext uri="{FF2B5EF4-FFF2-40B4-BE49-F238E27FC236}">
                <a16:creationId xmlns:a16="http://schemas.microsoft.com/office/drawing/2014/main" id="{DF167427-1837-43E4-AADD-8B044B4717BB}"/>
              </a:ext>
            </a:extLst>
          </p:cNvPr>
          <p:cNvSpPr>
            <a:spLocks xmlns:a="http://schemas.openxmlformats.org/drawingml/2006/main" noGrp="1"/>
          </p:cNvSpPr>
          <p:nvPr/>
        </p:nvSpPr>
        <p:spPr>
          <a:xfrm xmlns:a="http://schemas.openxmlformats.org/drawingml/2006/main">
            <a:off x="533400" y="3933825"/>
            <a:ext cx="5276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7364A"/>
                </a:solidFill>
                <a:latin typeface="Arial"/>
                <a:ea typeface="Arial"/>
                <a:cs typeface="Arial"/>
              </a:defRPr>
            </a:defPPr>
          </a:lstStyle>
          <a:p xmlns:a="http://schemas.openxmlformats.org/drawingml/2006/main">
            <a:pPr algn="l">
              <a:defRPr sz="1650" b="0">
                <a:solidFill>
                  <a:srgbClr val="17364A"/>
                </a:solidFill>
                <a:latin typeface="Arial"/>
                <a:ea typeface="Arial"/>
                <a:cs typeface="Arial"/>
              </a:defRPr>
            </a:pPr>
            <a:r>
              <a:rPr sz="1650" b="0">
                <a:solidFill>
                  <a:srgbClr val="17364A"/>
                </a:solidFill>
                <a:latin typeface="Arial"/>
                <a:ea typeface="Arial"/>
                <a:cs typeface="Arial"/>
              </a:rPr>
              <a:t>Test cross-user, DNS/egress và cleanup</a:t>
            </a:r>
          </a:p>
        </p:txBody>
      </p:sp>
      <p:sp>
        <p:nvSpPr>
          <p:cNvPr id="12" name="text-238">
            <a:extLst xmlns:a="http://schemas.openxmlformats.org/drawingml/2006/main">
              <a:ext uri="{FF2B5EF4-FFF2-40B4-BE49-F238E27FC236}">
                <a16:creationId xmlns:a16="http://schemas.microsoft.com/office/drawing/2014/main" id="{99E98D93-D33C-49EF-9A1C-2ACF7090BBCA}"/>
              </a:ext>
            </a:extLst>
          </p:cNvPr>
          <p:cNvSpPr>
            <a:spLocks xmlns:a="http://schemas.openxmlformats.org/drawingml/2006/main" noGrp="1"/>
          </p:cNvSpPr>
          <p:nvPr/>
        </p:nvSpPr>
        <p:spPr>
          <a:xfrm xmlns:a="http://schemas.openxmlformats.org/drawingml/2006/main">
            <a:off x="533400" y="4495800"/>
            <a:ext cx="5276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087F83"/>
                </a:solidFill>
                <a:latin typeface="Arial"/>
                <a:ea typeface="Arial"/>
                <a:cs typeface="Arial"/>
              </a:defRPr>
            </a:defPPr>
          </a:lstStyle>
          <a:p xmlns:a="http://schemas.openxmlformats.org/drawingml/2006/main">
            <a:pPr algn="l">
              <a:defRPr sz="1800" b="1">
                <a:solidFill>
                  <a:srgbClr val="087F83"/>
                </a:solidFill>
                <a:latin typeface="Arial"/>
                <a:ea typeface="Arial"/>
                <a:cs typeface="Arial"/>
              </a:defRPr>
            </a:pPr>
            <a:r>
              <a:rPr sz="1800" b="1">
                <a:solidFill>
                  <a:srgbClr val="087F83"/>
                </a:solidFill>
                <a:latin typeface="Arial"/>
                <a:ea typeface="Arial"/>
                <a:cs typeface="Arial"/>
              </a:rPr>
              <a:t>H4  AI governance</a:t>
            </a:r>
          </a:p>
        </p:txBody>
      </p:sp>
      <p:sp>
        <p:nvSpPr>
          <p:cNvPr id="13" name="text-239">
            <a:extLst xmlns:a="http://schemas.openxmlformats.org/drawingml/2006/main">
              <a:ext uri="{FF2B5EF4-FFF2-40B4-BE49-F238E27FC236}">
                <a16:creationId xmlns:a16="http://schemas.microsoft.com/office/drawing/2014/main" id="{7CC48E31-4AE3-411F-9ED3-604BCCF7CA6A}"/>
              </a:ext>
            </a:extLst>
          </p:cNvPr>
          <p:cNvSpPr>
            <a:spLocks xmlns:a="http://schemas.openxmlformats.org/drawingml/2006/main" noGrp="1"/>
          </p:cNvSpPr>
          <p:nvPr/>
        </p:nvSpPr>
        <p:spPr>
          <a:xfrm xmlns:a="http://schemas.openxmlformats.org/drawingml/2006/main">
            <a:off x="533400" y="4886325"/>
            <a:ext cx="5276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7364A"/>
                </a:solidFill>
                <a:latin typeface="Arial"/>
                <a:ea typeface="Arial"/>
                <a:cs typeface="Arial"/>
              </a:defRPr>
            </a:defPPr>
          </a:lstStyle>
          <a:p xmlns:a="http://schemas.openxmlformats.org/drawingml/2006/main">
            <a:pPr algn="l">
              <a:defRPr sz="1650" b="0">
                <a:solidFill>
                  <a:srgbClr val="17364A"/>
                </a:solidFill>
                <a:latin typeface="Arial"/>
                <a:ea typeface="Arial"/>
                <a:cs typeface="Arial"/>
              </a:defRPr>
            </a:pPr>
            <a:r>
              <a:rPr sz="1650" b="0">
                <a:solidFill>
                  <a:srgbClr val="17364A"/>
                </a:solidFill>
                <a:latin typeface="Arial"/>
                <a:ea typeface="Arial"/>
                <a:cs typeface="Arial"/>
              </a:rPr>
              <a:t>Test injection và xác nhận trước ghi</a:t>
            </a:r>
          </a:p>
        </p:txBody>
      </p:sp>
      <p:sp>
        <p:nvSpPr>
          <p:cNvPr id="14" name="text-240">
            <a:extLst xmlns:a="http://schemas.openxmlformats.org/drawingml/2006/main">
              <a:ext uri="{FF2B5EF4-FFF2-40B4-BE49-F238E27FC236}">
                <a16:creationId xmlns:a16="http://schemas.microsoft.com/office/drawing/2014/main" id="{53C336A3-63DB-4058-982B-93E555F9997F}"/>
              </a:ext>
            </a:extLst>
          </p:cNvPr>
          <p:cNvSpPr>
            <a:spLocks xmlns:a="http://schemas.openxmlformats.org/drawingml/2006/main" noGrp="1"/>
          </p:cNvSpPr>
          <p:nvPr/>
        </p:nvSpPr>
        <p:spPr>
          <a:xfrm xmlns:a="http://schemas.openxmlformats.org/drawingml/2006/main">
            <a:off x="6381750" y="1638300"/>
            <a:ext cx="5276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087F83"/>
                </a:solidFill>
                <a:latin typeface="Arial"/>
                <a:ea typeface="Arial"/>
                <a:cs typeface="Arial"/>
              </a:defRPr>
            </a:defPPr>
          </a:lstStyle>
          <a:p xmlns:a="http://schemas.openxmlformats.org/drawingml/2006/main">
            <a:pPr algn="l">
              <a:defRPr sz="1800" b="1">
                <a:solidFill>
                  <a:srgbClr val="087F83"/>
                </a:solidFill>
                <a:latin typeface="Arial"/>
                <a:ea typeface="Arial"/>
                <a:cs typeface="Arial"/>
              </a:defRPr>
            </a:pPr>
            <a:r>
              <a:rPr sz="1800" b="1">
                <a:solidFill>
                  <a:srgbClr val="087F83"/>
                </a:solidFill>
                <a:latin typeface="Arial"/>
                <a:ea typeface="Arial"/>
                <a:cs typeface="Arial"/>
              </a:rPr>
              <a:t>H5  Data governance</a:t>
            </a:r>
          </a:p>
        </p:txBody>
      </p:sp>
      <p:sp>
        <p:nvSpPr>
          <p:cNvPr id="15" name="text-241">
            <a:extLst xmlns:a="http://schemas.openxmlformats.org/drawingml/2006/main">
              <a:ext uri="{FF2B5EF4-FFF2-40B4-BE49-F238E27FC236}">
                <a16:creationId xmlns:a16="http://schemas.microsoft.com/office/drawing/2014/main" id="{DE5478F1-7D9D-4346-9A8F-74E4A20099BE}"/>
              </a:ext>
            </a:extLst>
          </p:cNvPr>
          <p:cNvSpPr>
            <a:spLocks xmlns:a="http://schemas.openxmlformats.org/drawingml/2006/main" noGrp="1"/>
          </p:cNvSpPr>
          <p:nvPr/>
        </p:nvSpPr>
        <p:spPr>
          <a:xfrm xmlns:a="http://schemas.openxmlformats.org/drawingml/2006/main">
            <a:off x="6381750" y="2028825"/>
            <a:ext cx="5276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7364A"/>
                </a:solidFill>
                <a:latin typeface="Arial"/>
                <a:ea typeface="Arial"/>
                <a:cs typeface="Arial"/>
              </a:defRPr>
            </a:defPPr>
          </a:lstStyle>
          <a:p xmlns:a="http://schemas.openxmlformats.org/drawingml/2006/main">
            <a:pPr algn="l">
              <a:defRPr sz="1650" b="0">
                <a:solidFill>
                  <a:srgbClr val="17364A"/>
                </a:solidFill>
                <a:latin typeface="Arial"/>
                <a:ea typeface="Arial"/>
                <a:cs typeface="Arial"/>
              </a:defRPr>
            </a:pPr>
            <a:r>
              <a:rPr sz="1650" b="0">
                <a:solidFill>
                  <a:srgbClr val="17364A"/>
                </a:solidFill>
                <a:latin typeface="Arial"/>
                <a:ea typeface="Arial"/>
                <a:cs typeface="Arial"/>
              </a:rPr>
              <a:t>Kiểm tra DLP, retention và audit</a:t>
            </a:r>
          </a:p>
        </p:txBody>
      </p:sp>
      <p:sp>
        <p:nvSpPr>
          <p:cNvPr id="16" name="text-242">
            <a:extLst xmlns:a="http://schemas.openxmlformats.org/drawingml/2006/main">
              <a:ext uri="{FF2B5EF4-FFF2-40B4-BE49-F238E27FC236}">
                <a16:creationId xmlns:a16="http://schemas.microsoft.com/office/drawing/2014/main" id="{D6950814-8E64-4935-BD13-0465F2BBBBF7}"/>
              </a:ext>
            </a:extLst>
          </p:cNvPr>
          <p:cNvSpPr>
            <a:spLocks xmlns:a="http://schemas.openxmlformats.org/drawingml/2006/main" noGrp="1"/>
          </p:cNvSpPr>
          <p:nvPr/>
        </p:nvSpPr>
        <p:spPr>
          <a:xfrm xmlns:a="http://schemas.openxmlformats.org/drawingml/2006/main">
            <a:off x="6381750" y="2590800"/>
            <a:ext cx="5276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087F83"/>
                </a:solidFill>
                <a:latin typeface="Arial"/>
                <a:ea typeface="Arial"/>
                <a:cs typeface="Arial"/>
              </a:defRPr>
            </a:defPPr>
          </a:lstStyle>
          <a:p xmlns:a="http://schemas.openxmlformats.org/drawingml/2006/main">
            <a:pPr algn="l">
              <a:defRPr sz="1800" b="1">
                <a:solidFill>
                  <a:srgbClr val="087F83"/>
                </a:solidFill>
                <a:latin typeface="Arial"/>
                <a:ea typeface="Arial"/>
                <a:cs typeface="Arial"/>
              </a:defRPr>
            </a:pPr>
            <a:r>
              <a:rPr sz="1800" b="1">
                <a:solidFill>
                  <a:srgbClr val="087F83"/>
                </a:solidFill>
                <a:latin typeface="Arial"/>
                <a:ea typeface="Arial"/>
                <a:cs typeface="Arial"/>
              </a:rPr>
              <a:t>H6  Latency</a:t>
            </a:r>
          </a:p>
        </p:txBody>
      </p:sp>
      <p:sp>
        <p:nvSpPr>
          <p:cNvPr id="17" name="text-243">
            <a:extLst xmlns:a="http://schemas.openxmlformats.org/drawingml/2006/main">
              <a:ext uri="{FF2B5EF4-FFF2-40B4-BE49-F238E27FC236}">
                <a16:creationId xmlns:a16="http://schemas.microsoft.com/office/drawing/2014/main" id="{3E4A94DF-FC55-4F33-8A1F-1824E0A33E3F}"/>
              </a:ext>
            </a:extLst>
          </p:cNvPr>
          <p:cNvSpPr>
            <a:spLocks xmlns:a="http://schemas.openxmlformats.org/drawingml/2006/main" noGrp="1"/>
          </p:cNvSpPr>
          <p:nvPr/>
        </p:nvSpPr>
        <p:spPr>
          <a:xfrm xmlns:a="http://schemas.openxmlformats.org/drawingml/2006/main">
            <a:off x="6381750" y="2981325"/>
            <a:ext cx="5276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7364A"/>
                </a:solidFill>
                <a:latin typeface="Arial"/>
                <a:ea typeface="Arial"/>
                <a:cs typeface="Arial"/>
              </a:defRPr>
            </a:defPPr>
          </a:lstStyle>
          <a:p xmlns:a="http://schemas.openxmlformats.org/drawingml/2006/main">
            <a:pPr algn="l">
              <a:defRPr sz="1650" b="0">
                <a:solidFill>
                  <a:srgbClr val="17364A"/>
                </a:solidFill>
                <a:latin typeface="Arial"/>
                <a:ea typeface="Arial"/>
                <a:cs typeface="Arial"/>
              </a:defRPr>
            </a:pPr>
            <a:r>
              <a:rPr sz="1650" b="0">
                <a:solidFill>
                  <a:srgbClr val="17364A"/>
                </a:solidFill>
                <a:latin typeface="Arial"/>
                <a:ea typeface="Arial"/>
                <a:cs typeface="Arial"/>
              </a:rPr>
              <a:t>Đo p95 ≤3 giây ở peak từ Việt Nam</a:t>
            </a:r>
          </a:p>
        </p:txBody>
      </p:sp>
      <p:sp>
        <p:nvSpPr>
          <p:cNvPr id="18" name="text-244">
            <a:extLst xmlns:a="http://schemas.openxmlformats.org/drawingml/2006/main">
              <a:ext uri="{FF2B5EF4-FFF2-40B4-BE49-F238E27FC236}">
                <a16:creationId xmlns:a16="http://schemas.microsoft.com/office/drawing/2014/main" id="{F71B26B2-5181-425A-8361-D3597BEEDBFA}"/>
              </a:ext>
            </a:extLst>
          </p:cNvPr>
          <p:cNvSpPr>
            <a:spLocks xmlns:a="http://schemas.openxmlformats.org/drawingml/2006/main" noGrp="1"/>
          </p:cNvSpPr>
          <p:nvPr/>
        </p:nvSpPr>
        <p:spPr>
          <a:xfrm xmlns:a="http://schemas.openxmlformats.org/drawingml/2006/main">
            <a:off x="6381750" y="3543300"/>
            <a:ext cx="5276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087F83"/>
                </a:solidFill>
                <a:latin typeface="Arial"/>
                <a:ea typeface="Arial"/>
                <a:cs typeface="Arial"/>
              </a:defRPr>
            </a:defPPr>
          </a:lstStyle>
          <a:p xmlns:a="http://schemas.openxmlformats.org/drawingml/2006/main">
            <a:pPr algn="l">
              <a:defRPr sz="1800" b="1">
                <a:solidFill>
                  <a:srgbClr val="087F83"/>
                </a:solidFill>
                <a:latin typeface="Arial"/>
                <a:ea typeface="Arial"/>
                <a:cs typeface="Arial"/>
              </a:defRPr>
            </a:pPr>
            <a:r>
              <a:rPr sz="1800" b="1">
                <a:solidFill>
                  <a:srgbClr val="087F83"/>
                </a:solidFill>
                <a:latin typeface="Arial"/>
                <a:ea typeface="Arial"/>
                <a:cs typeface="Arial"/>
              </a:rPr>
              <a:t>H7  HA / DR</a:t>
            </a:r>
          </a:p>
        </p:txBody>
      </p:sp>
      <p:sp>
        <p:nvSpPr>
          <p:cNvPr id="19" name="text-245">
            <a:extLst xmlns:a="http://schemas.openxmlformats.org/drawingml/2006/main">
              <a:ext uri="{FF2B5EF4-FFF2-40B4-BE49-F238E27FC236}">
                <a16:creationId xmlns:a16="http://schemas.microsoft.com/office/drawing/2014/main" id="{35AE7F50-62C3-4DD6-8036-2DE6FF71E7CF}"/>
              </a:ext>
            </a:extLst>
          </p:cNvPr>
          <p:cNvSpPr>
            <a:spLocks xmlns:a="http://schemas.openxmlformats.org/drawingml/2006/main" noGrp="1"/>
          </p:cNvSpPr>
          <p:nvPr/>
        </p:nvSpPr>
        <p:spPr>
          <a:xfrm xmlns:a="http://schemas.openxmlformats.org/drawingml/2006/main">
            <a:off x="6381750" y="3933825"/>
            <a:ext cx="5276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7364A"/>
                </a:solidFill>
                <a:latin typeface="Arial"/>
                <a:ea typeface="Arial"/>
                <a:cs typeface="Arial"/>
              </a:defRPr>
            </a:defPPr>
          </a:lstStyle>
          <a:p xmlns:a="http://schemas.openxmlformats.org/drawingml/2006/main">
            <a:pPr algn="l">
              <a:defRPr sz="1650" b="0">
                <a:solidFill>
                  <a:srgbClr val="17364A"/>
                </a:solidFill>
                <a:latin typeface="Arial"/>
                <a:ea typeface="Arial"/>
                <a:cs typeface="Arial"/>
              </a:defRPr>
            </a:pPr>
            <a:r>
              <a:rPr sz="1650" b="0">
                <a:solidFill>
                  <a:srgbClr val="17364A"/>
                </a:solidFill>
                <a:latin typeface="Arial"/>
                <a:ea typeface="Arial"/>
                <a:cs typeface="Arial"/>
              </a:rPr>
              <a:t>Diễn tập RTO/RPO, chốt regional DR</a:t>
            </a:r>
          </a:p>
        </p:txBody>
      </p:sp>
      <p:sp>
        <p:nvSpPr>
          <p:cNvPr id="20" name="text-246">
            <a:extLst xmlns:a="http://schemas.openxmlformats.org/drawingml/2006/main">
              <a:ext uri="{FF2B5EF4-FFF2-40B4-BE49-F238E27FC236}">
                <a16:creationId xmlns:a16="http://schemas.microsoft.com/office/drawing/2014/main" id="{44E73057-C676-40D3-81A8-B374D749702D}"/>
              </a:ext>
            </a:extLst>
          </p:cNvPr>
          <p:cNvSpPr>
            <a:spLocks xmlns:a="http://schemas.openxmlformats.org/drawingml/2006/main" noGrp="1"/>
          </p:cNvSpPr>
          <p:nvPr/>
        </p:nvSpPr>
        <p:spPr>
          <a:xfrm xmlns:a="http://schemas.openxmlformats.org/drawingml/2006/main">
            <a:off x="6381750" y="4495800"/>
            <a:ext cx="5276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087F83"/>
                </a:solidFill>
                <a:latin typeface="Arial"/>
                <a:ea typeface="Arial"/>
                <a:cs typeface="Arial"/>
              </a:defRPr>
            </a:defPPr>
          </a:lstStyle>
          <a:p xmlns:a="http://schemas.openxmlformats.org/drawingml/2006/main">
            <a:pPr algn="l">
              <a:defRPr sz="1800" b="1">
                <a:solidFill>
                  <a:srgbClr val="087F83"/>
                </a:solidFill>
                <a:latin typeface="Arial"/>
                <a:ea typeface="Arial"/>
                <a:cs typeface="Arial"/>
              </a:defRPr>
            </a:pPr>
            <a:r>
              <a:rPr sz="1800" b="1">
                <a:solidFill>
                  <a:srgbClr val="087F83"/>
                </a:solidFill>
                <a:latin typeface="Arial"/>
                <a:ea typeface="Arial"/>
                <a:cs typeface="Arial"/>
              </a:rPr>
              <a:t>H8  Quality / cost</a:t>
            </a:r>
          </a:p>
        </p:txBody>
      </p:sp>
      <p:sp>
        <p:nvSpPr>
          <p:cNvPr id="21" name="text-247">
            <a:extLst xmlns:a="http://schemas.openxmlformats.org/drawingml/2006/main">
              <a:ext uri="{FF2B5EF4-FFF2-40B4-BE49-F238E27FC236}">
                <a16:creationId xmlns:a16="http://schemas.microsoft.com/office/drawing/2014/main" id="{5DB333CB-9CD2-459C-9A48-355097F82660}"/>
              </a:ext>
            </a:extLst>
          </p:cNvPr>
          <p:cNvSpPr>
            <a:spLocks xmlns:a="http://schemas.openxmlformats.org/drawingml/2006/main" noGrp="1"/>
          </p:cNvSpPr>
          <p:nvPr/>
        </p:nvSpPr>
        <p:spPr>
          <a:xfrm xmlns:a="http://schemas.openxmlformats.org/drawingml/2006/main">
            <a:off x="6381750" y="4886325"/>
            <a:ext cx="5276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7364A"/>
                </a:solidFill>
                <a:latin typeface="Arial"/>
                <a:ea typeface="Arial"/>
                <a:cs typeface="Arial"/>
              </a:defRPr>
            </a:defPPr>
          </a:lstStyle>
          <a:p xmlns:a="http://schemas.openxmlformats.org/drawingml/2006/main">
            <a:pPr algn="l">
              <a:defRPr sz="1650" b="0">
                <a:solidFill>
                  <a:srgbClr val="17364A"/>
                </a:solidFill>
                <a:latin typeface="Arial"/>
                <a:ea typeface="Arial"/>
                <a:cs typeface="Arial"/>
              </a:defRPr>
            </a:pPr>
            <a:r>
              <a:rPr sz="1650" b="0">
                <a:solidFill>
                  <a:srgbClr val="17364A"/>
                </a:solidFill>
                <a:latin typeface="Arial"/>
                <a:ea typeface="Arial"/>
                <a:cs typeface="Arial"/>
              </a:rPr>
              <a:t>≥95% baseline mỗi cấp, quota race test</a:t>
            </a:r>
          </a:p>
        </p:txBody>
      </p:sp>
      <p:sp>
        <p:nvSpPr>
          <p:cNvPr id="22" name="shape-248">
            <a:extLst xmlns:a="http://schemas.openxmlformats.org/drawingml/2006/main">
              <a:ext uri="{FF2B5EF4-FFF2-40B4-BE49-F238E27FC236}">
                <a16:creationId xmlns:a16="http://schemas.microsoft.com/office/drawing/2014/main" id="{79490FF6-4408-40B5-A58F-B1B7208CDDE2}"/>
              </a:ext>
            </a:extLst>
          </p:cNvPr>
          <p:cNvSpPr>
            <a:spLocks xmlns:a="http://schemas.openxmlformats.org/drawingml/2006/main" noGrp="1"/>
          </p:cNvSpPr>
          <p:nvPr/>
        </p:nvSpPr>
        <p:spPr>
          <a:xfrm xmlns:a="http://schemas.openxmlformats.org/drawingml/2006/main">
            <a:off x="533400" y="5810250"/>
            <a:ext cx="11125200" cy="400050"/>
          </a:xfrm>
          <a:prstGeom xmlns:a="http://schemas.openxmlformats.org/drawingml/2006/main" prst="rect">
            <a:avLst/>
          </a:prstGeom>
          <a:solidFill xmlns:a="http://schemas.openxmlformats.org/drawingml/2006/main">
            <a:srgbClr val="E8F4F3"/>
          </a:solidFill>
          <a:ln xmlns:a="http://schemas.openxmlformats.org/drawingml/2006/main" w="0">
            <a:noFill/>
            <a:prstDash val="solid"/>
          </a:ln>
        </p:spPr>
      </p:sp>
      <p:sp>
        <p:nvSpPr>
          <p:cNvPr id="23" name="text-249">
            <a:extLst xmlns:a="http://schemas.openxmlformats.org/drawingml/2006/main">
              <a:ext uri="{FF2B5EF4-FFF2-40B4-BE49-F238E27FC236}">
                <a16:creationId xmlns:a16="http://schemas.microsoft.com/office/drawing/2014/main" id="{54650CBA-7FE4-4F32-981D-1B9FBADF18C3}"/>
              </a:ext>
            </a:extLst>
          </p:cNvPr>
          <p:cNvSpPr>
            <a:spLocks xmlns:a="http://schemas.openxmlformats.org/drawingml/2006/main" noGrp="1"/>
          </p:cNvSpPr>
          <p:nvPr/>
        </p:nvSpPr>
        <p:spPr>
          <a:xfrm xmlns:a="http://schemas.openxmlformats.org/drawingml/2006/main">
            <a:off x="666750" y="5905500"/>
            <a:ext cx="10858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17364A"/>
                </a:solidFill>
                <a:latin typeface="Arial"/>
                <a:ea typeface="Arial"/>
                <a:cs typeface="Arial"/>
              </a:defRPr>
            </a:defPPr>
          </a:lstStyle>
          <a:p xmlns:a="http://schemas.openxmlformats.org/drawingml/2006/main">
            <a:pPr algn="l">
              <a:defRPr sz="1350" b="0">
                <a:solidFill>
                  <a:srgbClr val="17364A"/>
                </a:solidFill>
                <a:latin typeface="Arial"/>
                <a:ea typeface="Arial"/>
                <a:cs typeface="Arial"/>
              </a:defRPr>
            </a:pPr>
            <a:r>
              <a:rPr sz="1350" b="0">
                <a:solidFill>
                  <a:srgbClr val="17364A"/>
                </a:solidFill>
                <a:latin typeface="Arial"/>
                <a:ea typeface="Arial"/>
                <a:cs typeface="Arial"/>
              </a:rPr>
              <a:t>Thiết kế và dự toán đã có. SKU, ứng dụng và các bằng chứng live cần hoàn thiện trước triển khai.</a:t>
            </a:r>
          </a:p>
        </p:txBody>
      </p:sp>
    </p:spTree>
    <p:extLst>
      <p:ext uri="{BB962C8B-B14F-4D97-AF65-F5344CB8AC3E}">
        <p14:creationId xmlns:p14="http://schemas.microsoft.com/office/powerpoint/2010/main" val="13202244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2026-10-16T04:36:57.7120000Z</dcterms:created>
  <dcterms:modified xsi:type="dcterms:W3CDTF">2026-10-16T04:36:57.7120000Z</dcterms:modified>
</coreProperties>
</file>